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</p:sldMasterIdLst>
  <p:notesMasterIdLst>
    <p:notesMasterId r:id="rId30"/>
  </p:notesMasterIdLst>
  <p:sldIdLst>
    <p:sldId id="271" r:id="rId2"/>
    <p:sldId id="272" r:id="rId3"/>
    <p:sldId id="293" r:id="rId4"/>
    <p:sldId id="295" r:id="rId5"/>
    <p:sldId id="294" r:id="rId6"/>
    <p:sldId id="296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9" r:id="rId27"/>
    <p:sldId id="297" r:id="rId28"/>
    <p:sldId id="298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5C45"/>
    <a:srgbClr val="94B6D2"/>
    <a:srgbClr val="DD8047"/>
    <a:srgbClr val="FF0000"/>
    <a:srgbClr val="6128F0"/>
    <a:srgbClr val="E727B0"/>
    <a:srgbClr val="66FF66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262" autoAdjust="0"/>
  </p:normalViewPr>
  <p:slideViewPr>
    <p:cSldViewPr>
      <p:cViewPr varScale="1">
        <p:scale>
          <a:sx n="77" d="100"/>
          <a:sy n="77" d="100"/>
        </p:scale>
        <p:origin x="62" y="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622FA27-AFE5-4595-80D5-04A76A4EC8F3}" type="datetimeFigureOut">
              <a:rPr lang="en-US"/>
              <a:pPr>
                <a:defRPr/>
              </a:pPr>
              <a:t>6/5/2026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57F2F09-0DD5-414D-B87C-1130674AA0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451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96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080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baseline="0" dirty="0"/>
              <a:t>نیمه هادی نوع </a:t>
            </a:r>
            <a:r>
              <a:rPr lang="en-US" baseline="0" dirty="0"/>
              <a:t>N</a:t>
            </a:r>
            <a:r>
              <a:rPr lang="fa-IR" baseline="0" dirty="0"/>
              <a:t> ترکیبی از یک نوع نیمه هادی مانند سیلیسیوم (از گروه 4 جدول تناوبی) و یک ماده از گروه 5 جدول تناوبی مانند فسفر است.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187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a-IR" baseline="0" dirty="0"/>
              <a:t>نیمه هادی نوع </a:t>
            </a:r>
            <a:r>
              <a:rPr lang="en-US" baseline="0" dirty="0"/>
              <a:t>P</a:t>
            </a:r>
            <a:r>
              <a:rPr lang="fa-IR" baseline="0" dirty="0"/>
              <a:t> ترکیب سیلیسیوم و ماده ای از گروه 3 جدول است مانند بورون.</a:t>
            </a:r>
          </a:p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1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 err="1"/>
              <a:t>دیود</a:t>
            </a:r>
            <a:r>
              <a:rPr lang="fa-IR" baseline="0" dirty="0"/>
              <a:t> </a:t>
            </a:r>
            <a:r>
              <a:rPr lang="en-US" baseline="0" dirty="0"/>
              <a:t>PN</a:t>
            </a:r>
            <a:r>
              <a:rPr lang="fa-IR" baseline="0" dirty="0"/>
              <a:t>: </a:t>
            </a:r>
            <a:r>
              <a:rPr lang="fa-IR" dirty="0" err="1"/>
              <a:t>دیودی</a:t>
            </a:r>
            <a:r>
              <a:rPr lang="fa-IR" baseline="0" dirty="0"/>
              <a:t> که از اتصال نیمه </a:t>
            </a:r>
            <a:r>
              <a:rPr lang="fa-IR" baseline="0" dirty="0" err="1"/>
              <a:t>هادیهای</a:t>
            </a:r>
            <a:r>
              <a:rPr lang="fa-IR" baseline="0" dirty="0"/>
              <a:t> نوع </a:t>
            </a:r>
            <a:r>
              <a:rPr lang="en-US" baseline="0" dirty="0"/>
              <a:t>P</a:t>
            </a:r>
            <a:r>
              <a:rPr lang="fa-IR" baseline="0" dirty="0"/>
              <a:t> و </a:t>
            </a:r>
            <a:r>
              <a:rPr lang="en-US" baseline="0" dirty="0"/>
              <a:t>N</a:t>
            </a:r>
            <a:r>
              <a:rPr lang="fa-IR" baseline="0" dirty="0"/>
              <a:t> ساخته شده است. </a:t>
            </a:r>
          </a:p>
          <a:p>
            <a:pPr algn="r" rtl="1"/>
            <a:r>
              <a:rPr lang="fa-IR" baseline="0" dirty="0"/>
              <a:t>دیود زنر: دیودی  که از اتصال نیمه هادیهای </a:t>
            </a:r>
            <a:r>
              <a:rPr lang="en-US" baseline="0" dirty="0"/>
              <a:t>P</a:t>
            </a:r>
            <a:r>
              <a:rPr lang="fa-IR" baseline="0" dirty="0"/>
              <a:t> و </a:t>
            </a:r>
            <a:r>
              <a:rPr lang="en-US" baseline="0" dirty="0"/>
              <a:t>N</a:t>
            </a:r>
            <a:r>
              <a:rPr lang="fa-IR" baseline="0" dirty="0"/>
              <a:t> با غلظت بسیار بالا ساخته می شود. این </a:t>
            </a:r>
            <a:r>
              <a:rPr lang="fa-IR" baseline="0" dirty="0" err="1"/>
              <a:t>دیود</a:t>
            </a:r>
            <a:r>
              <a:rPr lang="fa-IR" baseline="0" dirty="0"/>
              <a:t> به خاطر خواص ویژه آن معمولا در ناحیه بایاس معکوس به کار گرفته می شود و در ساخت مدار تنظیم کننده ولتاژ کاربرد دارد.</a:t>
            </a:r>
          </a:p>
          <a:p>
            <a:pPr algn="r" rtl="1"/>
            <a:r>
              <a:rPr lang="fa-IR" baseline="0" dirty="0" err="1"/>
              <a:t>دیود</a:t>
            </a:r>
            <a:r>
              <a:rPr lang="fa-IR" baseline="0" dirty="0"/>
              <a:t> </a:t>
            </a:r>
            <a:r>
              <a:rPr lang="fa-IR" baseline="0" dirty="0" err="1"/>
              <a:t>شاتکی</a:t>
            </a:r>
            <a:r>
              <a:rPr lang="fa-IR" baseline="0" dirty="0"/>
              <a:t>: </a:t>
            </a:r>
            <a:r>
              <a:rPr lang="fa-IR" baseline="0" dirty="0" err="1"/>
              <a:t>دیودی</a:t>
            </a:r>
            <a:r>
              <a:rPr lang="fa-IR" baseline="0" dirty="0"/>
              <a:t> که به جای اتصال نیمه هادی های نوع </a:t>
            </a:r>
            <a:r>
              <a:rPr lang="en-US" baseline="0" dirty="0"/>
              <a:t>P</a:t>
            </a:r>
            <a:r>
              <a:rPr lang="fa-IR" baseline="0" dirty="0"/>
              <a:t> و </a:t>
            </a:r>
            <a:r>
              <a:rPr lang="en-US" baseline="0" dirty="0"/>
              <a:t>N</a:t>
            </a:r>
            <a:r>
              <a:rPr lang="fa-IR" baseline="0" dirty="0"/>
              <a:t>، از اتصال نیمه هادی</a:t>
            </a:r>
            <a:r>
              <a:rPr lang="en-US" baseline="0" dirty="0"/>
              <a:t> </a:t>
            </a:r>
            <a:r>
              <a:rPr lang="fa-IR" baseline="0" dirty="0"/>
              <a:t> نوع </a:t>
            </a:r>
            <a:r>
              <a:rPr lang="en-US" baseline="0" dirty="0"/>
              <a:t>N</a:t>
            </a:r>
            <a:r>
              <a:rPr lang="fa-IR" baseline="0" dirty="0"/>
              <a:t> و یک فلز ساخته می شود و بسیار سریعتر است.</a:t>
            </a:r>
          </a:p>
          <a:p>
            <a:pPr algn="r" rtl="1"/>
            <a:r>
              <a:rPr lang="fa-IR" baseline="0" dirty="0" err="1"/>
              <a:t>دیود</a:t>
            </a:r>
            <a:r>
              <a:rPr lang="fa-IR" baseline="0" dirty="0"/>
              <a:t> </a:t>
            </a:r>
            <a:r>
              <a:rPr lang="fa-IR" baseline="0" dirty="0" err="1"/>
              <a:t>تونلی</a:t>
            </a:r>
            <a:r>
              <a:rPr lang="fa-IR" baseline="0" dirty="0"/>
              <a:t>: مانند </a:t>
            </a:r>
            <a:r>
              <a:rPr lang="fa-IR" baseline="0" dirty="0" err="1"/>
              <a:t>دیود</a:t>
            </a:r>
            <a:r>
              <a:rPr lang="fa-IR" baseline="0" dirty="0"/>
              <a:t> </a:t>
            </a:r>
            <a:r>
              <a:rPr lang="fa-IR" baseline="0" dirty="0" err="1"/>
              <a:t>زنر</a:t>
            </a:r>
            <a:r>
              <a:rPr lang="fa-IR" baseline="0" dirty="0"/>
              <a:t> ساخته می شود ولی مشخصه جریان ولتاژ متفاوتی دارد و معمولا سرعت بسیار بالایی دارد.</a:t>
            </a:r>
          </a:p>
          <a:p>
            <a:pPr algn="r" rtl="1"/>
            <a:r>
              <a:rPr lang="fa-IR" baseline="0" dirty="0" err="1"/>
              <a:t>دیود</a:t>
            </a:r>
            <a:r>
              <a:rPr lang="fa-IR" baseline="0" dirty="0"/>
              <a:t> </a:t>
            </a:r>
            <a:r>
              <a:rPr lang="en-US" baseline="0" dirty="0"/>
              <a:t>LED</a:t>
            </a:r>
            <a:r>
              <a:rPr lang="fa-IR" baseline="0" dirty="0"/>
              <a:t>: </a:t>
            </a:r>
            <a:r>
              <a:rPr lang="fa-IR" baseline="0" dirty="0" err="1"/>
              <a:t>دیودی</a:t>
            </a:r>
            <a:r>
              <a:rPr lang="fa-IR" baseline="0" dirty="0"/>
              <a:t> که باز هم از اتصال نوع </a:t>
            </a:r>
            <a:r>
              <a:rPr lang="en-US" baseline="0" dirty="0"/>
              <a:t>P</a:t>
            </a:r>
            <a:r>
              <a:rPr lang="fa-IR" baseline="0" dirty="0"/>
              <a:t> و </a:t>
            </a:r>
            <a:r>
              <a:rPr lang="en-US" baseline="0" dirty="0"/>
              <a:t>N</a:t>
            </a:r>
            <a:r>
              <a:rPr lang="fa-IR" baseline="0" dirty="0"/>
              <a:t> ساخته میشود. این </a:t>
            </a:r>
            <a:r>
              <a:rPr lang="fa-IR" baseline="0" dirty="0" err="1"/>
              <a:t>دیود</a:t>
            </a:r>
            <a:r>
              <a:rPr lang="fa-IR" baseline="0" dirty="0"/>
              <a:t> وقتی روشن می شود از خود نور ساطع می کند.  </a:t>
            </a:r>
          </a:p>
          <a:p>
            <a:pPr algn="r" rtl="1"/>
            <a:r>
              <a:rPr lang="fa-IR" baseline="0" dirty="0" err="1"/>
              <a:t>دیود</a:t>
            </a:r>
            <a:r>
              <a:rPr lang="fa-IR" baseline="0" dirty="0"/>
              <a:t> </a:t>
            </a:r>
            <a:r>
              <a:rPr lang="fa-IR" baseline="0" dirty="0" err="1"/>
              <a:t>واراکتور</a:t>
            </a:r>
            <a:r>
              <a:rPr lang="fa-IR" baseline="0" dirty="0"/>
              <a:t>: </a:t>
            </a:r>
            <a:r>
              <a:rPr lang="fa-IR" baseline="0" dirty="0" err="1"/>
              <a:t>دیودی</a:t>
            </a:r>
            <a:r>
              <a:rPr lang="fa-IR" baseline="0" dirty="0"/>
              <a:t> که رفتار آن مانند یک خازن است، به طوری که مقدار خازن با </a:t>
            </a:r>
            <a:r>
              <a:rPr lang="fa-IR" baseline="0" dirty="0" err="1"/>
              <a:t>ولتاژی</a:t>
            </a:r>
            <a:r>
              <a:rPr lang="fa-IR" baseline="0" dirty="0"/>
              <a:t> که به </a:t>
            </a:r>
            <a:r>
              <a:rPr lang="fa-IR" baseline="0" dirty="0" err="1"/>
              <a:t>دیود</a:t>
            </a:r>
            <a:r>
              <a:rPr lang="fa-IR" baseline="0" dirty="0"/>
              <a:t> اعمال می شود تغییر می کند (خازن کنترل شونده با ولتاژ)</a:t>
            </a:r>
          </a:p>
          <a:p>
            <a:pPr algn="r" rtl="1"/>
            <a:r>
              <a:rPr lang="fa-IR" baseline="0" dirty="0" err="1"/>
              <a:t>دیود</a:t>
            </a:r>
            <a:r>
              <a:rPr lang="fa-IR" baseline="0" dirty="0"/>
              <a:t> نوری: </a:t>
            </a:r>
            <a:r>
              <a:rPr lang="fa-IR" baseline="0" dirty="0" err="1"/>
              <a:t>دیودی</a:t>
            </a:r>
            <a:r>
              <a:rPr lang="fa-IR" baseline="0" dirty="0"/>
              <a:t> که از اتصال یک نیمه هادی </a:t>
            </a:r>
            <a:r>
              <a:rPr lang="en-US" baseline="0" dirty="0"/>
              <a:t>P</a:t>
            </a:r>
            <a:r>
              <a:rPr lang="fa-IR" baseline="0" dirty="0"/>
              <a:t>، یک نیمه هادی معمولی و یک نیمه هادی </a:t>
            </a:r>
            <a:r>
              <a:rPr lang="en-US" baseline="0" dirty="0"/>
              <a:t>N</a:t>
            </a:r>
            <a:r>
              <a:rPr lang="fa-IR" baseline="0" dirty="0"/>
              <a:t> ساخته می شود. این </a:t>
            </a:r>
            <a:r>
              <a:rPr lang="fa-IR" baseline="0" dirty="0" err="1"/>
              <a:t>دیود</a:t>
            </a:r>
            <a:r>
              <a:rPr lang="fa-IR" baseline="0" dirty="0"/>
              <a:t> وقتی به آن نور </a:t>
            </a:r>
            <a:r>
              <a:rPr lang="fa-IR" baseline="0" dirty="0" err="1"/>
              <a:t>تابانده</a:t>
            </a:r>
            <a:r>
              <a:rPr lang="fa-IR" baseline="0" dirty="0"/>
              <a:t> می شود نور را به جریان الکتریکی تبدیل می کند. 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46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390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به این</a:t>
            </a:r>
            <a:r>
              <a:rPr lang="fa-IR" baseline="0" dirty="0"/>
              <a:t> مدل</a:t>
            </a:r>
            <a:r>
              <a:rPr lang="fa-IR" dirty="0"/>
              <a:t>، مدل تکه ای خطی گویند چون</a:t>
            </a:r>
            <a:r>
              <a:rPr lang="fa-IR" baseline="0" dirty="0"/>
              <a:t> از به هم پیوستن چند خط تشکیل شده است.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666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همانطور</a:t>
            </a:r>
            <a:r>
              <a:rPr lang="fa-IR" baseline="0" dirty="0"/>
              <a:t> که می بینید تعداد حالتهایی که باید امتحان شود با تعداد </a:t>
            </a:r>
            <a:r>
              <a:rPr lang="fa-IR" baseline="0" dirty="0" err="1"/>
              <a:t>دیودها</a:t>
            </a:r>
            <a:r>
              <a:rPr lang="fa-IR" baseline="0" dirty="0"/>
              <a:t> رابطه نمایی دارد و این می تواند تحلیل را خیلی سخت و </a:t>
            </a:r>
            <a:r>
              <a:rPr lang="fa-IR" baseline="0" dirty="0" err="1"/>
              <a:t>وقتگیر</a:t>
            </a:r>
            <a:r>
              <a:rPr lang="fa-IR" baseline="0" dirty="0"/>
              <a:t> کند. از آنجایی که اگر حالت درست پیدا شود، معمولا نیازی به بررسی حالتهای دیگر نیست، خلاقیت شما در حدس حالت درست می تواند کمک بزرگی باشد!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466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664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vin&gt;0, both are off</a:t>
            </a:r>
          </a:p>
          <a:p>
            <a:r>
              <a:rPr lang="en-US" dirty="0"/>
              <a:t>If vin&lt;0, both are on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53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به محض</a:t>
            </a:r>
            <a:r>
              <a:rPr lang="fa-IR" baseline="0" dirty="0"/>
              <a:t> این که ولتاژ ورودی از 0.6 بالاتر می رود، </a:t>
            </a:r>
            <a:r>
              <a:rPr lang="fa-IR" baseline="0" dirty="0" err="1"/>
              <a:t>دیود</a:t>
            </a:r>
            <a:r>
              <a:rPr lang="fa-IR" baseline="0" dirty="0"/>
              <a:t> وصل شده و جریان برقرار می شود. ولی دوباره با افت ولتاژ ورودی به زیر 0.6، بلافاصله </a:t>
            </a:r>
            <a:r>
              <a:rPr lang="fa-IR" baseline="0" dirty="0" err="1"/>
              <a:t>دیود</a:t>
            </a:r>
            <a:r>
              <a:rPr lang="fa-IR" baseline="0" dirty="0"/>
              <a:t> قطع شده و جریان صفر می شود.</a:t>
            </a: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053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7F2F09-0DD5-414D-B87C-1130674AA092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12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B916743-4E7F-4AC8-ACD9-649C7E5C28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309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685800"/>
          </a:xfrm>
        </p:spPr>
        <p:txBody>
          <a:bodyPr/>
          <a:lstStyle>
            <a:lvl1pPr algn="r" rtl="1">
              <a:defRPr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219200"/>
            <a:ext cx="8153400" cy="4876800"/>
          </a:xfrm>
        </p:spPr>
        <p:txBody>
          <a:bodyPr/>
          <a:lstStyle>
            <a:lvl1pPr algn="r" rtl="1">
              <a:defRPr>
                <a:cs typeface="B Nazanin" panose="00000400000000000000" pitchFamily="2" charset="-78"/>
              </a:defRPr>
            </a:lvl1pPr>
            <a:lvl2pPr algn="r" rtl="1">
              <a:defRPr>
                <a:cs typeface="B Nazanin" panose="00000400000000000000" pitchFamily="2" charset="-78"/>
              </a:defRPr>
            </a:lvl2pPr>
            <a:lvl3pPr algn="r" rtl="1">
              <a:defRPr>
                <a:cs typeface="B Nazanin" panose="00000400000000000000" pitchFamily="2" charset="-78"/>
              </a:defRPr>
            </a:lvl3pPr>
            <a:lvl4pPr algn="r" rtl="1">
              <a:defRPr>
                <a:cs typeface="B Nazanin" panose="00000400000000000000" pitchFamily="2" charset="-78"/>
              </a:defRPr>
            </a:lvl4pPr>
            <a:lvl5pPr algn="r" rtl="1">
              <a:defRPr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5388" y="6248400"/>
            <a:ext cx="4811712" cy="381000"/>
          </a:xfrm>
        </p:spPr>
        <p:txBody>
          <a:bodyPr/>
          <a:lstStyle>
            <a:lvl1pPr rtl="1">
              <a:defRPr>
                <a:cs typeface="B Nazanin" panose="00000400000000000000" pitchFamily="2" charset="-78"/>
              </a:defRPr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cs typeface="B Nazanin" panose="00000400000000000000" pitchFamily="2" charset="-78"/>
              </a:defRPr>
            </a:lvl1pPr>
          </a:lstStyle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8124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E4673F0-768F-450F-9B32-682176E185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8493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8F2C19F-4ECA-40CC-B095-5582625F1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3812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AE454D86-5E69-4F38-AA18-41DB875258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8680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CBF18-E55F-40C4-AA9C-CCFBF6518CB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2786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A097438-A5DA-4F47-94D7-4634482D726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922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E5F11-A144-4222-B80E-FD52FBD0E5C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47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78A045DE-1C2E-4066-AF9F-E27DD71186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627633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E0CEF-2513-4502-B5E4-86178963BC8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41518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9B103F-FA24-4D83-98C3-C52A1E5C291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537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235075"/>
            <a:ext cx="81534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81000"/>
          </a:xfrm>
          <a:prstGeom prst="rect">
            <a:avLst/>
          </a:prstGeom>
          <a:solidFill>
            <a:schemeClr val="accent1"/>
          </a:solidFill>
        </p:spPr>
        <p:txBody>
          <a:bodyPr vert="horz" anchor="ctr" anchorCtr="0"/>
          <a:lstStyle>
            <a:lvl1pPr algn="ctr" eaLnBrk="1" latinLnBrk="0" hangingPunct="1">
              <a:defRPr kumimoji="0" sz="14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248400"/>
            <a:ext cx="4811713" cy="381000"/>
          </a:xfrm>
          <a:prstGeom prst="rect">
            <a:avLst/>
          </a:prstGeom>
          <a:solidFill>
            <a:schemeClr val="accent2"/>
          </a:solidFill>
        </p:spPr>
        <p:txBody>
          <a:bodyPr vert="horz" anchor="ctr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900113"/>
            <a:ext cx="9144000" cy="319087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90550" y="6248400"/>
            <a:ext cx="533400" cy="381000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990600"/>
            <a:ext cx="8172450" cy="160338"/>
          </a:xfrm>
          <a:prstGeom prst="rect">
            <a:avLst/>
          </a:prstGeom>
          <a:solidFill>
            <a:schemeClr val="accent1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09600" y="6329363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rtl="1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949679D-F92E-44F0-804B-F6AF1B3D7B0E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46" r:id="rId6"/>
    <p:sldLayoutId id="2147483954" r:id="rId7"/>
    <p:sldLayoutId id="2147483947" r:id="rId8"/>
    <p:sldLayoutId id="2147483955" r:id="rId9"/>
    <p:sldLayoutId id="2147483948" r:id="rId10"/>
    <p:sldLayoutId id="2147483956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4.wmf"/><Relationship Id="rId11" Type="http://schemas.openxmlformats.org/officeDocument/2006/relationships/image" Target="../media/image36.wmf"/><Relationship Id="rId5" Type="http://schemas.openxmlformats.org/officeDocument/2006/relationships/oleObject" Target="../embeddings/oleObject2.bin"/><Relationship Id="rId10" Type="http://schemas.openxmlformats.org/officeDocument/2006/relationships/oleObject" Target="../embeddings/oleObject4.bin"/><Relationship Id="rId4" Type="http://schemas.openxmlformats.org/officeDocument/2006/relationships/image" Target="../media/image38.png"/><Relationship Id="rId9" Type="http://schemas.openxmlformats.org/officeDocument/2006/relationships/image" Target="../media/image35.w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6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9.png"/><Relationship Id="rId11" Type="http://schemas.openxmlformats.org/officeDocument/2006/relationships/image" Target="../media/image56.wmf"/><Relationship Id="rId5" Type="http://schemas.openxmlformats.org/officeDocument/2006/relationships/image" Target="../media/image58.png"/><Relationship Id="rId10" Type="http://schemas.openxmlformats.org/officeDocument/2006/relationships/oleObject" Target="../embeddings/oleObject6.bin"/><Relationship Id="rId4" Type="http://schemas.openxmlformats.org/officeDocument/2006/relationships/image" Target="../media/image57.png"/><Relationship Id="rId9" Type="http://schemas.openxmlformats.org/officeDocument/2006/relationships/image" Target="../media/image5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13" Type="http://schemas.openxmlformats.org/officeDocument/2006/relationships/image" Target="../media/image63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1.wmf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66.png"/><Relationship Id="rId4" Type="http://schemas.openxmlformats.org/officeDocument/2006/relationships/image" Target="../media/image64.png"/><Relationship Id="rId9" Type="http://schemas.openxmlformats.org/officeDocument/2006/relationships/image" Target="../media/image62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8229600" cy="4876800"/>
          </a:xfrm>
        </p:spPr>
        <p:txBody>
          <a:bodyPr>
            <a:normAutofit/>
          </a:bodyPr>
          <a:lstStyle/>
          <a:p>
            <a:pPr algn="ctr" rtl="1" eaLnBrk="1" fontAlgn="auto" hangingPunct="1">
              <a:spcAft>
                <a:spcPts val="0"/>
              </a:spcAft>
              <a:defRPr/>
            </a:pPr>
            <a:r>
              <a:rPr lang="fa-IR" sz="2800" cap="none" dirty="0">
                <a:cs typeface="B Nazanin" panose="00000400000000000000" pitchFamily="2" charset="-78"/>
              </a:rPr>
              <a:t>درس مدارهای الکتریکی و الکترونیکی</a:t>
            </a:r>
            <a:br>
              <a:rPr lang="fa-IR" cap="none" dirty="0">
                <a:cs typeface="B Nazanin" panose="00000400000000000000" pitchFamily="2" charset="-78"/>
              </a:rPr>
            </a:br>
            <a:br>
              <a:rPr lang="fa-IR" cap="none" dirty="0">
                <a:cs typeface="B Nazanin" panose="00000400000000000000" pitchFamily="2" charset="-78"/>
              </a:rPr>
            </a:br>
            <a:r>
              <a:rPr lang="fa-IR" cap="none" dirty="0">
                <a:cs typeface="B Nazanin" panose="00000400000000000000" pitchFamily="2" charset="-78"/>
              </a:rPr>
              <a:t>مدارهای دیود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fa-IR" sz="3600" cap="none" dirty="0">
                <a:cs typeface="B Nazanin" panose="00000400000000000000" pitchFamily="2" charset="-78"/>
              </a:rPr>
            </a:br>
            <a:r>
              <a:rPr lang="en-US" sz="3600" cap="none" dirty="0">
                <a:cs typeface="B Nazanin" panose="00000400000000000000" pitchFamily="2" charset="-78"/>
              </a:rPr>
              <a:t> </a:t>
            </a:r>
            <a:br>
              <a:rPr lang="en-US" dirty="0">
                <a:cs typeface="B Nazanin" panose="00000400000000000000" pitchFamily="2" charset="-78"/>
              </a:rPr>
            </a:br>
            <a:br>
              <a:rPr lang="en-US" dirty="0">
                <a:cs typeface="B Nazanin" panose="00000400000000000000" pitchFamily="2" charset="-78"/>
              </a:rPr>
            </a:br>
            <a:br>
              <a:rPr lang="en-US" sz="3000" cap="none" dirty="0">
                <a:cs typeface="B Nazanin" panose="00000400000000000000" pitchFamily="2" charset="-78"/>
              </a:rPr>
            </a:br>
            <a:endParaRPr lang="en-US" sz="3000" cap="none" dirty="0">
              <a:cs typeface="B Nazanin" panose="00000400000000000000" pitchFamily="2" charset="-78"/>
            </a:endParaRP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r" rtl="1" eaLnBrk="1" hangingPunct="1"/>
            <a:r>
              <a:rPr lang="fa-IR" altLang="en-US" dirty="0">
                <a:cs typeface="B Nazanin" panose="00000400000000000000" pitchFamily="2" charset="-78"/>
              </a:rPr>
              <a:t>دانشگاه صنعتی امیرکبیر</a:t>
            </a:r>
            <a:endParaRPr lang="en-US" altLang="en-US" dirty="0">
              <a:cs typeface="B Nazanin" panose="00000400000000000000" pitchFamily="2" charset="-78"/>
            </a:endParaRPr>
          </a:p>
        </p:txBody>
      </p:sp>
      <p:sp>
        <p:nvSpPr>
          <p:cNvPr id="10245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FFFFFF"/>
                </a:solidFill>
                <a:cs typeface="B Nazanin" panose="00000400000000000000" pitchFamily="2" charset="-78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29600" cy="8223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a-IR" altLang="en-US" dirty="0"/>
              <a:t>فهرست مطالب</a:t>
            </a:r>
            <a:endParaRPr lang="en-US" altLang="en-US" dirty="0"/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09600" y="1219200"/>
            <a:ext cx="8153400" cy="4876800"/>
          </a:xfrm>
        </p:spPr>
        <p:txBody>
          <a:bodyPr/>
          <a:lstStyle/>
          <a:p>
            <a:pPr eaLnBrk="1" hangingPunct="1"/>
            <a:r>
              <a:rPr lang="fa-IR" altLang="en-US" dirty="0"/>
              <a:t>معرفی دیود و کاربردهای آن</a:t>
            </a:r>
            <a:endParaRPr lang="en-US" altLang="en-US" dirty="0"/>
          </a:p>
          <a:p>
            <a:pPr eaLnBrk="1" hangingPunct="1"/>
            <a:r>
              <a:rPr lang="fa-IR" altLang="en-US" dirty="0"/>
              <a:t>مشخصه ولتاژ-جریان دیود و مدل‌های آن</a:t>
            </a:r>
            <a:endParaRPr lang="en-US" altLang="en-US" dirty="0"/>
          </a:p>
          <a:p>
            <a:pPr eaLnBrk="1" hangingPunct="1"/>
            <a:r>
              <a:rPr lang="fa-IR" altLang="en-US" dirty="0"/>
              <a:t>تحلیل مدارهای دیودی</a:t>
            </a:r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11268" name="Date Placeholder 3"/>
          <p:cNvSpPr>
            <a:spLocks noGrp="1"/>
          </p:cNvSpPr>
          <p:nvPr>
            <p:ph type="dt" sz="quarter" idx="10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a-IR" altLang="en-US">
                <a:solidFill>
                  <a:schemeClr val="tx2"/>
                </a:solidFill>
              </a:rPr>
              <a:t>مدارهای الکتریکی و الکترونیکی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11269" name="Footer Placeholder 4"/>
          <p:cNvSpPr>
            <a:spLocks noGrp="1"/>
          </p:cNvSpPr>
          <p:nvPr>
            <p:ph type="ftr" sz="quarter" idx="11"/>
          </p:nvPr>
        </p:nvSpPr>
        <p:spPr bwMode="auto"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a-IR" altLang="en-US">
                <a:solidFill>
                  <a:schemeClr val="tx2"/>
                </a:solidFill>
              </a:rPr>
              <a:t>10. دیود</a:t>
            </a:r>
            <a:endParaRPr lang="en-US" altLang="en-US">
              <a:solidFill>
                <a:schemeClr val="tx2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0805AAEB-DA8E-4881-81AF-D22FE85BF778}" type="slidenum">
              <a:rPr lang="en-US" altLang="en-US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11271" name="TextBox 6"/>
          <p:cNvSpPr txBox="1">
            <a:spLocks noChangeArrowheads="1"/>
          </p:cNvSpPr>
          <p:nvPr/>
        </p:nvSpPr>
        <p:spPr bwMode="auto">
          <a:xfrm>
            <a:off x="-1752600" y="4724400"/>
            <a:ext cx="184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Char char=""/>
              <a:defRPr sz="29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ts val="550"/>
              </a:spcBef>
              <a:buClr>
                <a:schemeClr val="accent1"/>
              </a:buClr>
              <a:buSzPct val="70000"/>
              <a:buFont typeface="Wingdings 2" pitchFamily="18" charset="2"/>
              <a:buChar char=""/>
              <a:defRPr sz="26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chemeClr val="accent2"/>
              </a:buClr>
              <a:buSzPct val="75000"/>
              <a:buFont typeface="Wingdings" pitchFamily="2" charset="2"/>
              <a:buChar char=""/>
              <a:defRPr sz="23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ts val="400"/>
              </a:spcBef>
              <a:buClr>
                <a:srgbClr val="A5AB81"/>
              </a:buClr>
              <a:buSzPct val="7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ts val="400"/>
              </a:spcBef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080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نیمه‌رسانا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3</a:t>
            </a:fld>
            <a:endParaRPr lang="en-US" altLang="en-US" dirty="0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1269142" y="2240604"/>
            <a:ext cx="0" cy="233139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 rot="16200000">
            <a:off x="108467" y="2939534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انرژی الکترون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512333" y="2362200"/>
            <a:ext cx="1840149" cy="3063414"/>
            <a:chOff x="1371600" y="2362200"/>
            <a:chExt cx="1840149" cy="3063414"/>
          </a:xfrm>
        </p:grpSpPr>
        <p:sp>
          <p:nvSpPr>
            <p:cNvPr id="7" name="Rectangle 6"/>
            <p:cNvSpPr/>
            <p:nvPr/>
          </p:nvSpPr>
          <p:spPr>
            <a:xfrm>
              <a:off x="1371600" y="2362200"/>
              <a:ext cx="1828800" cy="609600"/>
            </a:xfrm>
            <a:prstGeom prst="rect">
              <a:avLst/>
            </a:prstGeom>
            <a:solidFill>
              <a:srgbClr val="94B6D2">
                <a:alpha val="6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371600" y="2819400"/>
              <a:ext cx="1828800" cy="609600"/>
            </a:xfrm>
            <a:prstGeom prst="rect">
              <a:avLst/>
            </a:prstGeom>
            <a:solidFill>
              <a:srgbClr val="DD8047">
                <a:alpha val="69804"/>
              </a:srgb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371600" y="2373868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a-IR" dirty="0">
                  <a:cs typeface="B Nazanin" panose="00000400000000000000" pitchFamily="2" charset="-78"/>
                </a:rPr>
                <a:t>باند هدایت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82949" y="2971800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باند ظرفیت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82949" y="4502284"/>
              <a:ext cx="1828800" cy="92333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b="1" dirty="0">
                  <a:cs typeface="B Nazanin" panose="00000400000000000000" pitchFamily="2" charset="-78"/>
                </a:rPr>
                <a:t>رسانا</a:t>
              </a:r>
              <a:r>
                <a:rPr lang="fa-IR" dirty="0">
                  <a:cs typeface="B Nazanin" panose="00000400000000000000" pitchFamily="2" charset="-78"/>
                </a:rPr>
                <a:t> </a:t>
              </a:r>
            </a:p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(مانند مس، نقره، طلا، آلومینیوم و ...)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3834136" y="2362200"/>
            <a:ext cx="1840149" cy="3063414"/>
            <a:chOff x="1371600" y="2362200"/>
            <a:chExt cx="1840149" cy="3063414"/>
          </a:xfrm>
        </p:grpSpPr>
        <p:sp>
          <p:nvSpPr>
            <p:cNvPr id="18" name="Rectangle 17"/>
            <p:cNvSpPr/>
            <p:nvPr/>
          </p:nvSpPr>
          <p:spPr>
            <a:xfrm>
              <a:off x="1371600" y="2362200"/>
              <a:ext cx="1828800" cy="609600"/>
            </a:xfrm>
            <a:prstGeom prst="rect">
              <a:avLst/>
            </a:prstGeom>
            <a:solidFill>
              <a:srgbClr val="94B6D2">
                <a:alpha val="6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371600" y="3048000"/>
              <a:ext cx="1828800" cy="609600"/>
            </a:xfrm>
            <a:prstGeom prst="rect">
              <a:avLst/>
            </a:prstGeom>
            <a:solidFill>
              <a:srgbClr val="DD8047">
                <a:alpha val="69804"/>
              </a:srgb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371600" y="2514600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a-IR" dirty="0">
                  <a:cs typeface="B Nazanin" panose="00000400000000000000" pitchFamily="2" charset="-78"/>
                </a:rPr>
                <a:t>باند هدایت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1382949" y="3200400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باند ظرفیت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382949" y="4502284"/>
              <a:ext cx="1828800" cy="92333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b="1" dirty="0">
                  <a:cs typeface="B Nazanin" panose="00000400000000000000" pitchFamily="2" charset="-78"/>
                </a:rPr>
                <a:t>نیمه‌رسانا</a:t>
              </a:r>
              <a:r>
                <a:rPr lang="fa-IR" dirty="0">
                  <a:cs typeface="B Nazanin" panose="00000400000000000000" pitchFamily="2" charset="-78"/>
                </a:rPr>
                <a:t> </a:t>
              </a:r>
            </a:p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(مانند سیلیکون، ژرمانیوم و ...)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44590" y="2362200"/>
            <a:ext cx="1840149" cy="3063414"/>
            <a:chOff x="1371600" y="2362200"/>
            <a:chExt cx="1840149" cy="3063414"/>
          </a:xfrm>
        </p:grpSpPr>
        <p:sp>
          <p:nvSpPr>
            <p:cNvPr id="24" name="Rectangle 23"/>
            <p:cNvSpPr/>
            <p:nvPr/>
          </p:nvSpPr>
          <p:spPr>
            <a:xfrm>
              <a:off x="1371600" y="2362200"/>
              <a:ext cx="1828800" cy="609600"/>
            </a:xfrm>
            <a:prstGeom prst="rect">
              <a:avLst/>
            </a:prstGeom>
            <a:solidFill>
              <a:srgbClr val="94B6D2">
                <a:alpha val="69804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371600" y="3733800"/>
              <a:ext cx="1828800" cy="609600"/>
            </a:xfrm>
            <a:prstGeom prst="rect">
              <a:avLst/>
            </a:prstGeom>
            <a:solidFill>
              <a:srgbClr val="DD8047">
                <a:alpha val="69804"/>
              </a:srgbClr>
            </a:solidFill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fa-I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71600" y="2514600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fa-IR" dirty="0">
                  <a:cs typeface="B Nazanin" panose="00000400000000000000" pitchFamily="2" charset="-78"/>
                </a:rPr>
                <a:t>باند هدایت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382949" y="3886200"/>
              <a:ext cx="182880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باند ظرفیت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382949" y="4502284"/>
              <a:ext cx="1828800" cy="923330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 rtl="1"/>
              <a:r>
                <a:rPr lang="fa-IR" b="1" dirty="0">
                  <a:cs typeface="B Nazanin" panose="00000400000000000000" pitchFamily="2" charset="-78"/>
                </a:rPr>
                <a:t>عایق</a:t>
              </a:r>
              <a:r>
                <a:rPr lang="fa-IR" dirty="0">
                  <a:cs typeface="B Nazanin" panose="00000400000000000000" pitchFamily="2" charset="-78"/>
                </a:rPr>
                <a:t> </a:t>
              </a:r>
            </a:p>
            <a:p>
              <a:pPr algn="ctr" rtl="1"/>
              <a:r>
                <a:rPr lang="fa-IR" dirty="0">
                  <a:cs typeface="B Nazanin" panose="00000400000000000000" pitchFamily="2" charset="-78"/>
                </a:rPr>
                <a:t>(مانند شیشه، سرامیک، چوب، پلاستیک و ...)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4463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سیلیکون به عنوان یک نیمه‌رسانا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ساختار اتمی</a:t>
            </a:r>
          </a:p>
          <a:p>
            <a:pPr lvl="1"/>
            <a:r>
              <a:rPr lang="fa-IR" dirty="0"/>
              <a:t>دارای 4 الکترون در لایه ظرفیت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4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1" y="2667000"/>
            <a:ext cx="5353050" cy="32861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04683" y="5001640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اتم سیلیکون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3584" y="5390744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الکترون</a:t>
            </a:r>
          </a:p>
        </p:txBody>
      </p:sp>
    </p:spTree>
    <p:extLst>
      <p:ext uri="{BB962C8B-B14F-4D97-AF65-F5344CB8AC3E}">
        <p14:creationId xmlns:p14="http://schemas.microsoft.com/office/powerpoint/2010/main" val="133872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نیمه‌رسانا نوع </a:t>
            </a:r>
            <a:r>
              <a:rPr lang="en-US" dirty="0"/>
              <a:t>N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5</a:t>
            </a:fld>
            <a:endParaRPr lang="en-US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447925"/>
            <a:ext cx="5476875" cy="3724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833812" y="3514725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الکترون اضافه</a:t>
            </a:r>
          </a:p>
        </p:txBody>
      </p:sp>
      <p:sp>
        <p:nvSpPr>
          <p:cNvPr id="11" name="Oval 10"/>
          <p:cNvSpPr/>
          <p:nvPr/>
        </p:nvSpPr>
        <p:spPr>
          <a:xfrm>
            <a:off x="2429786" y="3991381"/>
            <a:ext cx="366410" cy="381000"/>
          </a:xfrm>
          <a:prstGeom prst="ellipse">
            <a:avLst/>
          </a:prstGeom>
          <a:noFill/>
          <a:ln>
            <a:solidFill>
              <a:srgbClr val="E75C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2" name="TextBox 11"/>
          <p:cNvSpPr txBox="1"/>
          <p:nvPr/>
        </p:nvSpPr>
        <p:spPr>
          <a:xfrm>
            <a:off x="4390167" y="4696637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اتم سیلیکون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9884" y="5126593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اتم فسفر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9884" y="5541061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الکترون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در نیمه‌رسانای نوع </a:t>
            </a:r>
            <a:r>
              <a:rPr lang="en-US" dirty="0"/>
              <a:t>N</a:t>
            </a:r>
            <a:r>
              <a:rPr lang="fa-IR" dirty="0"/>
              <a:t>، تعدادی اتم فسفر به جای اتم‌های سیلیکون جایگزین شده‌اند.</a:t>
            </a:r>
          </a:p>
          <a:p>
            <a:pPr lvl="1"/>
            <a:r>
              <a:rPr lang="fa-IR" dirty="0"/>
              <a:t>اتم فسفر 5 الکترون در لایه ظرفیت دارد، پس یک الکترون می‌تواند آزادانه حرکت کند.</a:t>
            </a:r>
          </a:p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965672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47975"/>
            <a:ext cx="5305425" cy="32480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نیمه‌رسانا نوع </a:t>
            </a:r>
            <a:r>
              <a:rPr lang="en-US" dirty="0"/>
              <a:t>P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6</a:t>
            </a:fld>
            <a:endParaRPr lang="en-US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833812" y="3669268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جای خالی الکترون</a:t>
            </a:r>
          </a:p>
        </p:txBody>
      </p:sp>
      <p:sp>
        <p:nvSpPr>
          <p:cNvPr id="11" name="Oval 10"/>
          <p:cNvSpPr/>
          <p:nvPr/>
        </p:nvSpPr>
        <p:spPr>
          <a:xfrm>
            <a:off x="2452990" y="4314216"/>
            <a:ext cx="366410" cy="381000"/>
          </a:xfrm>
          <a:prstGeom prst="ellipse">
            <a:avLst/>
          </a:prstGeom>
          <a:noFill/>
          <a:ln>
            <a:solidFill>
              <a:srgbClr val="E75C4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/>
          </a:p>
        </p:txBody>
      </p:sp>
      <p:sp>
        <p:nvSpPr>
          <p:cNvPr id="12" name="TextBox 11"/>
          <p:cNvSpPr txBox="1"/>
          <p:nvPr/>
        </p:nvSpPr>
        <p:spPr>
          <a:xfrm>
            <a:off x="4390167" y="4696637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اتم سیلیکون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9884" y="5126593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اتم بورون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9884" y="5541061"/>
            <a:ext cx="1828800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fa-IR" dirty="0">
                <a:cs typeface="B Nazanin" panose="00000400000000000000" pitchFamily="2" charset="-78"/>
              </a:rPr>
              <a:t>الکترون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در نیمه‌رسانای نوع </a:t>
            </a:r>
            <a:r>
              <a:rPr lang="en-US" dirty="0"/>
              <a:t>P</a:t>
            </a:r>
            <a:r>
              <a:rPr lang="fa-IR" dirty="0"/>
              <a:t>، تعدادی اتم بورون به جای اتم‌های سیلیکون جایگزین شده‌اند.</a:t>
            </a:r>
          </a:p>
          <a:p>
            <a:pPr lvl="1"/>
            <a:r>
              <a:rPr lang="fa-IR" dirty="0"/>
              <a:t>اتم بورون 3 الکترون در لایه ظرفیت دارد، پس یک جای خالی الکترون دارد.</a:t>
            </a:r>
          </a:p>
          <a:p>
            <a:endParaRPr lang="fa-IR" dirty="0"/>
          </a:p>
        </p:txBody>
      </p:sp>
      <p:cxnSp>
        <p:nvCxnSpPr>
          <p:cNvPr id="14" name="Elbow Connector 13"/>
          <p:cNvCxnSpPr>
            <a:endCxn id="11" idx="7"/>
          </p:cNvCxnSpPr>
          <p:nvPr/>
        </p:nvCxnSpPr>
        <p:spPr>
          <a:xfrm rot="10800000" flipV="1">
            <a:off x="2765740" y="3881810"/>
            <a:ext cx="1272860" cy="488202"/>
          </a:xfrm>
          <a:prstGeom prst="bentConnector2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800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20114" y="1219200"/>
            <a:ext cx="4245933" cy="4876800"/>
          </a:xfrm>
        </p:spPr>
        <p:txBody>
          <a:bodyPr/>
          <a:lstStyle/>
          <a:p>
            <a:r>
              <a:rPr lang="fa-IR" dirty="0"/>
              <a:t>دیود </a:t>
            </a:r>
            <a:r>
              <a:rPr lang="en-US" dirty="0"/>
              <a:t>PN</a:t>
            </a:r>
            <a:r>
              <a:rPr lang="fa-IR" dirty="0"/>
              <a:t> المانی است که از اتصال نیمه‌هادی‌های نوع </a:t>
            </a:r>
            <a:r>
              <a:rPr lang="en-US" dirty="0"/>
              <a:t>P</a:t>
            </a:r>
            <a:r>
              <a:rPr lang="fa-IR" dirty="0"/>
              <a:t> و </a:t>
            </a:r>
            <a:r>
              <a:rPr lang="en-US" dirty="0"/>
              <a:t>N</a:t>
            </a:r>
            <a:r>
              <a:rPr lang="fa-IR" dirty="0"/>
              <a:t> ساخته می‌شود.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543695" y="1295400"/>
            <a:ext cx="3904588" cy="4917281"/>
            <a:chOff x="-3450176" y="1412082"/>
            <a:chExt cx="3904588" cy="4917281"/>
          </a:xfrm>
        </p:grpSpPr>
        <p:pic>
          <p:nvPicPr>
            <p:cNvPr id="36866" name="Picture 2" descr="Image result for diode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450176" y="4169636"/>
              <a:ext cx="3904588" cy="215972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868" name="Picture 4" descr="Image result for diod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52" t="13647" r="9997" b="14217"/>
            <a:stretch/>
          </p:blipFill>
          <p:spPr bwMode="auto">
            <a:xfrm>
              <a:off x="-3402882" y="1412082"/>
              <a:ext cx="3810000" cy="2819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/>
            <p:cNvGrpSpPr/>
            <p:nvPr/>
          </p:nvGrpSpPr>
          <p:grpSpPr>
            <a:xfrm>
              <a:off x="-1269282" y="3106157"/>
              <a:ext cx="1562890" cy="1049125"/>
              <a:chOff x="7294698" y="2743200"/>
              <a:chExt cx="1562890" cy="1049125"/>
            </a:xfrm>
          </p:grpSpPr>
          <p:pic>
            <p:nvPicPr>
              <p:cNvPr id="36888" name="Picture 24" descr="Image result for photodiode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36443"/>
              <a:stretch/>
            </p:blipFill>
            <p:spPr bwMode="auto">
              <a:xfrm>
                <a:off x="7294698" y="2743200"/>
                <a:ext cx="1562890" cy="9933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66530" y="2743200"/>
                <a:ext cx="1396470" cy="1049125"/>
              </a:xfrm>
              <a:prstGeom prst="rect">
                <a:avLst/>
              </a:prstGeom>
            </p:spPr>
          </p:pic>
        </p:grpSp>
      </p:grpSp>
      <p:grpSp>
        <p:nvGrpSpPr>
          <p:cNvPr id="8" name="Group 7"/>
          <p:cNvGrpSpPr/>
          <p:nvPr/>
        </p:nvGrpSpPr>
        <p:grpSpPr>
          <a:xfrm>
            <a:off x="6007100" y="3200400"/>
            <a:ext cx="2626105" cy="2665112"/>
            <a:chOff x="923024" y="1386694"/>
            <a:chExt cx="2626105" cy="2665112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11774" y="2286000"/>
              <a:ext cx="2374220" cy="1295400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156517" y="1386694"/>
              <a:ext cx="1995488" cy="731812"/>
            </a:xfrm>
            <a:prstGeom prst="rect">
              <a:avLst/>
            </a:prstGeom>
          </p:spPr>
        </p:pic>
        <p:sp>
          <p:nvSpPr>
            <p:cNvPr id="21" name="TextBox 20"/>
            <p:cNvSpPr txBox="1"/>
            <p:nvPr/>
          </p:nvSpPr>
          <p:spPr>
            <a:xfrm>
              <a:off x="923024" y="3682474"/>
              <a:ext cx="851515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Anode</a:t>
              </a:r>
              <a:endParaRPr lang="fa-IR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492429" y="3669268"/>
              <a:ext cx="1056700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en-US" dirty="0"/>
                <a:t>Cathode</a:t>
              </a:r>
              <a:endParaRPr lang="fa-IR" dirty="0"/>
            </a:p>
          </p:txBody>
        </p:sp>
      </p:grpSp>
    </p:spTree>
    <p:extLst>
      <p:ext uri="{BB962C8B-B14F-4D97-AF65-F5344CB8AC3E}">
        <p14:creationId xmlns:p14="http://schemas.microsoft.com/office/powerpoint/2010/main" val="728347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مدار یکسوساز </a:t>
            </a:r>
            <a:r>
              <a:rPr lang="en-US" dirty="0"/>
              <a:t>Rectifier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667000"/>
            <a:ext cx="2095500" cy="16668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9305" y="2564296"/>
            <a:ext cx="4267200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مدار آشکارساز قله</a:t>
            </a:r>
            <a:r>
              <a:rPr lang="en-US" dirty="0"/>
              <a:t>Peak detector 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2667000"/>
            <a:ext cx="2095500" cy="16668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2590799"/>
            <a:ext cx="5200650" cy="18192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81432" y="5089905"/>
            <a:ext cx="2863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b="1" dirty="0">
                <a:cs typeface="B Nazanin" panose="00000400000000000000" pitchFamily="2" charset="-78"/>
              </a:rPr>
              <a:t>مثال: برای تبدیل موج </a:t>
            </a:r>
            <a:r>
              <a:rPr lang="en-US" b="1" dirty="0">
                <a:cs typeface="B Nazanin" panose="00000400000000000000" pitchFamily="2" charset="-78"/>
              </a:rPr>
              <a:t>AC</a:t>
            </a:r>
            <a:r>
              <a:rPr lang="fa-IR" b="1" dirty="0">
                <a:cs typeface="B Nazanin" panose="00000400000000000000" pitchFamily="2" charset="-78"/>
              </a:rPr>
              <a:t> به </a:t>
            </a:r>
            <a:r>
              <a:rPr lang="en-US" b="1" dirty="0">
                <a:cs typeface="B Nazanin" panose="00000400000000000000" pitchFamily="2" charset="-78"/>
              </a:rPr>
              <a:t>DC</a:t>
            </a:r>
            <a:endParaRPr lang="fa-IR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59619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مدار مهارکننده </a:t>
            </a:r>
            <a:r>
              <a:rPr lang="en-US" dirty="0"/>
              <a:t>Clamper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  <p:pic>
        <p:nvPicPr>
          <p:cNvPr id="37890" name="Picture 2" descr="https://wiki.analog.com/_media/university/courses/electronics/text/chptr7-f11.png?cache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2419350"/>
            <a:ext cx="4630347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892" name="Picture 4" descr="https://wiki.analog.com/_media/university/courses/electronics/text/chptr7-f10.png?cache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981199"/>
            <a:ext cx="4276725" cy="3076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08696" y="5351707"/>
            <a:ext cx="2553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b="1" dirty="0">
                <a:cs typeface="B Nazanin" panose="00000400000000000000" pitchFamily="2" charset="-78"/>
              </a:rPr>
              <a:t>مثال: برای چندبرابرکردن ولتاژ</a:t>
            </a:r>
          </a:p>
        </p:txBody>
      </p:sp>
    </p:spTree>
    <p:extLst>
      <p:ext uri="{BB962C8B-B14F-4D97-AF65-F5344CB8AC3E}">
        <p14:creationId xmlns:p14="http://schemas.microsoft.com/office/powerpoint/2010/main" val="91758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مدار برش‌دهنده </a:t>
            </a:r>
            <a:r>
              <a:rPr lang="en-US" dirty="0"/>
              <a:t>Clipper/Limiter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  <p:pic>
        <p:nvPicPr>
          <p:cNvPr id="38914" name="Picture 2" descr="https://wiki.analog.com/_media/university/courses/electronics/text/chptr7-f14.png?cache=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438400"/>
            <a:ext cx="5146434" cy="2219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918" name="Picture 6" descr="https://wiki.analog.com/_media/university/courses/electronics/text/chptr7-f15.png?cache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2438400"/>
            <a:ext cx="4630347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68006" y="5189815"/>
            <a:ext cx="24945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b="1" dirty="0">
                <a:cs typeface="B Nazanin" panose="00000400000000000000" pitchFamily="2" charset="-78"/>
              </a:rPr>
              <a:t>مثال: برای حذف اسپایک نویز</a:t>
            </a:r>
          </a:p>
        </p:txBody>
      </p:sp>
    </p:spTree>
    <p:extLst>
      <p:ext uri="{BB962C8B-B14F-4D97-AF65-F5344CB8AC3E}">
        <p14:creationId xmlns:p14="http://schemas.microsoft.com/office/powerpoint/2010/main" val="22886237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Diode Applications</a:t>
            </a:r>
            <a:endParaRPr lang="fa-IR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مدار تنظیم‌کننده ولتاژ </a:t>
            </a:r>
            <a:r>
              <a:rPr lang="en-US" dirty="0"/>
              <a:t>Voltage Regulator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42" y="4217091"/>
            <a:ext cx="2219325" cy="163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65" y="4081359"/>
            <a:ext cx="2114550" cy="1628775"/>
          </a:xfrm>
          <a:prstGeom prst="rect">
            <a:avLst/>
          </a:prstGeom>
        </p:spPr>
      </p:pic>
      <p:pic>
        <p:nvPicPr>
          <p:cNvPr id="39940" name="Picture 4" descr="https://wiki.analog.com/_media/university/courses/electronics/text/chptr6-f15.png?cache=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621" y="3810000"/>
            <a:ext cx="24860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942" name="Picture 6" descr="Image result for voltage regulator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6570"/>
            <a:ext cx="2739890" cy="2054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523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92" name="Picture 8" descr="Image result for tv remote control infrare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5801" y="1981200"/>
            <a:ext cx="2954126" cy="2473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فرستنده/گیرنده مادون قرمز </a:t>
            </a:r>
            <a:r>
              <a:rPr lang="en-US" dirty="0"/>
              <a:t>Infrared Transmitter/Receiver</a:t>
            </a:r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  <p:pic>
        <p:nvPicPr>
          <p:cNvPr id="41986" name="Picture 2" descr="Image result for infrared transmitter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77824" y="1703552"/>
            <a:ext cx="3581400" cy="2686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8" name="Picture 4" descr="Image result for infrared transceiv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4226383"/>
            <a:ext cx="4525751" cy="195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990600" y="5058135"/>
            <a:ext cx="101021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دیود </a:t>
            </a:r>
            <a:r>
              <a:rPr lang="en-US" dirty="0">
                <a:cs typeface="B Nazanin" panose="00000400000000000000" pitchFamily="2" charset="-78"/>
              </a:rPr>
              <a:t>LED</a:t>
            </a:r>
            <a:endParaRPr lang="fa-IR" dirty="0">
              <a:cs typeface="B Nazanin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66800" y="4539202"/>
            <a:ext cx="8996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dirty="0">
                <a:cs typeface="B Nazanin" panose="00000400000000000000" pitchFamily="2" charset="-78"/>
              </a:rPr>
              <a:t>دیود نوری</a:t>
            </a:r>
          </a:p>
        </p:txBody>
      </p:sp>
    </p:spTree>
    <p:extLst>
      <p:ext uri="{BB962C8B-B14F-4D97-AF65-F5344CB8AC3E}">
        <p14:creationId xmlns:p14="http://schemas.microsoft.com/office/powerpoint/2010/main" val="1100068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برای ساخت گیت‌های منطقی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  <p:pic>
        <p:nvPicPr>
          <p:cNvPr id="40962" name="Picture 2" descr="http://people.seas.harvard.edu/~jones/es154/lectures/lecture_2/diode_circuits/diode_logic_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362200"/>
            <a:ext cx="286835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://people.seas.harvard.edu/~jones/es154/lectures/lecture_2/diode_circuits/diode_logic_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362200"/>
            <a:ext cx="286835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887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مشخصه ولتاژ-جریان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8" y="1295400"/>
            <a:ext cx="2800350" cy="240982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348" y="1222513"/>
            <a:ext cx="2514600" cy="29380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764646"/>
            <a:ext cx="2957513" cy="23511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6870" y="1828800"/>
            <a:ext cx="92204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دیود </a:t>
            </a:r>
            <a:r>
              <a:rPr lang="en-US" b="1" dirty="0">
                <a:solidFill>
                  <a:srgbClr val="FF0000"/>
                </a:solidFill>
                <a:cs typeface="B Nazanin" panose="00000400000000000000" pitchFamily="2" charset="-78"/>
              </a:rPr>
              <a:t>PN</a:t>
            </a:r>
            <a:endParaRPr lang="fa-IR" b="1" dirty="0">
              <a:solidFill>
                <a:srgbClr val="FF0000"/>
              </a:solidFill>
              <a:cs typeface="B Nazanin" panose="00000400000000000000" pitchFamily="2" charset="-7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01541" y="2034928"/>
            <a:ext cx="833883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دیود زنر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3290" y="4755560"/>
            <a:ext cx="103906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fa-IR" b="1" dirty="0">
                <a:solidFill>
                  <a:srgbClr val="FF0000"/>
                </a:solidFill>
                <a:cs typeface="B Nazanin" panose="00000400000000000000" pitchFamily="2" charset="-78"/>
              </a:rPr>
              <a:t>دیود تونلی</a:t>
            </a:r>
          </a:p>
        </p:txBody>
      </p:sp>
    </p:spTree>
    <p:extLst>
      <p:ext uri="{BB962C8B-B14F-4D97-AF65-F5344CB8AC3E}">
        <p14:creationId xmlns:p14="http://schemas.microsoft.com/office/powerpoint/2010/main" val="757070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مدل‌های دیود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مدل دقیق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2531403"/>
            <a:ext cx="2374220" cy="1295400"/>
          </a:xfrm>
          <a:prstGeom prst="rect">
            <a:avLst/>
          </a:prstGeom>
        </p:spPr>
      </p:pic>
      <p:grpSp>
        <p:nvGrpSpPr>
          <p:cNvPr id="22" name="Group 21"/>
          <p:cNvGrpSpPr/>
          <p:nvPr/>
        </p:nvGrpSpPr>
        <p:grpSpPr>
          <a:xfrm>
            <a:off x="505899" y="1983565"/>
            <a:ext cx="4653958" cy="2409825"/>
            <a:chOff x="509212" y="1295400"/>
            <a:chExt cx="4653958" cy="2409825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24000" y="1295400"/>
              <a:ext cx="2800350" cy="2409825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3550228" y="1925121"/>
              <a:ext cx="161294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fa-IR" dirty="0">
                  <a:cs typeface="B Nazanin" panose="00000400000000000000" pitchFamily="2" charset="-78"/>
                </a:rPr>
                <a:t>ناحیه بایاس مستقیم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09212" y="3267909"/>
              <a:ext cx="1612942" cy="36933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r" rtl="1"/>
              <a:r>
                <a:rPr lang="fa-IR" dirty="0">
                  <a:cs typeface="B Nazanin" panose="00000400000000000000" pitchFamily="2" charset="-78"/>
                </a:rPr>
                <a:t>ناحیه بایاس معکوس</a:t>
              </a:r>
            </a:p>
          </p:txBody>
        </p:sp>
      </p:grp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2970213" y="4384675"/>
          <a:ext cx="3240087" cy="71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70" name="Equation" r:id="rId5" imgW="1091880" imgH="241200" progId="Equation.DSMT4">
                  <p:embed/>
                </p:oleObj>
              </mc:Choice>
              <mc:Fallback>
                <p:oleObj name="Equation" r:id="rId5" imgW="1091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70213" y="4384675"/>
                        <a:ext cx="3240087" cy="71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" name="Straight Arrow Connector 13"/>
          <p:cNvCxnSpPr/>
          <p:nvPr/>
        </p:nvCxnSpPr>
        <p:spPr>
          <a:xfrm flipV="1">
            <a:off x="3589234" y="5100605"/>
            <a:ext cx="361156" cy="44236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22487" y="5658443"/>
            <a:ext cx="183095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جریان اشباع </a:t>
            </a:r>
            <a:r>
              <a:rPr lang="en-US" dirty="0">
                <a:cs typeface="B Nazanin" panose="00000400000000000000" pitchFamily="2" charset="-78"/>
              </a:rPr>
              <a:t>≈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10</a:t>
            </a:r>
            <a:r>
              <a:rPr lang="en-US" baseline="30000" dirty="0">
                <a:cs typeface="B Nazanin" panose="00000400000000000000" pitchFamily="2" charset="-78"/>
              </a:rPr>
              <a:t>-12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5321991" y="4826485"/>
            <a:ext cx="659847" cy="5070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42215" y="5358299"/>
            <a:ext cx="1850186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ولتاژ گرمایی </a:t>
            </a:r>
            <a:r>
              <a:rPr lang="en-US" dirty="0">
                <a:cs typeface="B Nazanin" panose="00000400000000000000" pitchFamily="2" charset="-78"/>
              </a:rPr>
              <a:t>≈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lang="en-US" dirty="0">
                <a:cs typeface="B Nazanin" panose="00000400000000000000" pitchFamily="2" charset="-78"/>
              </a:rPr>
              <a:t>25mv</a:t>
            </a:r>
            <a:endParaRPr lang="en-US" baseline="30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117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مقدار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fa-IR" dirty="0"/>
                  <a:t> 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fa-IR" dirty="0"/>
                  <a:t> را بیابید.</a:t>
                </a:r>
                <a:endParaRPr lang="en-US" dirty="0"/>
              </a:p>
              <a:p>
                <a:r>
                  <a:rPr lang="fa-IR" dirty="0"/>
                  <a:t>با نوشتن </a:t>
                </a:r>
                <a:r>
                  <a:rPr lang="en-US" dirty="0"/>
                  <a:t>KVL</a:t>
                </a:r>
                <a:r>
                  <a:rPr lang="fa-IR" dirty="0"/>
                  <a:t> داریم: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fa-IR" dirty="0"/>
                  <a:t>مدل دقیق، تحلیل را سخت می‌کند.</a:t>
                </a:r>
                <a:endParaRPr lang="en-US" dirty="0"/>
              </a:p>
              <a:p>
                <a:pPr lvl="1"/>
                <a:r>
                  <a:rPr lang="fa-IR" dirty="0"/>
                  <a:t>نیاز به مدل‌های ساده‌تر داریم.</a:t>
                </a:r>
                <a:endParaRPr lang="en-US" dirty="0"/>
              </a:p>
              <a:p>
                <a:endParaRPr lang="en-US" dirty="0"/>
              </a:p>
              <a:p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t="-875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4936"/>
          <a:stretch/>
        </p:blipFill>
        <p:spPr>
          <a:xfrm>
            <a:off x="533400" y="1219200"/>
            <a:ext cx="3524250" cy="2133600"/>
          </a:xfrm>
          <a:prstGeom prst="rect">
            <a:avLst/>
          </a:prstGeom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379557"/>
              </p:ext>
            </p:extLst>
          </p:nvPr>
        </p:nvGraphicFramePr>
        <p:xfrm>
          <a:off x="4604084" y="2590800"/>
          <a:ext cx="3015916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0" name="Equation" r:id="rId5" imgW="1193760" imgH="482400" progId="Equation.DSMT4">
                  <p:embed/>
                </p:oleObj>
              </mc:Choice>
              <mc:Fallback>
                <p:oleObj name="Equation" r:id="rId5" imgW="11937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04084" y="2590800"/>
                        <a:ext cx="3015916" cy="121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10" y="3476763"/>
            <a:ext cx="3154490" cy="2631466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6130726"/>
              </p:ext>
            </p:extLst>
          </p:nvPr>
        </p:nvGraphicFramePr>
        <p:xfrm>
          <a:off x="2232755" y="4863949"/>
          <a:ext cx="1258529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1" name="Equation" r:id="rId8" imgW="812520" imgH="393480" progId="Equation.DSMT4">
                  <p:embed/>
                </p:oleObj>
              </mc:Choice>
              <mc:Fallback>
                <p:oleObj name="Equation" r:id="rId8" imgW="81252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232755" y="4863949"/>
                        <a:ext cx="1258529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914510"/>
              </p:ext>
            </p:extLst>
          </p:nvPr>
        </p:nvGraphicFramePr>
        <p:xfrm>
          <a:off x="2405772" y="3886200"/>
          <a:ext cx="1608191" cy="355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52" name="Equation" r:id="rId10" imgW="1091880" imgH="241200" progId="Equation.DSMT4">
                  <p:embed/>
                </p:oleObj>
              </mc:Choice>
              <mc:Fallback>
                <p:oleObj name="Equation" r:id="rId10" imgW="10918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405772" y="3886200"/>
                        <a:ext cx="1608191" cy="3552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997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مدل‌های دیود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مدل ایده‌آل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fa-IR" dirty="0"/>
              </a:p>
              <a:p>
                <a:r>
                  <a:rPr lang="fa-IR" dirty="0"/>
                  <a:t>دیود همیشه در یکی از دو وضعیت زیر است:</a:t>
                </a:r>
                <a:endParaRPr lang="en-US" dirty="0"/>
              </a:p>
              <a:p>
                <a:pPr lvl="1"/>
                <a:r>
                  <a:rPr lang="fa-IR" dirty="0">
                    <a:solidFill>
                      <a:srgbClr val="008000"/>
                    </a:solidFill>
                  </a:rPr>
                  <a:t>روشن: </a:t>
                </a:r>
                <a:r>
                  <a:rPr lang="fa-IR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a-IR" dirty="0"/>
                  <a:t>) در این حالت دیود </a:t>
                </a:r>
                <a:r>
                  <a:rPr lang="fa-IR" dirty="0">
                    <a:solidFill>
                      <a:srgbClr val="00B050"/>
                    </a:solidFill>
                  </a:rPr>
                  <a:t>اتصال کوتاه </a:t>
                </a:r>
                <a:r>
                  <a:rPr lang="fa-IR" dirty="0"/>
                  <a:t>است.</a:t>
                </a:r>
                <a:endParaRPr lang="en-US" dirty="0"/>
              </a:p>
              <a:p>
                <a:pPr lvl="1"/>
                <a:r>
                  <a:rPr lang="fa-IR" dirty="0">
                    <a:solidFill>
                      <a:srgbClr val="FF0000"/>
                    </a:solidFill>
                  </a:rPr>
                  <a:t>خاموش: </a:t>
                </a:r>
                <a:r>
                  <a:rPr lang="fa-IR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a-IR" dirty="0"/>
                  <a:t>) در این حالت دیود </a:t>
                </a:r>
                <a:r>
                  <a:rPr lang="fa-IR" dirty="0">
                    <a:solidFill>
                      <a:srgbClr val="FF0000"/>
                    </a:solidFill>
                  </a:rPr>
                  <a:t>مدار باز </a:t>
                </a:r>
                <a:r>
                  <a:rPr lang="fa-IR" dirty="0"/>
                  <a:t>است.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t="-1000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7000" y="1447800"/>
            <a:ext cx="2299136" cy="2605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524000"/>
            <a:ext cx="1598691" cy="234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07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مدل‌های دیود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مدل تکه‌ای-خطی</a:t>
                </a:r>
                <a:r>
                  <a:rPr lang="en-US" dirty="0"/>
                  <a:t>Piecewise Linear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sz="4000" dirty="0"/>
              </a:p>
              <a:p>
                <a:endParaRPr lang="en-US" dirty="0"/>
              </a:p>
              <a:p>
                <a:r>
                  <a:rPr lang="fa-IR" dirty="0"/>
                  <a:t>دیود همیشه در یکی از دو وضعیت زیر است:</a:t>
                </a:r>
                <a:endParaRPr lang="en-US" dirty="0"/>
              </a:p>
              <a:p>
                <a:pPr lvl="1"/>
                <a:r>
                  <a:rPr lang="fa-IR" dirty="0">
                    <a:solidFill>
                      <a:srgbClr val="008000"/>
                    </a:solidFill>
                  </a:rPr>
                  <a:t>روشن: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𝑅𝑑𝑖𝐷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   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,  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fa-IR" dirty="0">
                    <a:solidFill>
                      <a:srgbClr val="FF0000"/>
                    </a:solidFill>
                  </a:rPr>
                  <a:t>خاموش: 	 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                     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t="-2125" r="-449" b="-2625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551" y="1803149"/>
            <a:ext cx="4615086" cy="239548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3733800" y="3429000"/>
            <a:ext cx="304800" cy="5982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88648" y="4038600"/>
            <a:ext cx="1511952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r" rtl="1"/>
            <a:r>
              <a:rPr lang="fa-IR" dirty="0">
                <a:cs typeface="B Nazanin" panose="00000400000000000000" pitchFamily="2" charset="-78"/>
              </a:rPr>
              <a:t>ولتاژ آستانه </a:t>
            </a:r>
            <a:r>
              <a:rPr lang="en-US" dirty="0">
                <a:cs typeface="B Nazanin" panose="00000400000000000000" pitchFamily="2" charset="-78"/>
              </a:rPr>
              <a:t>(</a:t>
            </a:r>
            <a:r>
              <a:rPr lang="en-US" dirty="0" err="1">
                <a:cs typeface="B Nazanin" panose="00000400000000000000" pitchFamily="2" charset="-78"/>
              </a:rPr>
              <a:t>v</a:t>
            </a:r>
            <a:r>
              <a:rPr lang="en-US" baseline="-25000" dirty="0" err="1">
                <a:cs typeface="B Nazanin" panose="00000400000000000000" pitchFamily="2" charset="-78"/>
              </a:rPr>
              <a:t>TH</a:t>
            </a:r>
            <a:r>
              <a:rPr lang="en-US" dirty="0">
                <a:cs typeface="B Nazanin" panose="00000400000000000000" pitchFamily="2" charset="-78"/>
              </a:rPr>
              <a:t>)</a:t>
            </a:r>
            <a:endParaRPr lang="en-US" baseline="300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535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تحلیل مدارهای دیودی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روش حالت فرضی</a:t>
                </a:r>
                <a:endParaRPr lang="en-US" dirty="0"/>
              </a:p>
              <a:p>
                <a:pPr marL="881063" lvl="1" indent="-514350">
                  <a:buFont typeface="+mj-lt"/>
                  <a:buAutoNum type="arabicPeriod"/>
                </a:pPr>
                <a:r>
                  <a:rPr lang="fa-IR" dirty="0"/>
                  <a:t>برای هر دیود، فرض کنید یا روشن است یا خاموش. برای هر فرض یک مدار متناظر رسم کنید. (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a-I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fa-IR" dirty="0"/>
                  <a:t>حالت برای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fa-IR" dirty="0"/>
                  <a:t> دیود)</a:t>
                </a:r>
              </a:p>
              <a:p>
                <a:pPr marL="881063" lvl="1" indent="-514350">
                  <a:buFont typeface="+mj-lt"/>
                  <a:buAutoNum type="arabicPeriod"/>
                </a:pPr>
                <a:r>
                  <a:rPr lang="fa-IR" dirty="0"/>
                  <a:t>یکی از مدارها را تحلیل کنید.</a:t>
                </a:r>
              </a:p>
              <a:p>
                <a:pPr marL="881063" lvl="1" indent="-514350">
                  <a:buFont typeface="+mj-lt"/>
                  <a:buAutoNum type="arabicPeriod"/>
                </a:pPr>
                <a:r>
                  <a:rPr lang="fa-IR" dirty="0"/>
                  <a:t>بررسی کنید آیا فرض درنظرگرفته‌شده برای دیود‌ها صحیح بوده است یا خیر.</a:t>
                </a:r>
              </a:p>
              <a:p>
                <a:pPr marL="1155700" lvl="2" indent="-514350"/>
                <a:r>
                  <a:rPr lang="fa-IR" dirty="0"/>
                  <a:t>اگر دیود خاموش فرض شده، </a:t>
                </a:r>
                <a:r>
                  <a:rPr lang="fa-IR" u="sng" dirty="0"/>
                  <a:t>ولتاژش باید منفی شده باشد</a:t>
                </a:r>
                <a:r>
                  <a:rPr lang="fa-IR" dirty="0"/>
                  <a:t>.</a:t>
                </a:r>
              </a:p>
              <a:p>
                <a:pPr marL="1155700" lvl="2" indent="-514350"/>
                <a:r>
                  <a:rPr lang="fa-IR" dirty="0"/>
                  <a:t>اگر دیود روشن فرض شده، </a:t>
                </a:r>
                <a:r>
                  <a:rPr lang="fa-IR" u="sng" dirty="0"/>
                  <a:t>جریانش باید مثبت شده باشد</a:t>
                </a:r>
                <a:r>
                  <a:rPr lang="fa-IR" dirty="0"/>
                  <a:t>.</a:t>
                </a:r>
              </a:p>
              <a:p>
                <a:pPr marL="881063" lvl="1" indent="-514350">
                  <a:buFont typeface="+mj-lt"/>
                  <a:buAutoNum type="arabicPeriod"/>
                </a:pPr>
                <a:r>
                  <a:rPr lang="fa-IR" dirty="0"/>
                  <a:t>اگر همه‌ فرض‌ها درست بود، تحلیل کامل است، وگرنه باید یک فرض دیگر را بررسی کنید (مرحله 2).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l="-1795" t="-1000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97722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با فرض ایده‌آل بودن دیود، ولتاژ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a-IR" dirty="0"/>
                  <a:t> را بیابید.</a:t>
                </a:r>
                <a:endParaRPr lang="en-US" dirty="0"/>
              </a:p>
              <a:p>
                <a:endParaRPr lang="en-US" dirty="0"/>
              </a:p>
              <a:p>
                <a:r>
                  <a:rPr lang="fa-IR" sz="2800" dirty="0"/>
                  <a:t>فرض کنید دیود خاموش (مدارباز) است.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a-IR" sz="2500" dirty="0"/>
                  <a:t> </a:t>
                </a:r>
                <a:r>
                  <a:rPr lang="fa-IR" sz="2500" dirty="0">
                    <a:solidFill>
                      <a:srgbClr val="FF0000"/>
                    </a:solidFill>
                  </a:rPr>
                  <a:t>(ولتاژ دیود مثبت شد. تناقض!)</a:t>
                </a:r>
                <a:endParaRPr lang="en-US" sz="2500" dirty="0">
                  <a:solidFill>
                    <a:srgbClr val="FF0000"/>
                  </a:solidFill>
                </a:endParaRPr>
              </a:p>
              <a:p>
                <a:endParaRPr lang="en-US" sz="2800" dirty="0"/>
              </a:p>
              <a:p>
                <a:r>
                  <a:rPr lang="fa-IR" sz="2800" dirty="0"/>
                  <a:t>فرض کنید دیود روشن (اتصال کوتاه) است.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5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3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fa-IR" sz="2500" dirty="0"/>
                  <a:t> </a:t>
                </a:r>
                <a:r>
                  <a:rPr lang="fa-IR" sz="2500" dirty="0">
                    <a:solidFill>
                      <a:srgbClr val="00B050"/>
                    </a:solidFill>
                  </a:rPr>
                  <a:t>(جریان دیود مثبت شد. درست.)</a:t>
                </a:r>
              </a:p>
              <a:p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t="-875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38250"/>
            <a:ext cx="2827367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25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65583"/>
            <a:ext cx="2952267" cy="27657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با فرض مدل تکه‌ای-خطی، ولتاژ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fa-IR" dirty="0"/>
                  <a:t> را بیابید.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𝑇𝐻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dirty="0"/>
              </a:p>
              <a:p>
                <a:pPr lvl="1"/>
                <a:endParaRPr lang="en-US" sz="100" dirty="0"/>
              </a:p>
              <a:p>
                <a:r>
                  <a:rPr lang="fa-IR" sz="2800" dirty="0"/>
                  <a:t>فرض کنید دیود خاموش (مدارباز) است.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5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500" i="1" baseline="-25000" dirty="0" err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5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5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500" i="1" dirty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500" i="1" dirty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sz="25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fa-IR" sz="2500" dirty="0"/>
                  <a:t> </a:t>
                </a:r>
                <a:r>
                  <a:rPr lang="fa-IR" sz="2500" dirty="0">
                    <a:solidFill>
                      <a:srgbClr val="FF0000"/>
                    </a:solidFill>
                  </a:rPr>
                  <a:t>(ولتاژ دیود مثبت شد. تناقض!)</a:t>
                </a:r>
                <a:endParaRPr lang="en-US" sz="2500" dirty="0">
                  <a:solidFill>
                    <a:srgbClr val="FF0000"/>
                  </a:solidFill>
                </a:endParaRPr>
              </a:p>
              <a:p>
                <a:endParaRPr lang="en-US" sz="1200" dirty="0"/>
              </a:p>
              <a:p>
                <a:r>
                  <a:rPr lang="fa-IR" sz="2800" dirty="0"/>
                  <a:t>فرض کنید دیود روشن (اتصال کوتاه) است.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𝑖𝐷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500" i="1" baseline="-25000" dirty="0" err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≈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𝑚𝐴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</a:rPr>
                      <m:t> →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≈ 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2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.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4</m:t>
                    </m:r>
                    <m:r>
                      <a:rPr lang="en-US" sz="250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𝑉</m:t>
                    </m:r>
                  </m:oMath>
                </a14:m>
                <a:r>
                  <a:rPr lang="fa-IR" sz="2500" dirty="0"/>
                  <a:t> </a:t>
                </a:r>
                <a:r>
                  <a:rPr lang="fa-IR" sz="2500" dirty="0">
                    <a:solidFill>
                      <a:srgbClr val="00B050"/>
                    </a:solidFill>
                  </a:rPr>
                  <a:t>(جریان دیود مثبت شد. درست.)</a:t>
                </a:r>
              </a:p>
              <a:p>
                <a:pPr lvl="1"/>
                <a:endParaRPr lang="fa-IR" sz="2500" dirty="0"/>
              </a:p>
              <a:p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4"/>
                <a:stretch>
                  <a:fillRect t="-875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2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5128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ولتاژ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fa-IR" baseline="-25000" dirty="0"/>
                  <a:t> </a:t>
                </a:r>
                <a:r>
                  <a:rPr lang="fa-IR" i="0" dirty="0">
                    <a:latin typeface="+mj-lt"/>
                  </a:rPr>
                  <a:t>را بر حسب ولتاژ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</m:oMath>
                </a14:m>
                <a:r>
                  <a:rPr lang="fa-IR" dirty="0"/>
                  <a:t> رسم کنید.</a:t>
                </a:r>
                <a:endParaRPr lang="en-US" dirty="0"/>
              </a:p>
              <a:p>
                <a:endParaRPr lang="en-US" baseline="-25000" dirty="0"/>
              </a:p>
              <a:p>
                <a:r>
                  <a:rPr lang="fa-IR" dirty="0"/>
                  <a:t>4 حالت می‌توان فرض کرد:</a:t>
                </a:r>
                <a:endParaRPr lang="en-US" dirty="0"/>
              </a:p>
              <a:p>
                <a:pPr lvl="1"/>
                <a:r>
                  <a:rPr lang="en-US" dirty="0"/>
                  <a:t>D</a:t>
                </a:r>
                <a:r>
                  <a:rPr lang="en-US" baseline="-25000" dirty="0"/>
                  <a:t>1</a:t>
                </a:r>
                <a:r>
                  <a:rPr lang="en-US" dirty="0"/>
                  <a:t> ON, D</a:t>
                </a:r>
                <a:r>
                  <a:rPr lang="en-US" baseline="-25000" dirty="0"/>
                  <a:t>2</a:t>
                </a:r>
                <a:r>
                  <a:rPr lang="en-US" dirty="0"/>
                  <a:t> ON</a:t>
                </a:r>
              </a:p>
              <a:p>
                <a:pPr lvl="1"/>
                <a:r>
                  <a:rPr lang="en-US" dirty="0"/>
                  <a:t>D</a:t>
                </a:r>
                <a:r>
                  <a:rPr lang="en-US" baseline="-25000" dirty="0"/>
                  <a:t>1</a:t>
                </a:r>
                <a:r>
                  <a:rPr lang="en-US" dirty="0"/>
                  <a:t> ON, D</a:t>
                </a:r>
                <a:r>
                  <a:rPr lang="en-US" baseline="-25000" dirty="0"/>
                  <a:t>2</a:t>
                </a:r>
                <a:r>
                  <a:rPr lang="en-US" dirty="0"/>
                  <a:t> OFF</a:t>
                </a:r>
              </a:p>
              <a:p>
                <a:pPr lvl="1"/>
                <a:r>
                  <a:rPr lang="en-US" dirty="0"/>
                  <a:t>D</a:t>
                </a:r>
                <a:r>
                  <a:rPr lang="en-US" baseline="-25000" dirty="0"/>
                  <a:t>1</a:t>
                </a:r>
                <a:r>
                  <a:rPr lang="en-US" dirty="0"/>
                  <a:t> OFF, D</a:t>
                </a:r>
                <a:r>
                  <a:rPr lang="en-US" baseline="-25000" dirty="0"/>
                  <a:t>2</a:t>
                </a:r>
                <a:r>
                  <a:rPr lang="en-US" dirty="0"/>
                  <a:t> ON</a:t>
                </a:r>
              </a:p>
              <a:p>
                <a:pPr lvl="1"/>
                <a:r>
                  <a:rPr lang="en-US" dirty="0"/>
                  <a:t>D</a:t>
                </a:r>
                <a:r>
                  <a:rPr lang="en-US" baseline="-25000" dirty="0"/>
                  <a:t>1</a:t>
                </a:r>
                <a:r>
                  <a:rPr lang="en-US" dirty="0"/>
                  <a:t> OFF, D</a:t>
                </a:r>
                <a:r>
                  <a:rPr lang="en-US" baseline="-25000" dirty="0"/>
                  <a:t>2</a:t>
                </a:r>
                <a:r>
                  <a:rPr lang="en-US" dirty="0"/>
                  <a:t> OFF</a:t>
                </a:r>
                <a:endParaRPr lang="en-US" baseline="-25000" dirty="0"/>
              </a:p>
              <a:p>
                <a:endParaRPr lang="en-US" sz="100" baseline="-25000" dirty="0"/>
              </a:p>
              <a:p>
                <a:r>
                  <a:rPr lang="fa-IR" dirty="0"/>
                  <a:t>آیا می‌توانید حالت درست را حدس بزنید؟</a:t>
                </a:r>
                <a:endParaRPr lang="en-US" dirty="0"/>
              </a:p>
              <a:p>
                <a:pPr lvl="1"/>
                <a:r>
                  <a:rPr lang="fa-IR" dirty="0"/>
                  <a:t>اگر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𝐼𝑁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:r>
                  <a:rPr lang="fa-IR" dirty="0"/>
                  <a:t>اگر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baseline="-25000" dirty="0" err="1" smtClean="0">
                        <a:latin typeface="Cambria Math" panose="02040503050406030204" pitchFamily="18" charset="0"/>
                      </a:rPr>
                      <m:t>𝐼𝑁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fa-IR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3"/>
                <a:stretch>
                  <a:fillRect t="-875" r="-449" b="-4250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19200"/>
            <a:ext cx="2552700" cy="350996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11117" y="2095573"/>
            <a:ext cx="43633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2</a:t>
            </a:r>
            <a:endParaRPr lang="fa-IR" baseline="-25000" dirty="0"/>
          </a:p>
        </p:txBody>
      </p:sp>
      <p:sp>
        <p:nvSpPr>
          <p:cNvPr id="10" name="TextBox 9"/>
          <p:cNvSpPr txBox="1"/>
          <p:nvPr/>
        </p:nvSpPr>
        <p:spPr>
          <a:xfrm>
            <a:off x="952500" y="3288268"/>
            <a:ext cx="436338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/>
              <a:t>D</a:t>
            </a:r>
            <a:r>
              <a:rPr lang="en-US" baseline="-25000" dirty="0"/>
              <a:t>1</a:t>
            </a:r>
            <a:endParaRPr lang="fa-IR" baseline="-25000" dirty="0"/>
          </a:p>
        </p:txBody>
      </p:sp>
    </p:spTree>
    <p:extLst>
      <p:ext uri="{BB962C8B-B14F-4D97-AF65-F5344CB8AC3E}">
        <p14:creationId xmlns:p14="http://schemas.microsoft.com/office/powerpoint/2010/main" val="3534838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یکسوساز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31" y="2514600"/>
            <a:ext cx="5872162" cy="18657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24" y="4320545"/>
            <a:ext cx="6057376" cy="19278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338039"/>
            <a:ext cx="3439178" cy="1266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2564" y="3796573"/>
            <a:ext cx="2630748" cy="116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5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495800"/>
            <a:ext cx="5681662" cy="1724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یکسوساز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25</a:t>
            </a:fld>
            <a:endParaRPr lang="en-US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89069"/>
            <a:ext cx="2638603" cy="156667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/>
          <a:srcRect b="13575"/>
          <a:stretch/>
        </p:blipFill>
        <p:spPr>
          <a:xfrm>
            <a:off x="685800" y="2721163"/>
            <a:ext cx="5820527" cy="177463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4717" y="1189069"/>
            <a:ext cx="2655900" cy="1671128"/>
          </a:xfrm>
          <a:prstGeom prst="rect">
            <a:avLst/>
          </a:prstGeom>
        </p:spPr>
      </p:pic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656388" y="3154363"/>
          <a:ext cx="2198687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6" name="Equation" r:id="rId8" imgW="1384200" imgH="660240" progId="Equation.DSMT4">
                  <p:embed/>
                </p:oleObj>
              </mc:Choice>
              <mc:Fallback>
                <p:oleObj name="Equation" r:id="rId8" imgW="1384200" imgH="660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656388" y="3154363"/>
                        <a:ext cx="2198687" cy="104933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/>
        </p:nvGraphicFramePr>
        <p:xfrm>
          <a:off x="6710023" y="5100160"/>
          <a:ext cx="1309687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47" name="Equation" r:id="rId10" imgW="825480" imgH="457200" progId="Equation.DSMT4">
                  <p:embed/>
                </p:oleObj>
              </mc:Choice>
              <mc:Fallback>
                <p:oleObj name="Equation" r:id="rId10" imgW="8254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10023" y="5100160"/>
                        <a:ext cx="1309687" cy="723900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341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106" y="3397924"/>
            <a:ext cx="4291013" cy="22372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140818"/>
            <a:ext cx="4575934" cy="17230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آشکارساز قله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Electrical Circuits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11. Diodes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B5CFC3F8-B58D-40FA-AF21-F23E618E0688}" type="slidenum">
              <a:rPr lang="en-US" altLang="en-US" smtClean="0"/>
              <a:pPr>
                <a:defRPr/>
              </a:pPr>
              <a:t>26</a:t>
            </a:fld>
            <a:endParaRPr lang="en-US" alt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3690415" y="3530878"/>
          <a:ext cx="766763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4" name="Equation" r:id="rId6" imgW="482400" imgH="228600" progId="Equation.DSMT4">
                  <p:embed/>
                </p:oleObj>
              </mc:Choice>
              <mc:Fallback>
                <p:oleObj name="Equation" r:id="rId6" imgW="482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690415" y="3530878"/>
                        <a:ext cx="766763" cy="36353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13941" y="5693510"/>
          <a:ext cx="1309687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5" name="Equation" r:id="rId8" imgW="825480" imgH="241200" progId="Equation.DSMT4">
                  <p:embed/>
                </p:oleObj>
              </mc:Choice>
              <mc:Fallback>
                <p:oleObj name="Equation" r:id="rId8" imgW="825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13941" y="5693510"/>
                        <a:ext cx="1309687" cy="382587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2744" y="3003035"/>
            <a:ext cx="3238500" cy="1419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794" y="4550569"/>
            <a:ext cx="3219450" cy="1581150"/>
          </a:xfrm>
          <a:prstGeom prst="rect">
            <a:avLst/>
          </a:prstGeom>
        </p:spPr>
      </p:pic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5735638" y="5683250"/>
          <a:ext cx="1752600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6" name="Equation" r:id="rId12" imgW="1104840" imgH="253800" progId="Equation.DSMT4">
                  <p:embed/>
                </p:oleObj>
              </mc:Choice>
              <mc:Fallback>
                <p:oleObj name="Equation" r:id="rId12" imgW="11048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735638" y="5683250"/>
                        <a:ext cx="1752600" cy="401638"/>
                      </a:xfrm>
                      <a:prstGeom prst="rect">
                        <a:avLst/>
                      </a:prstGeom>
                      <a:ln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605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a-IR" dirty="0"/>
              <a:t>عملکرد مدارهای زیر را تحلیل کنید.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27</a:t>
            </a:fld>
            <a:endParaRPr lang="en-US" altLang="en-US" dirty="0"/>
          </a:p>
        </p:txBody>
      </p:sp>
      <p:pic>
        <p:nvPicPr>
          <p:cNvPr id="7" name="Picture 2" descr="http://people.seas.harvard.edu/~jones/es154/lectures/lecture_2/diode_circuits/diode_logic_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133600"/>
            <a:ext cx="286835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://people.seas.harvard.edu/~jones/es154/lectures/lecture_2/diode_circuits/diode_logic_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286835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4739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fa-IR" dirty="0"/>
                  <a:t>در مدار زیر، ولتاژ آستانه دیود زنر 6- ولت است. ولتاژ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𝑂𝑈𝑇</m:t>
                        </m:r>
                      </m:sub>
                    </m:sSub>
                  </m:oMath>
                </a14:m>
                <a:r>
                  <a:rPr lang="fa-IR" dirty="0"/>
                  <a:t> را بر حسب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𝐼𝑁</m:t>
                        </m:r>
                      </m:sub>
                    </m:sSub>
                  </m:oMath>
                </a14:m>
                <a:r>
                  <a:rPr lang="fa-IR" dirty="0"/>
                  <a:t> رسم کنید.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 rotWithShape="0">
                <a:blip r:embed="rId2"/>
                <a:stretch>
                  <a:fillRect t="-875" r="-449"/>
                </a:stretch>
              </a:blipFill>
            </p:spPr>
            <p:txBody>
              <a:bodyPr/>
              <a:lstStyle/>
              <a:p>
                <a:r>
                  <a:rPr lang="fa-I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مدارهای الکتریکی و الکترونیکی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a-IR" altLang="en-US"/>
              <a:t>10. دیود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 rtl="1">
              <a:defRPr/>
            </a:pPr>
            <a:fld id="{B5CFC3F8-B58D-40FA-AF21-F23E618E0688}" type="slidenum">
              <a:rPr lang="en-US" altLang="en-US" smtClean="0"/>
              <a:pPr rtl="1">
                <a:defRPr/>
              </a:pPr>
              <a:t>28</a:t>
            </a:fld>
            <a:endParaRPr lang="en-US" altLang="en-US" dirty="0"/>
          </a:p>
        </p:txBody>
      </p:sp>
      <p:pic>
        <p:nvPicPr>
          <p:cNvPr id="7" name="Picture 4" descr="https://wiki.analog.com/_media/university/courses/electronics/text/chptr6-f15.png?cache=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54" y="2057400"/>
            <a:ext cx="248602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42939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5492</TotalTime>
  <Words>1418</Words>
  <Application>Microsoft Office PowerPoint</Application>
  <PresentationFormat>On-screen Show (4:3)</PresentationFormat>
  <Paragraphs>265</Paragraphs>
  <Slides>28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Wingdings 2</vt:lpstr>
      <vt:lpstr>Median</vt:lpstr>
      <vt:lpstr>Equation</vt:lpstr>
      <vt:lpstr>درس مدارهای الکتریکی و الکترونیکی  مدارهای دیود      </vt:lpstr>
      <vt:lpstr>فهرست مطالب</vt:lpstr>
      <vt:lpstr>نیمه‌رسانا</vt:lpstr>
      <vt:lpstr>سیلیکون به عنوان یک نیمه‌رسانا</vt:lpstr>
      <vt:lpstr>نیمه‌رسانا نوع N</vt:lpstr>
      <vt:lpstr>نیمه‌رسانا نوع P</vt:lpstr>
      <vt:lpstr>دیود</vt:lpstr>
      <vt:lpstr>کاربردهای دیود</vt:lpstr>
      <vt:lpstr>کاربردهای دیود</vt:lpstr>
      <vt:lpstr>کاربردهای دیود</vt:lpstr>
      <vt:lpstr>کاربردهای دیود</vt:lpstr>
      <vt:lpstr>Diode Applications</vt:lpstr>
      <vt:lpstr>کاربردهای دیود</vt:lpstr>
      <vt:lpstr>کاربردهای دیود</vt:lpstr>
      <vt:lpstr>مشخصه ولتاژ-جریان</vt:lpstr>
      <vt:lpstr>مدل‌های دیود</vt:lpstr>
      <vt:lpstr>مثال:</vt:lpstr>
      <vt:lpstr>مدل‌های دیود</vt:lpstr>
      <vt:lpstr>مدل‌های دیود</vt:lpstr>
      <vt:lpstr>تحلیل مدارهای دیودی</vt:lpstr>
      <vt:lpstr>مثال 1</vt:lpstr>
      <vt:lpstr>مثال 2</vt:lpstr>
      <vt:lpstr>مثال 3</vt:lpstr>
      <vt:lpstr>مثال 4</vt:lpstr>
      <vt:lpstr>مثال 5</vt:lpstr>
      <vt:lpstr>مثال 6</vt:lpstr>
      <vt:lpstr>مثال 7</vt:lpstr>
      <vt:lpstr>مثال 8</vt:lpstr>
    </vt:vector>
  </TitlesOfParts>
  <Company>Purdue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Overview</dc:title>
  <dc:creator>rf</dc:creator>
  <cp:lastModifiedBy>Siavash kh</cp:lastModifiedBy>
  <cp:revision>447</cp:revision>
  <dcterms:created xsi:type="dcterms:W3CDTF">2005-06-03T08:24:32Z</dcterms:created>
  <dcterms:modified xsi:type="dcterms:W3CDTF">2026-06-05T10:29:59Z</dcterms:modified>
</cp:coreProperties>
</file>