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8" r:id="rId1"/>
  </p:sldMasterIdLst>
  <p:notesMasterIdLst>
    <p:notesMasterId r:id="rId52"/>
  </p:notesMasterIdLst>
  <p:sldIdLst>
    <p:sldId id="271" r:id="rId2"/>
    <p:sldId id="272" r:id="rId3"/>
    <p:sldId id="273" r:id="rId4"/>
    <p:sldId id="304" r:id="rId5"/>
    <p:sldId id="305" r:id="rId6"/>
    <p:sldId id="274" r:id="rId7"/>
    <p:sldId id="275" r:id="rId8"/>
    <p:sldId id="306" r:id="rId9"/>
    <p:sldId id="276" r:id="rId10"/>
    <p:sldId id="307" r:id="rId11"/>
    <p:sldId id="277" r:id="rId12"/>
    <p:sldId id="308" r:id="rId13"/>
    <p:sldId id="309" r:id="rId14"/>
    <p:sldId id="310" r:id="rId15"/>
    <p:sldId id="311" r:id="rId16"/>
    <p:sldId id="312" r:id="rId17"/>
    <p:sldId id="313" r:id="rId18"/>
    <p:sldId id="314" r:id="rId19"/>
    <p:sldId id="315" r:id="rId20"/>
    <p:sldId id="302" r:id="rId21"/>
    <p:sldId id="317" r:id="rId22"/>
    <p:sldId id="318" r:id="rId23"/>
    <p:sldId id="319" r:id="rId24"/>
    <p:sldId id="320" r:id="rId25"/>
    <p:sldId id="321" r:id="rId26"/>
    <p:sldId id="279" r:id="rId27"/>
    <p:sldId id="322" r:id="rId28"/>
    <p:sldId id="323" r:id="rId29"/>
    <p:sldId id="280" r:id="rId30"/>
    <p:sldId id="281" r:id="rId31"/>
    <p:sldId id="282" r:id="rId32"/>
    <p:sldId id="283" r:id="rId33"/>
    <p:sldId id="32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3" r:id="rId5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5C45"/>
    <a:srgbClr val="94B6D2"/>
    <a:srgbClr val="DD8047"/>
    <a:srgbClr val="FF0000"/>
    <a:srgbClr val="6128F0"/>
    <a:srgbClr val="E727B0"/>
    <a:srgbClr val="66FF66"/>
    <a:srgbClr val="66FF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154" autoAdjust="0"/>
    <p:restoredTop sz="84262" autoAdjust="0"/>
  </p:normalViewPr>
  <p:slideViewPr>
    <p:cSldViewPr>
      <p:cViewPr varScale="1">
        <p:scale>
          <a:sx n="67" d="100"/>
          <a:sy n="67" d="100"/>
        </p:scale>
        <p:origin x="106" y="3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4622FA27-AFE5-4595-80D5-04A76A4EC8F3}" type="datetimeFigureOut">
              <a:rPr lang="en-US"/>
              <a:pPr>
                <a:defRPr/>
              </a:pPr>
              <a:t>6/5/2026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E57F2F09-0DD5-414D-B87C-1130674AA092}" type="slidenum">
              <a:rPr lang="en-US"/>
              <a:pPr>
                <a:defRPr/>
              </a:pPr>
              <a:t>‹#›</a:t>
            </a:fld>
            <a:endParaRPr lang="en-US"/>
          </a:p>
        </p:txBody>
      </p:sp>
    </p:spTree>
    <p:extLst>
      <p:ext uri="{BB962C8B-B14F-4D97-AF65-F5344CB8AC3E}">
        <p14:creationId xmlns:p14="http://schemas.microsoft.com/office/powerpoint/2010/main" val="210834517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a:p>
        </p:txBody>
      </p:sp>
      <p:sp>
        <p:nvSpPr>
          <p:cNvPr id="4" name="Slide Number Placeholder 3"/>
          <p:cNvSpPr>
            <a:spLocks noGrp="1"/>
          </p:cNvSpPr>
          <p:nvPr>
            <p:ph type="sldNum" sz="quarter" idx="10"/>
          </p:nvPr>
        </p:nvSpPr>
        <p:spPr/>
        <p:txBody>
          <a:bodyPr/>
          <a:lstStyle/>
          <a:p>
            <a:pPr>
              <a:defRPr/>
            </a:pPr>
            <a:fld id="{E57F2F09-0DD5-414D-B87C-1130674AA092}" type="slidenum">
              <a:rPr lang="en-US" smtClean="0"/>
              <a:pPr>
                <a:defRPr/>
              </a:pPr>
              <a:t>1</a:t>
            </a:fld>
            <a:endParaRPr lang="en-US"/>
          </a:p>
        </p:txBody>
      </p:sp>
    </p:spTree>
    <p:extLst>
      <p:ext uri="{BB962C8B-B14F-4D97-AF65-F5344CB8AC3E}">
        <p14:creationId xmlns:p14="http://schemas.microsoft.com/office/powerpoint/2010/main" val="17582969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a:p>
        </p:txBody>
      </p:sp>
      <p:sp>
        <p:nvSpPr>
          <p:cNvPr id="4" name="Slide Number Placeholder 3"/>
          <p:cNvSpPr>
            <a:spLocks noGrp="1"/>
          </p:cNvSpPr>
          <p:nvPr>
            <p:ph type="sldNum" sz="quarter" idx="10"/>
          </p:nvPr>
        </p:nvSpPr>
        <p:spPr/>
        <p:txBody>
          <a:bodyPr/>
          <a:lstStyle/>
          <a:p>
            <a:pPr>
              <a:defRPr/>
            </a:pPr>
            <a:fld id="{E57F2F09-0DD5-414D-B87C-1130674AA092}" type="slidenum">
              <a:rPr lang="en-US" smtClean="0"/>
              <a:pPr>
                <a:defRPr/>
              </a:pPr>
              <a:t>2</a:t>
            </a:fld>
            <a:endParaRPr lang="en-US"/>
          </a:p>
        </p:txBody>
      </p:sp>
    </p:spTree>
    <p:extLst>
      <p:ext uri="{BB962C8B-B14F-4D97-AF65-F5344CB8AC3E}">
        <p14:creationId xmlns:p14="http://schemas.microsoft.com/office/powerpoint/2010/main" val="18234099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en-US" dirty="0"/>
              <a:t>BJT</a:t>
            </a:r>
            <a:r>
              <a:rPr lang="fa-IR" baseline="0" dirty="0"/>
              <a:t> دوقطبی است به این معنی که هر دو حامل الکترون و حفره در تشکیل جریان شرکت دارند. ولی </a:t>
            </a:r>
            <a:r>
              <a:rPr lang="en-US" baseline="0" dirty="0"/>
              <a:t>MOSFET</a:t>
            </a:r>
            <a:r>
              <a:rPr lang="fa-IR" baseline="0" dirty="0"/>
              <a:t> یک قطبی است (یا حفره ها یا </a:t>
            </a:r>
            <a:r>
              <a:rPr lang="fa-IR" baseline="0" dirty="0" err="1"/>
              <a:t>الکترونها</a:t>
            </a:r>
            <a:r>
              <a:rPr lang="fa-IR" baseline="0" dirty="0"/>
              <a:t> جریان را می سازند)</a:t>
            </a:r>
            <a:endParaRPr lang="fa-IR" dirty="0"/>
          </a:p>
        </p:txBody>
      </p:sp>
      <p:sp>
        <p:nvSpPr>
          <p:cNvPr id="4" name="Slide Number Placeholder 3"/>
          <p:cNvSpPr>
            <a:spLocks noGrp="1"/>
          </p:cNvSpPr>
          <p:nvPr>
            <p:ph type="sldNum" sz="quarter" idx="10"/>
          </p:nvPr>
        </p:nvSpPr>
        <p:spPr/>
        <p:txBody>
          <a:bodyPr/>
          <a:lstStyle/>
          <a:p>
            <a:pPr>
              <a:defRPr/>
            </a:pPr>
            <a:fld id="{E57F2F09-0DD5-414D-B87C-1130674AA092}" type="slidenum">
              <a:rPr lang="en-US" smtClean="0"/>
              <a:pPr>
                <a:defRPr/>
              </a:pPr>
              <a:t>3</a:t>
            </a:fld>
            <a:endParaRPr lang="en-US"/>
          </a:p>
        </p:txBody>
      </p:sp>
    </p:spTree>
    <p:extLst>
      <p:ext uri="{BB962C8B-B14F-4D97-AF65-F5344CB8AC3E}">
        <p14:creationId xmlns:p14="http://schemas.microsoft.com/office/powerpoint/2010/main" val="4037998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en-US" dirty="0"/>
              <a:t>BJT</a:t>
            </a:r>
            <a:r>
              <a:rPr lang="fa-IR" baseline="0" dirty="0"/>
              <a:t> یک نوع ترانزیستور است که در آن، یک جریان کم در </a:t>
            </a:r>
            <a:r>
              <a:rPr lang="fa-IR" baseline="0" dirty="0" err="1"/>
              <a:t>بیس</a:t>
            </a:r>
            <a:r>
              <a:rPr lang="fa-IR" baseline="0" dirty="0"/>
              <a:t>، یک جریان زیاد در </a:t>
            </a:r>
            <a:r>
              <a:rPr lang="fa-IR" baseline="0" dirty="0" err="1"/>
              <a:t>کالکتور</a:t>
            </a:r>
            <a:r>
              <a:rPr lang="fa-IR" baseline="0" dirty="0"/>
              <a:t> ایجاد می کند و همین می تواند مبنای تقویت </a:t>
            </a:r>
            <a:r>
              <a:rPr lang="fa-IR" baseline="0" dirty="0" err="1"/>
              <a:t>کنندگی</a:t>
            </a:r>
            <a:r>
              <a:rPr lang="fa-IR" baseline="0" dirty="0"/>
              <a:t> باشد. </a:t>
            </a:r>
          </a:p>
          <a:p>
            <a:pPr algn="r" rtl="1"/>
            <a:r>
              <a:rPr lang="fa-IR" baseline="0" dirty="0"/>
              <a:t>آیا می توان با اتصال دو عدد </a:t>
            </a:r>
            <a:r>
              <a:rPr lang="fa-IR" baseline="0" dirty="0" err="1"/>
              <a:t>دیود</a:t>
            </a:r>
            <a:r>
              <a:rPr lang="fa-IR" baseline="0" dirty="0"/>
              <a:t> با سیم، یک ترانزیستور ساخت؟ خیر! لایه </a:t>
            </a:r>
            <a:r>
              <a:rPr lang="fa-IR" baseline="0" dirty="0" err="1"/>
              <a:t>بیس</a:t>
            </a:r>
            <a:r>
              <a:rPr lang="fa-IR" baseline="0" dirty="0"/>
              <a:t> باید خیلی نازک و بین دو </a:t>
            </a:r>
            <a:r>
              <a:rPr lang="fa-IR" baseline="0" dirty="0" err="1"/>
              <a:t>دیود</a:t>
            </a:r>
            <a:r>
              <a:rPr lang="fa-IR" baseline="0" dirty="0"/>
              <a:t> مشترک باشد تا بتوان جریان کم در </a:t>
            </a:r>
            <a:r>
              <a:rPr lang="fa-IR" baseline="0" dirty="0" err="1"/>
              <a:t>بیس</a:t>
            </a:r>
            <a:r>
              <a:rPr lang="fa-IR" baseline="0" dirty="0"/>
              <a:t> را به جریان زیاد در </a:t>
            </a:r>
            <a:r>
              <a:rPr lang="fa-IR" baseline="0" dirty="0" err="1"/>
              <a:t>کلکتور</a:t>
            </a:r>
            <a:r>
              <a:rPr lang="fa-IR" baseline="0" dirty="0"/>
              <a:t> تبدیل کرد. </a:t>
            </a:r>
          </a:p>
          <a:p>
            <a:pPr algn="r" rtl="1"/>
            <a:endParaRPr lang="fa-IR" baseline="0" dirty="0"/>
          </a:p>
          <a:p>
            <a:pPr algn="r" rtl="1"/>
            <a:r>
              <a:rPr lang="fa-IR" baseline="0" dirty="0"/>
              <a:t>همچنین این </a:t>
            </a:r>
            <a:r>
              <a:rPr lang="fa-IR" baseline="0" dirty="0" err="1"/>
              <a:t>المان</a:t>
            </a:r>
            <a:r>
              <a:rPr lang="fa-IR" baseline="0" dirty="0"/>
              <a:t> به دلیل </a:t>
            </a:r>
            <a:r>
              <a:rPr lang="fa-IR" baseline="0" dirty="0" err="1"/>
              <a:t>ساختارش</a:t>
            </a:r>
            <a:r>
              <a:rPr lang="fa-IR" baseline="0" dirty="0"/>
              <a:t> </a:t>
            </a:r>
            <a:r>
              <a:rPr lang="fa-IR" baseline="0" dirty="0" err="1"/>
              <a:t>نامتقارن</a:t>
            </a:r>
            <a:r>
              <a:rPr lang="fa-IR" baseline="0" dirty="0"/>
              <a:t> است و جای </a:t>
            </a:r>
            <a:r>
              <a:rPr lang="fa-IR" baseline="0" dirty="0" err="1"/>
              <a:t>کالکتور</a:t>
            </a:r>
            <a:r>
              <a:rPr lang="fa-IR" baseline="0" dirty="0"/>
              <a:t> و </a:t>
            </a:r>
            <a:r>
              <a:rPr lang="fa-IR" baseline="0" dirty="0" err="1"/>
              <a:t>امیتر</a:t>
            </a:r>
            <a:r>
              <a:rPr lang="fa-IR" baseline="0" dirty="0"/>
              <a:t> مشخص و ثابت است. ناحیه </a:t>
            </a:r>
            <a:r>
              <a:rPr lang="fa-IR" baseline="0" dirty="0" err="1"/>
              <a:t>امیتر</a:t>
            </a:r>
            <a:r>
              <a:rPr lang="fa-IR" baseline="0" dirty="0"/>
              <a:t> دارای سطح کوچکتری است و غلظت </a:t>
            </a:r>
            <a:r>
              <a:rPr lang="fa-IR" baseline="0" dirty="0" err="1"/>
              <a:t>ناخالصی</a:t>
            </a:r>
            <a:r>
              <a:rPr lang="fa-IR" baseline="0" dirty="0"/>
              <a:t> آن نیز بسیار بیشتر از </a:t>
            </a:r>
            <a:r>
              <a:rPr lang="fa-IR" baseline="0" dirty="0" err="1"/>
              <a:t>کالکتور</a:t>
            </a:r>
            <a:r>
              <a:rPr lang="fa-IR" baseline="0" dirty="0"/>
              <a:t> است.</a:t>
            </a:r>
            <a:endParaRPr lang="fa-IR" dirty="0"/>
          </a:p>
        </p:txBody>
      </p:sp>
      <p:sp>
        <p:nvSpPr>
          <p:cNvPr id="4" name="Slide Number Placeholder 3"/>
          <p:cNvSpPr>
            <a:spLocks noGrp="1"/>
          </p:cNvSpPr>
          <p:nvPr>
            <p:ph type="sldNum" sz="quarter" idx="10"/>
          </p:nvPr>
        </p:nvSpPr>
        <p:spPr/>
        <p:txBody>
          <a:bodyPr/>
          <a:lstStyle/>
          <a:p>
            <a:pPr>
              <a:defRPr/>
            </a:pPr>
            <a:fld id="{E57F2F09-0DD5-414D-B87C-1130674AA092}" type="slidenum">
              <a:rPr lang="en-US" smtClean="0"/>
              <a:pPr>
                <a:defRPr/>
              </a:pPr>
              <a:t>4</a:t>
            </a:fld>
            <a:endParaRPr lang="en-US"/>
          </a:p>
        </p:txBody>
      </p:sp>
    </p:spTree>
    <p:extLst>
      <p:ext uri="{BB962C8B-B14F-4D97-AF65-F5344CB8AC3E}">
        <p14:creationId xmlns:p14="http://schemas.microsoft.com/office/powerpoint/2010/main" val="25635472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en-US" dirty="0"/>
              <a:t>MOSFET</a:t>
            </a:r>
            <a:r>
              <a:rPr lang="fa-IR" dirty="0"/>
              <a:t> یک</a:t>
            </a:r>
            <a:r>
              <a:rPr lang="fa-IR" baseline="0" dirty="0"/>
              <a:t> نوع ترانزیستور است که برخلاف </a:t>
            </a:r>
            <a:r>
              <a:rPr lang="en-US" baseline="0" dirty="0"/>
              <a:t>BJT</a:t>
            </a:r>
            <a:r>
              <a:rPr lang="fa-IR" baseline="0" dirty="0"/>
              <a:t>، از </a:t>
            </a:r>
            <a:r>
              <a:rPr lang="fa-IR" baseline="0" dirty="0" err="1"/>
              <a:t>بیس</a:t>
            </a:r>
            <a:r>
              <a:rPr lang="fa-IR" baseline="0" dirty="0"/>
              <a:t> (اینجا </a:t>
            </a:r>
            <a:r>
              <a:rPr lang="fa-IR" baseline="0" dirty="0" err="1"/>
              <a:t>گیت</a:t>
            </a:r>
            <a:r>
              <a:rPr lang="fa-IR" baseline="0" dirty="0"/>
              <a:t> نام دارد) جریانی </a:t>
            </a:r>
            <a:r>
              <a:rPr lang="fa-IR" baseline="0" dirty="0" err="1"/>
              <a:t>نمی</a:t>
            </a:r>
            <a:r>
              <a:rPr lang="fa-IR" baseline="0" dirty="0"/>
              <a:t> گذرد. بلکه جریان بین </a:t>
            </a:r>
            <a:r>
              <a:rPr lang="fa-IR" baseline="0" dirty="0" err="1"/>
              <a:t>درین</a:t>
            </a:r>
            <a:r>
              <a:rPr lang="fa-IR" baseline="0" dirty="0"/>
              <a:t> و </a:t>
            </a:r>
            <a:r>
              <a:rPr lang="fa-IR" baseline="0" dirty="0" err="1"/>
              <a:t>سورس</a:t>
            </a:r>
            <a:r>
              <a:rPr lang="fa-IR" baseline="0" dirty="0"/>
              <a:t> با اعمال ولتاژ به </a:t>
            </a:r>
            <a:r>
              <a:rPr lang="fa-IR" baseline="0" dirty="0" err="1"/>
              <a:t>گیت</a:t>
            </a:r>
            <a:r>
              <a:rPr lang="fa-IR" baseline="0" dirty="0"/>
              <a:t> کنترل می شود. </a:t>
            </a:r>
          </a:p>
          <a:p>
            <a:pPr algn="r" rtl="1"/>
            <a:r>
              <a:rPr lang="fa-IR" baseline="0" dirty="0"/>
              <a:t>این ترانزیستور ساختار </a:t>
            </a:r>
            <a:r>
              <a:rPr lang="fa-IR" baseline="0" dirty="0" err="1"/>
              <a:t>متقارنی</a:t>
            </a:r>
            <a:r>
              <a:rPr lang="fa-IR" baseline="0" dirty="0"/>
              <a:t> دارد و جای </a:t>
            </a:r>
            <a:r>
              <a:rPr lang="fa-IR" baseline="0" dirty="0" err="1"/>
              <a:t>سورس</a:t>
            </a:r>
            <a:r>
              <a:rPr lang="fa-IR" baseline="0" dirty="0"/>
              <a:t> و </a:t>
            </a:r>
            <a:r>
              <a:rPr lang="fa-IR" baseline="0" dirty="0" err="1"/>
              <a:t>درین</a:t>
            </a:r>
            <a:r>
              <a:rPr lang="fa-IR" baseline="0" dirty="0"/>
              <a:t> می تواند عوض شود. در واقع </a:t>
            </a:r>
            <a:r>
              <a:rPr lang="fa-IR" baseline="0" dirty="0" err="1"/>
              <a:t>سورس</a:t>
            </a:r>
            <a:r>
              <a:rPr lang="fa-IR" baseline="0" dirty="0"/>
              <a:t> در </a:t>
            </a:r>
            <a:r>
              <a:rPr lang="en-US" baseline="0" dirty="0"/>
              <a:t>NMOS</a:t>
            </a:r>
            <a:r>
              <a:rPr lang="fa-IR" baseline="0" dirty="0"/>
              <a:t> پایه ای است که شما ولتاژ پایینتری به آن وصل می کنید!</a:t>
            </a:r>
            <a:endParaRPr lang="fa-IR" dirty="0"/>
          </a:p>
        </p:txBody>
      </p:sp>
      <p:sp>
        <p:nvSpPr>
          <p:cNvPr id="4" name="Slide Number Placeholder 3"/>
          <p:cNvSpPr>
            <a:spLocks noGrp="1"/>
          </p:cNvSpPr>
          <p:nvPr>
            <p:ph type="sldNum" sz="quarter" idx="10"/>
          </p:nvPr>
        </p:nvSpPr>
        <p:spPr/>
        <p:txBody>
          <a:bodyPr/>
          <a:lstStyle/>
          <a:p>
            <a:pPr>
              <a:defRPr/>
            </a:pPr>
            <a:fld id="{E57F2F09-0DD5-414D-B87C-1130674AA092}" type="slidenum">
              <a:rPr lang="en-US" smtClean="0"/>
              <a:pPr>
                <a:defRPr/>
              </a:pPr>
              <a:t>6</a:t>
            </a:fld>
            <a:endParaRPr lang="en-US"/>
          </a:p>
        </p:txBody>
      </p:sp>
    </p:spTree>
    <p:extLst>
      <p:ext uri="{BB962C8B-B14F-4D97-AF65-F5344CB8AC3E}">
        <p14:creationId xmlns:p14="http://schemas.microsoft.com/office/powerpoint/2010/main" val="22883436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a:t>به</a:t>
            </a:r>
            <a:r>
              <a:rPr lang="fa-IR" baseline="0" dirty="0"/>
              <a:t> دلیل وابستگی بهره </a:t>
            </a:r>
            <a:r>
              <a:rPr lang="en-US" baseline="0" dirty="0"/>
              <a:t>BJT</a:t>
            </a:r>
            <a:r>
              <a:rPr lang="fa-IR" baseline="0" dirty="0"/>
              <a:t> به دما می توان از آن در ساخت سنسور دما استفاده کرد!</a:t>
            </a:r>
            <a:endParaRPr lang="fa-IR" dirty="0"/>
          </a:p>
        </p:txBody>
      </p:sp>
      <p:sp>
        <p:nvSpPr>
          <p:cNvPr id="4" name="Slide Number Placeholder 3"/>
          <p:cNvSpPr>
            <a:spLocks noGrp="1"/>
          </p:cNvSpPr>
          <p:nvPr>
            <p:ph type="sldNum" sz="quarter" idx="10"/>
          </p:nvPr>
        </p:nvSpPr>
        <p:spPr/>
        <p:txBody>
          <a:bodyPr/>
          <a:lstStyle/>
          <a:p>
            <a:pPr>
              <a:defRPr/>
            </a:pPr>
            <a:fld id="{E57F2F09-0DD5-414D-B87C-1130674AA092}" type="slidenum">
              <a:rPr lang="en-US" smtClean="0"/>
              <a:pPr>
                <a:defRPr/>
              </a:pPr>
              <a:t>8</a:t>
            </a:fld>
            <a:endParaRPr lang="en-US"/>
          </a:p>
        </p:txBody>
      </p:sp>
    </p:spTree>
    <p:extLst>
      <p:ext uri="{BB962C8B-B14F-4D97-AF65-F5344CB8AC3E}">
        <p14:creationId xmlns:p14="http://schemas.microsoft.com/office/powerpoint/2010/main" val="12406852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a:t>در</a:t>
            </a:r>
            <a:r>
              <a:rPr lang="fa-IR" baseline="0" dirty="0"/>
              <a:t> </a:t>
            </a:r>
            <a:r>
              <a:rPr lang="en-US" baseline="0" dirty="0"/>
              <a:t>NMOS</a:t>
            </a:r>
            <a:r>
              <a:rPr lang="fa-IR" baseline="0" dirty="0"/>
              <a:t>، سورس غالبا به ولتاژ </a:t>
            </a:r>
            <a:r>
              <a:rPr lang="en-US" baseline="0" dirty="0"/>
              <a:t>0</a:t>
            </a:r>
            <a:r>
              <a:rPr lang="fa-IR" baseline="0" dirty="0"/>
              <a:t>وصل می شود. بنابراین </a:t>
            </a:r>
            <a:r>
              <a:rPr lang="en-US" baseline="0" dirty="0"/>
              <a:t>VGS</a:t>
            </a:r>
            <a:r>
              <a:rPr lang="fa-IR" baseline="0" dirty="0"/>
              <a:t> مثبت است. </a:t>
            </a:r>
          </a:p>
          <a:p>
            <a:pPr algn="r" rtl="1"/>
            <a:r>
              <a:rPr lang="fa-IR" baseline="0" dirty="0"/>
              <a:t>برای وصل شدن سوئیچ، ولتاژ گیت را </a:t>
            </a:r>
            <a:r>
              <a:rPr lang="en-US" baseline="0" dirty="0"/>
              <a:t>VDD</a:t>
            </a:r>
            <a:r>
              <a:rPr lang="fa-IR" baseline="0" dirty="0"/>
              <a:t> می دهیم. بنابراین </a:t>
            </a:r>
            <a:r>
              <a:rPr lang="en-US" baseline="0" dirty="0"/>
              <a:t>VGS=VDD</a:t>
            </a:r>
            <a:r>
              <a:rPr lang="fa-IR" baseline="0" dirty="0"/>
              <a:t> و مقدار آن از مقدار </a:t>
            </a:r>
            <a:r>
              <a:rPr lang="en-US" baseline="0" dirty="0"/>
              <a:t>VT</a:t>
            </a:r>
            <a:r>
              <a:rPr lang="fa-IR" baseline="0" dirty="0"/>
              <a:t> بیشتر است.</a:t>
            </a:r>
          </a:p>
          <a:p>
            <a:pPr marL="0" marR="0" lvl="0" indent="0" algn="r" defTabSz="914400" rtl="1" eaLnBrk="0" fontAlgn="base" latinLnBrk="0" hangingPunct="0">
              <a:lnSpc>
                <a:spcPct val="100000"/>
              </a:lnSpc>
              <a:spcBef>
                <a:spcPct val="30000"/>
              </a:spcBef>
              <a:spcAft>
                <a:spcPct val="0"/>
              </a:spcAft>
              <a:buClrTx/>
              <a:buSzTx/>
              <a:buFontTx/>
              <a:buNone/>
              <a:tabLst/>
              <a:defRPr/>
            </a:pPr>
            <a:r>
              <a:rPr lang="fa-IR" baseline="0" dirty="0"/>
              <a:t>برای قطع شدن سوئیچ، ولتاژ گیت را </a:t>
            </a:r>
            <a:r>
              <a:rPr lang="en-US" baseline="0" dirty="0"/>
              <a:t>0</a:t>
            </a:r>
            <a:r>
              <a:rPr lang="fa-IR" baseline="0" dirty="0"/>
              <a:t> می دهیم. بنابراین </a:t>
            </a:r>
            <a:r>
              <a:rPr lang="en-US" baseline="0" dirty="0"/>
              <a:t>VGS=0</a:t>
            </a:r>
            <a:r>
              <a:rPr lang="fa-IR" baseline="0" dirty="0"/>
              <a:t> و مقدار آن از مقدار </a:t>
            </a:r>
            <a:r>
              <a:rPr lang="en-US" baseline="0" dirty="0"/>
              <a:t>VT</a:t>
            </a:r>
            <a:r>
              <a:rPr lang="fa-IR" baseline="0" dirty="0"/>
              <a:t> کمتر است.</a:t>
            </a:r>
            <a:endParaRPr lang="fa-IR" dirty="0"/>
          </a:p>
          <a:p>
            <a:endParaRPr lang="fa-IR" dirty="0"/>
          </a:p>
        </p:txBody>
      </p:sp>
      <p:sp>
        <p:nvSpPr>
          <p:cNvPr id="4" name="Slide Number Placeholder 3"/>
          <p:cNvSpPr>
            <a:spLocks noGrp="1"/>
          </p:cNvSpPr>
          <p:nvPr>
            <p:ph type="sldNum" sz="quarter" idx="10"/>
          </p:nvPr>
        </p:nvSpPr>
        <p:spPr/>
        <p:txBody>
          <a:bodyPr/>
          <a:lstStyle/>
          <a:p>
            <a:pPr>
              <a:defRPr/>
            </a:pPr>
            <a:fld id="{E57F2F09-0DD5-414D-B87C-1130674AA092}" type="slidenum">
              <a:rPr lang="en-US" smtClean="0"/>
              <a:pPr>
                <a:defRPr/>
              </a:pPr>
              <a:t>14</a:t>
            </a:fld>
            <a:endParaRPr lang="en-US"/>
          </a:p>
        </p:txBody>
      </p:sp>
    </p:spTree>
    <p:extLst>
      <p:ext uri="{BB962C8B-B14F-4D97-AF65-F5344CB8AC3E}">
        <p14:creationId xmlns:p14="http://schemas.microsoft.com/office/powerpoint/2010/main" val="27883500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a:t>در</a:t>
            </a:r>
            <a:r>
              <a:rPr lang="fa-IR" baseline="0" dirty="0"/>
              <a:t> </a:t>
            </a:r>
            <a:r>
              <a:rPr lang="en-US" baseline="0" dirty="0"/>
              <a:t>PMOS</a:t>
            </a:r>
            <a:r>
              <a:rPr lang="fa-IR" baseline="0" dirty="0"/>
              <a:t>، سورس غالبا به ولتاژ </a:t>
            </a:r>
            <a:r>
              <a:rPr lang="en-US" baseline="0" dirty="0"/>
              <a:t>VDD</a:t>
            </a:r>
            <a:r>
              <a:rPr lang="fa-IR" baseline="0" dirty="0"/>
              <a:t> وصل می شود. بنابراین </a:t>
            </a:r>
            <a:r>
              <a:rPr lang="en-US" baseline="0" dirty="0"/>
              <a:t>VGS</a:t>
            </a:r>
            <a:r>
              <a:rPr lang="fa-IR" baseline="0" dirty="0"/>
              <a:t> منفی است. </a:t>
            </a:r>
          </a:p>
          <a:p>
            <a:pPr algn="r" rtl="1"/>
            <a:r>
              <a:rPr lang="fa-IR" baseline="0" dirty="0"/>
              <a:t>برای وصل شدن سوئیچ، ولتاژ گیت را صفر می دهیم. بنابراین </a:t>
            </a:r>
            <a:r>
              <a:rPr lang="en-US" baseline="0" dirty="0"/>
              <a:t>VGS=-VDD</a:t>
            </a:r>
            <a:r>
              <a:rPr lang="fa-IR" baseline="0" dirty="0"/>
              <a:t> و قدرمطلق آن از قدر مطلق </a:t>
            </a:r>
            <a:r>
              <a:rPr lang="en-US" baseline="0" dirty="0"/>
              <a:t>VT</a:t>
            </a:r>
            <a:r>
              <a:rPr lang="fa-IR" baseline="0" dirty="0"/>
              <a:t> بیشتر است.</a:t>
            </a:r>
          </a:p>
          <a:p>
            <a:pPr marL="0" marR="0" lvl="0" indent="0" algn="r" defTabSz="914400" rtl="1" eaLnBrk="0" fontAlgn="base" latinLnBrk="0" hangingPunct="0">
              <a:lnSpc>
                <a:spcPct val="100000"/>
              </a:lnSpc>
              <a:spcBef>
                <a:spcPct val="30000"/>
              </a:spcBef>
              <a:spcAft>
                <a:spcPct val="0"/>
              </a:spcAft>
              <a:buClrTx/>
              <a:buSzTx/>
              <a:buFontTx/>
              <a:buNone/>
              <a:tabLst/>
              <a:defRPr/>
            </a:pPr>
            <a:r>
              <a:rPr lang="fa-IR" baseline="0" dirty="0"/>
              <a:t>برای قطع شدن سوئیچ، ولتاژ گیت را </a:t>
            </a:r>
            <a:r>
              <a:rPr lang="en-US" baseline="0" dirty="0"/>
              <a:t>VDD</a:t>
            </a:r>
            <a:r>
              <a:rPr lang="fa-IR" baseline="0" dirty="0"/>
              <a:t> می دهیم. بنابراین </a:t>
            </a:r>
            <a:r>
              <a:rPr lang="en-US" baseline="0" dirty="0"/>
              <a:t>VGS=0</a:t>
            </a:r>
            <a:r>
              <a:rPr lang="fa-IR" baseline="0" dirty="0"/>
              <a:t> و قدرمطلق آن از قدر مطلق </a:t>
            </a:r>
            <a:r>
              <a:rPr lang="en-US" baseline="0" dirty="0"/>
              <a:t>VT</a:t>
            </a:r>
            <a:r>
              <a:rPr lang="fa-IR" baseline="0" dirty="0"/>
              <a:t> کمتر است.</a:t>
            </a:r>
            <a:endParaRPr lang="fa-IR" dirty="0"/>
          </a:p>
          <a:p>
            <a:pPr algn="r" rtl="1"/>
            <a:endParaRPr lang="fa-IR" dirty="0"/>
          </a:p>
        </p:txBody>
      </p:sp>
      <p:sp>
        <p:nvSpPr>
          <p:cNvPr id="4" name="Slide Number Placeholder 3"/>
          <p:cNvSpPr>
            <a:spLocks noGrp="1"/>
          </p:cNvSpPr>
          <p:nvPr>
            <p:ph type="sldNum" sz="quarter" idx="10"/>
          </p:nvPr>
        </p:nvSpPr>
        <p:spPr/>
        <p:txBody>
          <a:bodyPr/>
          <a:lstStyle/>
          <a:p>
            <a:pPr>
              <a:defRPr/>
            </a:pPr>
            <a:fld id="{E57F2F09-0DD5-414D-B87C-1130674AA092}" type="slidenum">
              <a:rPr lang="en-US" smtClean="0"/>
              <a:pPr>
                <a:defRPr/>
              </a:pPr>
              <a:t>18</a:t>
            </a:fld>
            <a:endParaRPr lang="en-US"/>
          </a:p>
        </p:txBody>
      </p:sp>
    </p:spTree>
    <p:extLst>
      <p:ext uri="{BB962C8B-B14F-4D97-AF65-F5344CB8AC3E}">
        <p14:creationId xmlns:p14="http://schemas.microsoft.com/office/powerpoint/2010/main" val="13455712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a:p>
        </p:txBody>
      </p:sp>
      <p:sp>
        <p:nvSpPr>
          <p:cNvPr id="4" name="Slide Number Placeholder 3"/>
          <p:cNvSpPr>
            <a:spLocks noGrp="1"/>
          </p:cNvSpPr>
          <p:nvPr>
            <p:ph type="sldNum" sz="quarter" idx="10"/>
          </p:nvPr>
        </p:nvSpPr>
        <p:spPr/>
        <p:txBody>
          <a:bodyPr/>
          <a:lstStyle/>
          <a:p>
            <a:pPr>
              <a:defRPr/>
            </a:pPr>
            <a:fld id="{E57F2F09-0DD5-414D-B87C-1130674AA092}" type="slidenum">
              <a:rPr lang="en-US" smtClean="0"/>
              <a:pPr>
                <a:defRPr/>
              </a:pPr>
              <a:t>21</a:t>
            </a:fld>
            <a:endParaRPr lang="en-US"/>
          </a:p>
        </p:txBody>
      </p:sp>
    </p:spTree>
    <p:extLst>
      <p:ext uri="{BB962C8B-B14F-4D97-AF65-F5344CB8AC3E}">
        <p14:creationId xmlns:p14="http://schemas.microsoft.com/office/powerpoint/2010/main" val="18234099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a:t>دو منبع ولتاژ</a:t>
            </a:r>
            <a:r>
              <a:rPr lang="fa-IR" baseline="0" dirty="0"/>
              <a:t> </a:t>
            </a:r>
            <a:r>
              <a:rPr lang="en-US" baseline="0" dirty="0"/>
              <a:t>V</a:t>
            </a:r>
            <a:r>
              <a:rPr lang="en-US" baseline="-25000" dirty="0"/>
              <a:t>D</a:t>
            </a:r>
            <a:r>
              <a:rPr lang="fa-IR" baseline="0" dirty="0"/>
              <a:t> و </a:t>
            </a:r>
            <a:r>
              <a:rPr lang="en-US" baseline="0" dirty="0" err="1"/>
              <a:t>v</a:t>
            </a:r>
            <a:r>
              <a:rPr lang="en-US" baseline="-25000" dirty="0" err="1"/>
              <a:t>D</a:t>
            </a:r>
            <a:r>
              <a:rPr lang="en-US" baseline="0" dirty="0"/>
              <a:t>(t)</a:t>
            </a:r>
            <a:r>
              <a:rPr lang="fa-IR" baseline="0" dirty="0"/>
              <a:t> را در نظر بگیرید که اولی </a:t>
            </a:r>
            <a:r>
              <a:rPr lang="en-US" baseline="0" dirty="0"/>
              <a:t>DC</a:t>
            </a:r>
            <a:r>
              <a:rPr lang="fa-IR" baseline="0" dirty="0"/>
              <a:t> و دومی </a:t>
            </a:r>
            <a:r>
              <a:rPr lang="en-US" baseline="0" dirty="0"/>
              <a:t>AC</a:t>
            </a:r>
            <a:r>
              <a:rPr lang="fa-IR" baseline="0" dirty="0"/>
              <a:t> است. ابتدا فرض کنید </a:t>
            </a:r>
            <a:r>
              <a:rPr lang="en-US" baseline="0" dirty="0" err="1"/>
              <a:t>v</a:t>
            </a:r>
            <a:r>
              <a:rPr lang="en-US" baseline="-25000" dirty="0" err="1"/>
              <a:t>D</a:t>
            </a:r>
            <a:r>
              <a:rPr lang="en-US" baseline="0" dirty="0"/>
              <a:t>(t)</a:t>
            </a:r>
            <a:r>
              <a:rPr lang="fa-IR" baseline="0" dirty="0"/>
              <a:t>  صفر است. تا اینجا می دانیم دیود یک المان غیر خطی با مشخصه جریان-ولتاژ نشان داده شده است. بنابراین ولتاژ </a:t>
            </a:r>
            <a:r>
              <a:rPr lang="en-US" baseline="0" dirty="0"/>
              <a:t>V</a:t>
            </a:r>
            <a:r>
              <a:rPr lang="en-US" baseline="-25000" dirty="0"/>
              <a:t>D</a:t>
            </a:r>
            <a:r>
              <a:rPr lang="fa-IR" baseline="0" dirty="0"/>
              <a:t> اعمالی باعث عبور جریان </a:t>
            </a:r>
            <a:r>
              <a:rPr lang="en-US" baseline="0" dirty="0"/>
              <a:t>I</a:t>
            </a:r>
            <a:r>
              <a:rPr lang="en-US" baseline="-25000" dirty="0"/>
              <a:t>D</a:t>
            </a:r>
            <a:r>
              <a:rPr lang="fa-IR" baseline="0" dirty="0"/>
              <a:t> و تعیین مد کاری دیود (قطع یا وصل) می شود. با تغییر </a:t>
            </a:r>
            <a:r>
              <a:rPr lang="en-US" baseline="0" dirty="0"/>
              <a:t>V</a:t>
            </a:r>
            <a:r>
              <a:rPr lang="en-US" baseline="-25000" dirty="0"/>
              <a:t>D</a:t>
            </a:r>
            <a:r>
              <a:rPr lang="fa-IR" baseline="0" dirty="0"/>
              <a:t>، </a:t>
            </a:r>
            <a:r>
              <a:rPr lang="en-US" baseline="0" dirty="0"/>
              <a:t>I</a:t>
            </a:r>
            <a:r>
              <a:rPr lang="en-US" baseline="-25000" dirty="0"/>
              <a:t>D</a:t>
            </a:r>
            <a:r>
              <a:rPr lang="fa-IR" baseline="0" dirty="0"/>
              <a:t> به صورت غیر خطی تغییر می کند و این وابستگی را باید با یک مدار غیر خطی مدل کرد. به این مدل، مدل سیگنال بزرگ گویند که موضوع بحث اسلاید دیود بود. به نقطه معادل </a:t>
            </a:r>
            <a:r>
              <a:rPr lang="en-US" baseline="0" dirty="0"/>
              <a:t>VD</a:t>
            </a:r>
            <a:r>
              <a:rPr lang="fa-IR" baseline="0" dirty="0"/>
              <a:t> و </a:t>
            </a:r>
            <a:r>
              <a:rPr lang="en-US" baseline="0" dirty="0"/>
              <a:t>ID</a:t>
            </a:r>
            <a:r>
              <a:rPr lang="fa-IR" baseline="0" dirty="0"/>
              <a:t> در منحنی مشخصه، نقطه کار گویند.</a:t>
            </a:r>
          </a:p>
          <a:p>
            <a:pPr algn="r" rtl="1"/>
            <a:r>
              <a:rPr lang="fa-IR" baseline="0" dirty="0"/>
              <a:t>حال فرض کنید در همین حالت، ولتاژ </a:t>
            </a:r>
            <a:r>
              <a:rPr lang="en-US" baseline="0" dirty="0"/>
              <a:t>AC</a:t>
            </a:r>
            <a:r>
              <a:rPr lang="fa-IR" baseline="0" dirty="0"/>
              <a:t> </a:t>
            </a:r>
            <a:r>
              <a:rPr lang="en-US" baseline="0" dirty="0" err="1"/>
              <a:t>v</a:t>
            </a:r>
            <a:r>
              <a:rPr lang="en-US" baseline="-25000" dirty="0" err="1"/>
              <a:t>D</a:t>
            </a:r>
            <a:r>
              <a:rPr lang="en-US" baseline="0" dirty="0"/>
              <a:t>(t)</a:t>
            </a:r>
            <a:r>
              <a:rPr lang="fa-IR" baseline="0" dirty="0"/>
              <a:t>  را اعمال کنیم که دامنه آن خیلی کوچک است (در حد میلی ولت).  جریان </a:t>
            </a:r>
            <a:r>
              <a:rPr lang="en-US" baseline="0" dirty="0" err="1"/>
              <a:t>i</a:t>
            </a:r>
            <a:r>
              <a:rPr lang="en-US" baseline="-25000" dirty="0" err="1"/>
              <a:t>D</a:t>
            </a:r>
            <a:r>
              <a:rPr lang="en-US" baseline="0" dirty="0"/>
              <a:t>(t)</a:t>
            </a:r>
            <a:r>
              <a:rPr lang="fa-IR" baseline="0" dirty="0"/>
              <a:t> حول نقطه کار، وابستگی تقریبا خطی با </a:t>
            </a:r>
            <a:r>
              <a:rPr lang="en-US" baseline="0" dirty="0" err="1"/>
              <a:t>v</a:t>
            </a:r>
            <a:r>
              <a:rPr lang="en-US" baseline="-25000" dirty="0" err="1"/>
              <a:t>D</a:t>
            </a:r>
            <a:r>
              <a:rPr lang="en-US" baseline="0" dirty="0"/>
              <a:t>(t)</a:t>
            </a:r>
            <a:r>
              <a:rPr lang="fa-IR" baseline="0" dirty="0"/>
              <a:t>  دارد (دیود مانند مقاومت خطی رفتار می کند که مقدار آن برابر با معکوس شیب مماس بر منحنی در نقطه کار است.). این وابستگی خطی را می توان با یک مدار خطی مدل کرد. به این مدل، مدل سیگنال کوچک گویند. پس مقاومت معادل دیود به نقطه کار وابسته است.</a:t>
            </a:r>
          </a:p>
          <a:p>
            <a:pPr algn="r" rtl="1"/>
            <a:endParaRPr lang="fa-IR" baseline="0" dirty="0"/>
          </a:p>
          <a:p>
            <a:pPr algn="r" rtl="1"/>
            <a:r>
              <a:rPr lang="fa-IR" baseline="0" dirty="0"/>
              <a:t>در ترانزیستورها نیز این بحث وجود دارد و میزان تقویت کنندگی ترانزیستور را با تعیین نقطه کار آن تعیین می کنند.</a:t>
            </a:r>
            <a:endParaRPr lang="fa-IR" dirty="0"/>
          </a:p>
          <a:p>
            <a:endParaRPr lang="fa-IR" dirty="0"/>
          </a:p>
        </p:txBody>
      </p:sp>
      <p:sp>
        <p:nvSpPr>
          <p:cNvPr id="4" name="Slide Number Placeholder 3"/>
          <p:cNvSpPr>
            <a:spLocks noGrp="1"/>
          </p:cNvSpPr>
          <p:nvPr>
            <p:ph type="sldNum" sz="quarter" idx="10"/>
          </p:nvPr>
        </p:nvSpPr>
        <p:spPr/>
        <p:txBody>
          <a:bodyPr/>
          <a:lstStyle/>
          <a:p>
            <a:pPr>
              <a:defRPr/>
            </a:pPr>
            <a:fld id="{E57F2F09-0DD5-414D-B87C-1130674AA092}" type="slidenum">
              <a:rPr lang="en-US" smtClean="0"/>
              <a:pPr>
                <a:defRPr/>
              </a:pPr>
              <a:t>25</a:t>
            </a:fld>
            <a:endParaRPr lang="en-US"/>
          </a:p>
        </p:txBody>
      </p:sp>
    </p:spTree>
    <p:extLst>
      <p:ext uri="{BB962C8B-B14F-4D97-AF65-F5344CB8AC3E}">
        <p14:creationId xmlns:p14="http://schemas.microsoft.com/office/powerpoint/2010/main" val="24889754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a:t>معمولا</a:t>
            </a:r>
            <a:r>
              <a:rPr lang="fa-IR" baseline="0" dirty="0"/>
              <a:t> وقتی از ماسفت به عنوان تقویت کننده استفاده می شود آن را به اشباع می برند. چون نسبت به ناحیه خطی، </a:t>
            </a:r>
            <a:r>
              <a:rPr lang="en-US" baseline="0" dirty="0"/>
              <a:t>gm</a:t>
            </a:r>
            <a:r>
              <a:rPr lang="fa-IR" baseline="0" dirty="0"/>
              <a:t> بزرگتری به دست می دهد.</a:t>
            </a:r>
            <a:endParaRPr lang="en-US" dirty="0"/>
          </a:p>
        </p:txBody>
      </p:sp>
      <p:sp>
        <p:nvSpPr>
          <p:cNvPr id="4" name="Slide Number Placeholder 3"/>
          <p:cNvSpPr>
            <a:spLocks noGrp="1"/>
          </p:cNvSpPr>
          <p:nvPr>
            <p:ph type="sldNum" sz="quarter" idx="10"/>
          </p:nvPr>
        </p:nvSpPr>
        <p:spPr/>
        <p:txBody>
          <a:bodyPr/>
          <a:lstStyle/>
          <a:p>
            <a:pPr>
              <a:defRPr/>
            </a:pPr>
            <a:fld id="{E57F2F09-0DD5-414D-B87C-1130674AA092}" type="slidenum">
              <a:rPr lang="en-US" smtClean="0"/>
              <a:pPr>
                <a:defRPr/>
              </a:pPr>
              <a:t>33</a:t>
            </a:fld>
            <a:endParaRPr lang="en-US"/>
          </a:p>
        </p:txBody>
      </p:sp>
    </p:spTree>
    <p:extLst>
      <p:ext uri="{BB962C8B-B14F-4D97-AF65-F5344CB8AC3E}">
        <p14:creationId xmlns:p14="http://schemas.microsoft.com/office/powerpoint/2010/main" val="20398455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10"/>
          </p:nvPr>
        </p:nvSpPr>
        <p:spPr/>
        <p:txBody>
          <a:bodyPr/>
          <a:lstStyle/>
          <a:p>
            <a:pPr>
              <a:defRPr/>
            </a:pPr>
            <a:fld id="{E57F2F09-0DD5-414D-B87C-1130674AA092}" type="slidenum">
              <a:rPr lang="en-US" smtClean="0"/>
              <a:pPr>
                <a:defRPr/>
              </a:pPr>
              <a:t>36</a:t>
            </a:fld>
            <a:endParaRPr lang="en-US"/>
          </a:p>
        </p:txBody>
      </p:sp>
    </p:spTree>
    <p:extLst>
      <p:ext uri="{BB962C8B-B14F-4D97-AF65-F5344CB8AC3E}">
        <p14:creationId xmlns:p14="http://schemas.microsoft.com/office/powerpoint/2010/main" val="16137987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10"/>
          </p:nvPr>
        </p:nvSpPr>
        <p:spPr/>
        <p:txBody>
          <a:bodyPr/>
          <a:lstStyle/>
          <a:p>
            <a:pPr>
              <a:defRPr/>
            </a:pPr>
            <a:fld id="{E57F2F09-0DD5-414D-B87C-1130674AA092}" type="slidenum">
              <a:rPr lang="en-US" smtClean="0"/>
              <a:pPr>
                <a:defRPr/>
              </a:pPr>
              <a:t>37</a:t>
            </a:fld>
            <a:endParaRPr lang="en-US"/>
          </a:p>
        </p:txBody>
      </p:sp>
    </p:spTree>
    <p:extLst>
      <p:ext uri="{BB962C8B-B14F-4D97-AF65-F5344CB8AC3E}">
        <p14:creationId xmlns:p14="http://schemas.microsoft.com/office/powerpoint/2010/main" val="24134298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a:t>چون </a:t>
            </a:r>
            <a:r>
              <a:rPr lang="en-US" dirty="0"/>
              <a:t>VDS=VGS</a:t>
            </a:r>
            <a:r>
              <a:rPr lang="fa-IR" dirty="0"/>
              <a:t> معلوم بود که در اشباع است.</a:t>
            </a:r>
            <a:endParaRPr lang="en-US" dirty="0"/>
          </a:p>
        </p:txBody>
      </p:sp>
      <p:sp>
        <p:nvSpPr>
          <p:cNvPr id="4" name="Slide Number Placeholder 3"/>
          <p:cNvSpPr>
            <a:spLocks noGrp="1"/>
          </p:cNvSpPr>
          <p:nvPr>
            <p:ph type="sldNum" sz="quarter" idx="10"/>
          </p:nvPr>
        </p:nvSpPr>
        <p:spPr/>
        <p:txBody>
          <a:bodyPr/>
          <a:lstStyle/>
          <a:p>
            <a:pPr>
              <a:defRPr/>
            </a:pPr>
            <a:fld id="{E57F2F09-0DD5-414D-B87C-1130674AA092}" type="slidenum">
              <a:rPr lang="en-US" smtClean="0"/>
              <a:pPr>
                <a:defRPr/>
              </a:pPr>
              <a:t>38</a:t>
            </a:fld>
            <a:endParaRPr lang="en-US"/>
          </a:p>
        </p:txBody>
      </p:sp>
    </p:spTree>
    <p:extLst>
      <p:ext uri="{BB962C8B-B14F-4D97-AF65-F5344CB8AC3E}">
        <p14:creationId xmlns:p14="http://schemas.microsoft.com/office/powerpoint/2010/main" val="11518511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10"/>
          </p:nvPr>
        </p:nvSpPr>
        <p:spPr/>
        <p:txBody>
          <a:bodyPr/>
          <a:lstStyle/>
          <a:p>
            <a:pPr>
              <a:defRPr/>
            </a:pPr>
            <a:fld id="{E57F2F09-0DD5-414D-B87C-1130674AA092}" type="slidenum">
              <a:rPr lang="en-US" smtClean="0"/>
              <a:pPr>
                <a:defRPr/>
              </a:pPr>
              <a:t>39</a:t>
            </a:fld>
            <a:endParaRPr lang="en-US"/>
          </a:p>
        </p:txBody>
      </p:sp>
    </p:spTree>
    <p:extLst>
      <p:ext uri="{BB962C8B-B14F-4D97-AF65-F5344CB8AC3E}">
        <p14:creationId xmlns:p14="http://schemas.microsoft.com/office/powerpoint/2010/main" val="7049806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a:t>معمولا</a:t>
            </a:r>
            <a:r>
              <a:rPr lang="fa-IR" baseline="0" dirty="0"/>
              <a:t> وقتی از ماسفت به عنوان سوییچ در مدارهای دیجیتال استفاده می شود، در حالت خاموش درناحیه قطع است و در حالت روشن، در ناحیه خطی است.</a:t>
            </a:r>
            <a:endParaRPr lang="en-US" dirty="0"/>
          </a:p>
        </p:txBody>
      </p:sp>
      <p:sp>
        <p:nvSpPr>
          <p:cNvPr id="4" name="Slide Number Placeholder 3"/>
          <p:cNvSpPr>
            <a:spLocks noGrp="1"/>
          </p:cNvSpPr>
          <p:nvPr>
            <p:ph type="sldNum" sz="quarter" idx="10"/>
          </p:nvPr>
        </p:nvSpPr>
        <p:spPr/>
        <p:txBody>
          <a:bodyPr/>
          <a:lstStyle/>
          <a:p>
            <a:pPr>
              <a:defRPr/>
            </a:pPr>
            <a:fld id="{E57F2F09-0DD5-414D-B87C-1130674AA092}" type="slidenum">
              <a:rPr lang="en-US" smtClean="0"/>
              <a:pPr>
                <a:defRPr/>
              </a:pPr>
              <a:t>41</a:t>
            </a:fld>
            <a:endParaRPr lang="en-US"/>
          </a:p>
        </p:txBody>
      </p:sp>
    </p:spTree>
    <p:extLst>
      <p:ext uri="{BB962C8B-B14F-4D97-AF65-F5344CB8AC3E}">
        <p14:creationId xmlns:p14="http://schemas.microsoft.com/office/powerpoint/2010/main" val="20965754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a:t>معمولا</a:t>
            </a:r>
            <a:r>
              <a:rPr lang="fa-IR" baseline="0" dirty="0"/>
              <a:t> تقویت کننده طوری طراحی می شود که مقاومت ورودی بزرگی داشته باشد تا ماکزیمم ولتاژ  از منبع </a:t>
            </a:r>
            <a:r>
              <a:rPr lang="en-US" baseline="0" dirty="0"/>
              <a:t>Vs</a:t>
            </a:r>
            <a:r>
              <a:rPr lang="fa-IR" baseline="0" dirty="0"/>
              <a:t> به ورودی تقویت کننده </a:t>
            </a:r>
            <a:r>
              <a:rPr lang="en-US" baseline="0" dirty="0"/>
              <a:t>Vi</a:t>
            </a:r>
            <a:r>
              <a:rPr lang="fa-IR" baseline="0" dirty="0"/>
              <a:t> اعمال شود. به ازای مقادیر خیلی بزرگ </a:t>
            </a:r>
            <a:r>
              <a:rPr lang="en-US" baseline="0" dirty="0" err="1"/>
              <a:t>Ri</a:t>
            </a:r>
            <a:r>
              <a:rPr lang="fa-IR" baseline="0" dirty="0"/>
              <a:t> داریم:</a:t>
            </a:r>
          </a:p>
          <a:p>
            <a:pPr algn="r" rtl="1"/>
            <a:r>
              <a:rPr lang="en-US" baseline="0" dirty="0"/>
              <a:t>Vi=Vs*</a:t>
            </a:r>
            <a:r>
              <a:rPr lang="en-US" baseline="0" dirty="0" err="1"/>
              <a:t>Ri</a:t>
            </a:r>
            <a:r>
              <a:rPr lang="en-US" baseline="0" dirty="0"/>
              <a:t>/(</a:t>
            </a:r>
            <a:r>
              <a:rPr lang="en-US" baseline="0" dirty="0" err="1"/>
              <a:t>Ri+Rs</a:t>
            </a:r>
            <a:r>
              <a:rPr lang="en-US" baseline="0" dirty="0"/>
              <a:t>)≈Vs</a:t>
            </a:r>
            <a:r>
              <a:rPr lang="fa-IR" baseline="0" dirty="0"/>
              <a:t> یعنی به ازای مقادیر مختلف </a:t>
            </a:r>
            <a:r>
              <a:rPr lang="en-US" baseline="0" dirty="0" err="1"/>
              <a:t>Rs</a:t>
            </a:r>
            <a:r>
              <a:rPr lang="fa-IR" baseline="0" dirty="0"/>
              <a:t> همچنان </a:t>
            </a:r>
            <a:r>
              <a:rPr lang="en-US" baseline="0" dirty="0"/>
              <a:t>Vi</a:t>
            </a:r>
            <a:r>
              <a:rPr lang="fa-IR" baseline="0" dirty="0"/>
              <a:t> تقریبا برابر </a:t>
            </a:r>
            <a:r>
              <a:rPr lang="en-US" baseline="0" dirty="0"/>
              <a:t>Vs</a:t>
            </a:r>
            <a:r>
              <a:rPr lang="fa-IR" baseline="0" dirty="0"/>
              <a:t> خواهد بود.</a:t>
            </a:r>
          </a:p>
          <a:p>
            <a:pPr algn="r" rtl="1"/>
            <a:r>
              <a:rPr lang="fa-IR" baseline="0" dirty="0"/>
              <a:t>همچنین مقاومت خروجی نیز کوچک طراحی می شود تا به ازای مقادیر مختلف مقاومت بار </a:t>
            </a:r>
            <a:r>
              <a:rPr lang="en-US" baseline="0" dirty="0"/>
              <a:t> RL</a:t>
            </a:r>
            <a:r>
              <a:rPr lang="fa-IR" baseline="0" dirty="0"/>
              <a:t>؛ تغییر چندانی در بهره تقویت کننده نداشته باشیم. به ازای مقادیر خیلی کوچک </a:t>
            </a:r>
            <a:r>
              <a:rPr lang="en-US" baseline="0" dirty="0"/>
              <a:t>Ro</a:t>
            </a:r>
            <a:r>
              <a:rPr lang="fa-IR" baseline="0" dirty="0"/>
              <a:t> داریم:</a:t>
            </a:r>
            <a:endParaRPr lang="en-US" baseline="0" dirty="0"/>
          </a:p>
          <a:p>
            <a:pPr algn="r" rtl="1"/>
            <a:r>
              <a:rPr lang="en-US" baseline="0" dirty="0"/>
              <a:t>Vo=A*Vi*RL/(</a:t>
            </a:r>
            <a:r>
              <a:rPr lang="en-US" baseline="0" dirty="0" err="1"/>
              <a:t>RL+Ro</a:t>
            </a:r>
            <a:r>
              <a:rPr lang="en-US" baseline="0" dirty="0"/>
              <a:t>)≈A*Vi</a:t>
            </a:r>
            <a:r>
              <a:rPr lang="fa-IR" baseline="0" dirty="0"/>
              <a:t> یعنی به ازای مقادیر مختلف </a:t>
            </a:r>
            <a:r>
              <a:rPr lang="en-US" baseline="0" dirty="0"/>
              <a:t>RL</a:t>
            </a:r>
            <a:r>
              <a:rPr lang="fa-IR" baseline="0" dirty="0"/>
              <a:t> بهره همچنان تقریبا </a:t>
            </a:r>
            <a:r>
              <a:rPr lang="en-US" baseline="0" dirty="0"/>
              <a:t>A</a:t>
            </a:r>
            <a:r>
              <a:rPr lang="fa-IR" baseline="0" dirty="0"/>
              <a:t> است.</a:t>
            </a:r>
          </a:p>
        </p:txBody>
      </p:sp>
      <p:sp>
        <p:nvSpPr>
          <p:cNvPr id="4" name="Slide Number Placeholder 3"/>
          <p:cNvSpPr>
            <a:spLocks noGrp="1"/>
          </p:cNvSpPr>
          <p:nvPr>
            <p:ph type="sldNum" sz="quarter" idx="10"/>
          </p:nvPr>
        </p:nvSpPr>
        <p:spPr/>
        <p:txBody>
          <a:bodyPr/>
          <a:lstStyle/>
          <a:p>
            <a:pPr>
              <a:defRPr/>
            </a:pPr>
            <a:fld id="{E57F2F09-0DD5-414D-B87C-1130674AA092}" type="slidenum">
              <a:rPr lang="en-US" smtClean="0"/>
              <a:pPr>
                <a:defRPr/>
              </a:pPr>
              <a:t>46</a:t>
            </a:fld>
            <a:endParaRPr lang="en-US"/>
          </a:p>
        </p:txBody>
      </p:sp>
    </p:spTree>
    <p:extLst>
      <p:ext uri="{BB962C8B-B14F-4D97-AF65-F5344CB8AC3E}">
        <p14:creationId xmlns:p14="http://schemas.microsoft.com/office/powerpoint/2010/main" val="11251903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10"/>
          </p:nvPr>
        </p:nvSpPr>
        <p:spPr/>
        <p:txBody>
          <a:bodyPr/>
          <a:lstStyle/>
          <a:p>
            <a:pPr>
              <a:defRPr/>
            </a:pPr>
            <a:fld id="{E57F2F09-0DD5-414D-B87C-1130674AA092}" type="slidenum">
              <a:rPr lang="en-US" smtClean="0"/>
              <a:pPr>
                <a:defRPr/>
              </a:pPr>
              <a:t>47</a:t>
            </a:fld>
            <a:endParaRPr lang="en-US"/>
          </a:p>
        </p:txBody>
      </p:sp>
    </p:spTree>
    <p:extLst>
      <p:ext uri="{BB962C8B-B14F-4D97-AF65-F5344CB8AC3E}">
        <p14:creationId xmlns:p14="http://schemas.microsoft.com/office/powerpoint/2010/main" val="4378536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57F2F09-0DD5-414D-B87C-1130674AA092}" type="slidenum">
              <a:rPr lang="en-US" smtClean="0"/>
              <a:pPr>
                <a:defRPr/>
              </a:pPr>
              <a:t>48</a:t>
            </a:fld>
            <a:endParaRPr lang="en-US"/>
          </a:p>
        </p:txBody>
      </p:sp>
    </p:spTree>
    <p:extLst>
      <p:ext uri="{BB962C8B-B14F-4D97-AF65-F5344CB8AC3E}">
        <p14:creationId xmlns:p14="http://schemas.microsoft.com/office/powerpoint/2010/main" val="6287828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57F2F09-0DD5-414D-B87C-1130674AA092}" type="slidenum">
              <a:rPr lang="en-US" smtClean="0"/>
              <a:pPr>
                <a:defRPr/>
              </a:pPr>
              <a:t>49</a:t>
            </a:fld>
            <a:endParaRPr lang="en-US"/>
          </a:p>
        </p:txBody>
      </p:sp>
    </p:spTree>
    <p:extLst>
      <p:ext uri="{BB962C8B-B14F-4D97-AF65-F5344CB8AC3E}">
        <p14:creationId xmlns:p14="http://schemas.microsoft.com/office/powerpoint/2010/main" val="28669967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4" name="Rectangle 3"/>
          <p:cNvSpPr/>
          <p:nvPr/>
        </p:nvSpPr>
        <p:spPr bwMode="white">
          <a:xfrm>
            <a:off x="0" y="5970588"/>
            <a:ext cx="9144000" cy="887412"/>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p:cNvSpPr/>
          <p:nvPr/>
        </p:nvSpPr>
        <p:spPr>
          <a:xfrm>
            <a:off x="-9525" y="6053138"/>
            <a:ext cx="2249488" cy="712787"/>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2359025" y="6043613"/>
            <a:ext cx="6784975" cy="714375"/>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lang="en-US" dirty="0"/>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7" name="Date Placeholder 27"/>
          <p:cNvSpPr>
            <a:spLocks noGrp="1"/>
          </p:cNvSpPr>
          <p:nvPr>
            <p:ph type="dt" sz="half" idx="10"/>
          </p:nvPr>
        </p:nvSpPr>
        <p:spPr>
          <a:xfrm>
            <a:off x="76200" y="6069013"/>
            <a:ext cx="2057400" cy="685800"/>
          </a:xfrm>
        </p:spPr>
        <p:txBody>
          <a:bodyPr>
            <a:noAutofit/>
          </a:bodyPr>
          <a:lstStyle>
            <a:lvl1pPr algn="ctr">
              <a:defRPr sz="2000" smtClean="0">
                <a:solidFill>
                  <a:srgbClr val="FFFFFF"/>
                </a:solidFill>
              </a:defRPr>
            </a:lvl1pPr>
          </a:lstStyle>
          <a:p>
            <a:pPr>
              <a:defRPr/>
            </a:pPr>
            <a:r>
              <a:rPr lang="fa-IR" altLang="en-US"/>
              <a:t>مدارهای الکتریکی و الکترونیکی</a:t>
            </a:r>
            <a:endParaRPr lang="en-US" altLang="en-US"/>
          </a:p>
        </p:txBody>
      </p:sp>
      <p:sp>
        <p:nvSpPr>
          <p:cNvPr id="10" name="Footer Placeholder 16"/>
          <p:cNvSpPr>
            <a:spLocks noGrp="1"/>
          </p:cNvSpPr>
          <p:nvPr>
            <p:ph type="ftr" sz="quarter" idx="11"/>
          </p:nvPr>
        </p:nvSpPr>
        <p:spPr>
          <a:xfrm>
            <a:off x="2085975" y="236538"/>
            <a:ext cx="5867400" cy="365125"/>
          </a:xfrm>
        </p:spPr>
        <p:txBody>
          <a:bodyPr/>
          <a:lstStyle>
            <a:lvl1pPr algn="r">
              <a:defRPr>
                <a:solidFill>
                  <a:schemeClr val="tx2"/>
                </a:solidFill>
              </a:defRPr>
            </a:lvl1pPr>
          </a:lstStyle>
          <a:p>
            <a:pPr>
              <a:defRPr/>
            </a:pPr>
            <a:r>
              <a:rPr lang="fa-IR" altLang="en-US"/>
              <a:t>11. ترانزیستور</a:t>
            </a:r>
            <a:endParaRPr lang="en-US" altLang="en-US" dirty="0"/>
          </a:p>
        </p:txBody>
      </p:sp>
      <p:sp>
        <p:nvSpPr>
          <p:cNvPr id="11"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pPr>
              <a:defRPr/>
            </a:pPr>
            <a:fld id="{CB916743-4E7F-4AC8-ACD9-649C7E5C28A1}" type="slidenum">
              <a:rPr lang="en-US" altLang="en-US"/>
              <a:pPr>
                <a:defRPr/>
              </a:pPr>
              <a:t>‹#›</a:t>
            </a:fld>
            <a:endParaRPr lang="en-US" altLang="en-US"/>
          </a:p>
        </p:txBody>
      </p:sp>
    </p:spTree>
    <p:extLst>
      <p:ext uri="{BB962C8B-B14F-4D97-AF65-F5344CB8AC3E}">
        <p14:creationId xmlns:p14="http://schemas.microsoft.com/office/powerpoint/2010/main" val="1333309618"/>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685800"/>
          </a:xfrm>
        </p:spPr>
        <p:txBody>
          <a:bodyPr/>
          <a:lstStyle>
            <a:lvl1pPr algn="r" rtl="1">
              <a:defRPr>
                <a:cs typeface="B Nazanin" panose="00000400000000000000" pitchFamily="2" charset="-78"/>
              </a:defRPr>
            </a:lvl1pPr>
          </a:lstStyle>
          <a:p>
            <a:r>
              <a:rPr lang="en-US" dirty="0"/>
              <a:t>Click to edit Master title style</a:t>
            </a:r>
          </a:p>
        </p:txBody>
      </p:sp>
      <p:sp>
        <p:nvSpPr>
          <p:cNvPr id="8" name="Content Placeholder 7"/>
          <p:cNvSpPr>
            <a:spLocks noGrp="1"/>
          </p:cNvSpPr>
          <p:nvPr>
            <p:ph sz="quarter" idx="1"/>
          </p:nvPr>
        </p:nvSpPr>
        <p:spPr>
          <a:xfrm>
            <a:off x="612648" y="1219200"/>
            <a:ext cx="8153400" cy="4876800"/>
          </a:xfrm>
        </p:spPr>
        <p:txBody>
          <a:bodyPr/>
          <a:lstStyle>
            <a:lvl1pPr algn="r" rtl="1">
              <a:defRPr>
                <a:cs typeface="B Nazanin" panose="00000400000000000000" pitchFamily="2" charset="-78"/>
              </a:defRPr>
            </a:lvl1pPr>
            <a:lvl2pPr algn="r" rtl="1">
              <a:defRPr>
                <a:cs typeface="B Nazanin" panose="00000400000000000000" pitchFamily="2" charset="-78"/>
              </a:defRPr>
            </a:lvl2pPr>
            <a:lvl3pPr algn="r" rtl="1">
              <a:defRPr>
                <a:cs typeface="B Nazanin" panose="00000400000000000000" pitchFamily="2" charset="-78"/>
              </a:defRPr>
            </a:lvl3pPr>
            <a:lvl4pPr algn="r" rtl="1">
              <a:defRPr>
                <a:cs typeface="B Nazanin" panose="00000400000000000000" pitchFamily="2" charset="-78"/>
              </a:defRPr>
            </a:lvl4pPr>
            <a:lvl5pPr algn="r" rtl="1">
              <a:defRPr>
                <a:cs typeface="B Nazanin" panose="00000400000000000000" pitchFamily="2" charset="-78"/>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smtClean="0">
                <a:cs typeface="B Nazanin" panose="00000400000000000000" pitchFamily="2" charset="-78"/>
              </a:defRPr>
            </a:lvl1p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a:xfrm>
            <a:off x="1195388" y="6248400"/>
            <a:ext cx="4811712" cy="381000"/>
          </a:xfrm>
        </p:spPr>
        <p:txBody>
          <a:bodyPr/>
          <a:lstStyle>
            <a:lvl1pPr rtl="1">
              <a:defRPr>
                <a:cs typeface="B Nazanin" panose="00000400000000000000" pitchFamily="2" charset="-78"/>
              </a:defRPr>
            </a:lvl1pPr>
          </a:lstStyle>
          <a:p>
            <a:pPr>
              <a:defRPr/>
            </a:pPr>
            <a:r>
              <a:rPr lang="fa-IR" altLang="en-US"/>
              <a:t>11. ترانزیستور</a:t>
            </a:r>
            <a:endParaRPr lang="en-US" altLang="en-US" dirty="0"/>
          </a:p>
        </p:txBody>
      </p:sp>
      <p:sp>
        <p:nvSpPr>
          <p:cNvPr id="6" name="Slide Number Placeholder 5"/>
          <p:cNvSpPr>
            <a:spLocks noGrp="1"/>
          </p:cNvSpPr>
          <p:nvPr>
            <p:ph type="sldNum" sz="quarter" idx="12"/>
          </p:nvPr>
        </p:nvSpPr>
        <p:spPr/>
        <p:txBody>
          <a:bodyPr/>
          <a:lstStyle>
            <a:lvl1pPr>
              <a:defRPr>
                <a:solidFill>
                  <a:srgbClr val="FFFFFF"/>
                </a:solidFill>
                <a:cs typeface="B Nazanin" panose="00000400000000000000" pitchFamily="2" charset="-78"/>
              </a:defRPr>
            </a:lvl1pPr>
          </a:lstStyle>
          <a:p>
            <a:pPr rtl="1">
              <a:defRPr/>
            </a:pPr>
            <a:fld id="{B5CFC3F8-B58D-40FA-AF21-F23E618E0688}" type="slidenum">
              <a:rPr lang="en-US" altLang="en-US" smtClean="0"/>
              <a:pPr rtl="1">
                <a:defRPr/>
              </a:pPr>
              <a:t>‹#›</a:t>
            </a:fld>
            <a:endParaRPr lang="en-US" altLang="en-US" dirty="0"/>
          </a:p>
        </p:txBody>
      </p:sp>
    </p:spTree>
    <p:extLst>
      <p:ext uri="{BB962C8B-B14F-4D97-AF65-F5344CB8AC3E}">
        <p14:creationId xmlns:p14="http://schemas.microsoft.com/office/powerpoint/2010/main" val="7812429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 name="Text Placeholder 2"/>
          <p:cNvSpPr>
            <a:spLocks noGrp="1"/>
          </p:cNvSpPr>
          <p:nvPr>
            <p:ph type="body" idx="1"/>
          </p:nvPr>
        </p:nvSpPr>
        <p:spPr>
          <a:xfrm>
            <a:off x="1371600" y="2743200"/>
            <a:ext cx="7123113" cy="1673225"/>
          </a:xfrm>
        </p:spPr>
        <p:txBody>
          <a:bodyPr/>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lang="en-US"/>
              <a:t>Click to edit Master title style</a:t>
            </a:r>
          </a:p>
        </p:txBody>
      </p:sp>
      <p:sp>
        <p:nvSpPr>
          <p:cNvPr id="7" name="Date Placeholder 11"/>
          <p:cNvSpPr>
            <a:spLocks noGrp="1"/>
          </p:cNvSpPr>
          <p:nvPr>
            <p:ph type="dt" sz="half" idx="10"/>
          </p:nvPr>
        </p:nvSpPr>
        <p:spPr/>
        <p:txBody>
          <a:bodyPr/>
          <a:lstStyle>
            <a:lvl1pPr>
              <a:defRPr smtClean="0"/>
            </a:lvl1pPr>
          </a:lstStyle>
          <a:p>
            <a:pPr>
              <a:defRPr/>
            </a:pPr>
            <a:r>
              <a:rPr lang="fa-IR" altLang="en-US"/>
              <a:t>مدارهای الکتریکی و الکترونیکی</a:t>
            </a:r>
            <a:endParaRPr lang="en-US" altLang="en-US"/>
          </a:p>
        </p:txBody>
      </p:sp>
      <p:sp>
        <p:nvSpPr>
          <p:cNvPr id="8" name="Slide Number Placeholder 12"/>
          <p:cNvSpPr>
            <a:spLocks noGrp="1"/>
          </p:cNvSpPr>
          <p:nvPr>
            <p:ph type="sldNum" sz="quarter" idx="11"/>
          </p:nvPr>
        </p:nvSpPr>
        <p:spPr>
          <a:xfrm>
            <a:off x="0" y="1752600"/>
            <a:ext cx="1295400" cy="701675"/>
          </a:xfrm>
        </p:spPr>
        <p:txBody>
          <a:bodyPr>
            <a:noAutofit/>
          </a:bodyPr>
          <a:lstStyle>
            <a:lvl1pPr>
              <a:defRPr sz="2400">
                <a:solidFill>
                  <a:srgbClr val="FFFFFF"/>
                </a:solidFill>
              </a:defRPr>
            </a:lvl1pPr>
          </a:lstStyle>
          <a:p>
            <a:pPr>
              <a:defRPr/>
            </a:pPr>
            <a:fld id="{FE4673F0-768F-450F-9B32-682176E185B7}" type="slidenum">
              <a:rPr lang="en-US" altLang="en-US"/>
              <a:pPr>
                <a:defRPr/>
              </a:pPr>
              <a:t>‹#›</a:t>
            </a:fld>
            <a:endParaRPr lang="en-US" altLang="en-US"/>
          </a:p>
        </p:txBody>
      </p:sp>
      <p:sp>
        <p:nvSpPr>
          <p:cNvPr id="9" name="Footer Placeholder 13"/>
          <p:cNvSpPr>
            <a:spLocks noGrp="1"/>
          </p:cNvSpPr>
          <p:nvPr>
            <p:ph type="ftr" sz="quarter" idx="12"/>
          </p:nvPr>
        </p:nvSpPr>
        <p:spPr/>
        <p:txBody>
          <a:bodyPr/>
          <a:lstStyle>
            <a:lvl1pPr>
              <a:defRPr/>
            </a:lvl1pPr>
          </a:lstStyle>
          <a:p>
            <a:pPr>
              <a:defRPr/>
            </a:pPr>
            <a:r>
              <a:rPr lang="fa-IR" altLang="en-US"/>
              <a:t>11. ترانزیستور</a:t>
            </a:r>
            <a:endParaRPr lang="en-US" altLang="en-US"/>
          </a:p>
        </p:txBody>
      </p:sp>
    </p:spTree>
    <p:extLst>
      <p:ext uri="{BB962C8B-B14F-4D97-AF65-F5344CB8AC3E}">
        <p14:creationId xmlns:p14="http://schemas.microsoft.com/office/powerpoint/2010/main" val="1728493291"/>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844901" y="1589567"/>
            <a:ext cx="3886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7"/>
          <p:cNvSpPr>
            <a:spLocks noGrp="1"/>
          </p:cNvSpPr>
          <p:nvPr>
            <p:ph type="dt" sz="half" idx="10"/>
          </p:nvPr>
        </p:nvSpPr>
        <p:spPr/>
        <p:txBody>
          <a:bodyPr rtlCol="0"/>
          <a:lstStyle>
            <a:lvl1pPr>
              <a:defRPr smtClean="0"/>
            </a:lvl1pPr>
          </a:lstStyle>
          <a:p>
            <a:pPr>
              <a:defRPr/>
            </a:pPr>
            <a:r>
              <a:rPr lang="fa-IR" altLang="en-US"/>
              <a:t>مدارهای الکتریکی و الکترونیکی</a:t>
            </a:r>
            <a:endParaRPr lang="en-US" altLang="en-US"/>
          </a:p>
        </p:txBody>
      </p:sp>
      <p:sp>
        <p:nvSpPr>
          <p:cNvPr id="6" name="Slide Number Placeholder 9"/>
          <p:cNvSpPr>
            <a:spLocks noGrp="1"/>
          </p:cNvSpPr>
          <p:nvPr>
            <p:ph type="sldNum" sz="quarter" idx="11"/>
          </p:nvPr>
        </p:nvSpPr>
        <p:spPr/>
        <p:txBody>
          <a:bodyPr rtlCol="0"/>
          <a:lstStyle>
            <a:lvl1pPr>
              <a:defRPr/>
            </a:lvl1pPr>
          </a:lstStyle>
          <a:p>
            <a:pPr>
              <a:defRPr/>
            </a:pPr>
            <a:fld id="{78F2C19F-4ECA-40CC-B095-5582625F1365}" type="slidenum">
              <a:rPr lang="en-US" altLang="en-US"/>
              <a:pPr>
                <a:defRPr/>
              </a:pPr>
              <a:t>‹#›</a:t>
            </a:fld>
            <a:endParaRPr lang="en-US" altLang="en-US"/>
          </a:p>
        </p:txBody>
      </p:sp>
      <p:sp>
        <p:nvSpPr>
          <p:cNvPr id="7" name="Footer Placeholder 11"/>
          <p:cNvSpPr>
            <a:spLocks noGrp="1"/>
          </p:cNvSpPr>
          <p:nvPr>
            <p:ph type="ftr" sz="quarter" idx="12"/>
          </p:nvPr>
        </p:nvSpPr>
        <p:spPr/>
        <p:txBody>
          <a:bodyPr rtlCol="0"/>
          <a:lstStyle>
            <a:lvl1pPr>
              <a:defRPr/>
            </a:lvl1pPr>
          </a:lstStyle>
          <a:p>
            <a:pPr>
              <a:defRPr/>
            </a:pPr>
            <a:r>
              <a:rPr lang="fa-IR" altLang="en-US"/>
              <a:t>11. ترانزیستور</a:t>
            </a:r>
            <a:endParaRPr lang="en-US" altLang="en-US"/>
          </a:p>
        </p:txBody>
      </p:sp>
    </p:spTree>
    <p:extLst>
      <p:ext uri="{BB962C8B-B14F-4D97-AF65-F5344CB8AC3E}">
        <p14:creationId xmlns:p14="http://schemas.microsoft.com/office/powerpoint/2010/main" val="18738123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lstStyle>
            <a:lvl1pPr>
              <a:defRPr/>
            </a:lvl1pPr>
          </a:lstStyle>
          <a:p>
            <a:r>
              <a:rPr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800600" y="2438400"/>
            <a:ext cx="3886200" cy="358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a:r>
              <a:rPr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a:r>
              <a:rPr lang="en-US"/>
              <a:t>Click to edit Master text styles</a:t>
            </a:r>
          </a:p>
        </p:txBody>
      </p:sp>
      <p:sp>
        <p:nvSpPr>
          <p:cNvPr id="7" name="Date Placeholder 9"/>
          <p:cNvSpPr>
            <a:spLocks noGrp="1"/>
          </p:cNvSpPr>
          <p:nvPr>
            <p:ph type="dt" sz="half" idx="10"/>
          </p:nvPr>
        </p:nvSpPr>
        <p:spPr/>
        <p:txBody>
          <a:bodyPr rtlCol="0"/>
          <a:lstStyle>
            <a:lvl1pPr>
              <a:defRPr smtClean="0"/>
            </a:lvl1pPr>
          </a:lstStyle>
          <a:p>
            <a:pPr>
              <a:defRPr/>
            </a:pPr>
            <a:r>
              <a:rPr lang="fa-IR" altLang="en-US"/>
              <a:t>مدارهای الکتریکی و الکترونیکی</a:t>
            </a:r>
            <a:endParaRPr lang="en-US" altLang="en-US"/>
          </a:p>
        </p:txBody>
      </p:sp>
      <p:sp>
        <p:nvSpPr>
          <p:cNvPr id="8" name="Slide Number Placeholder 11"/>
          <p:cNvSpPr>
            <a:spLocks noGrp="1"/>
          </p:cNvSpPr>
          <p:nvPr>
            <p:ph type="sldNum" sz="quarter" idx="11"/>
          </p:nvPr>
        </p:nvSpPr>
        <p:spPr/>
        <p:txBody>
          <a:bodyPr rtlCol="0"/>
          <a:lstStyle>
            <a:lvl1pPr>
              <a:defRPr/>
            </a:lvl1pPr>
          </a:lstStyle>
          <a:p>
            <a:pPr>
              <a:defRPr/>
            </a:pPr>
            <a:fld id="{AE454D86-5E69-4F38-AA18-41DB87525847}" type="slidenum">
              <a:rPr lang="en-US" altLang="en-US"/>
              <a:pPr>
                <a:defRPr/>
              </a:pPr>
              <a:t>‹#›</a:t>
            </a:fld>
            <a:endParaRPr lang="en-US" altLang="en-US"/>
          </a:p>
        </p:txBody>
      </p:sp>
      <p:sp>
        <p:nvSpPr>
          <p:cNvPr id="9" name="Footer Placeholder 13"/>
          <p:cNvSpPr>
            <a:spLocks noGrp="1"/>
          </p:cNvSpPr>
          <p:nvPr>
            <p:ph type="ftr" sz="quarter" idx="12"/>
          </p:nvPr>
        </p:nvSpPr>
        <p:spPr/>
        <p:txBody>
          <a:bodyPr rtlCol="0"/>
          <a:lstStyle>
            <a:lvl1pPr>
              <a:defRPr/>
            </a:lvl1pPr>
          </a:lstStyle>
          <a:p>
            <a:pPr>
              <a:defRPr/>
            </a:pPr>
            <a:r>
              <a:rPr lang="fa-IR" altLang="en-US"/>
              <a:t>11. ترانزیستور</a:t>
            </a:r>
            <a:endParaRPr lang="en-US" altLang="en-US"/>
          </a:p>
        </p:txBody>
      </p:sp>
    </p:spTree>
    <p:extLst>
      <p:ext uri="{BB962C8B-B14F-4D97-AF65-F5344CB8AC3E}">
        <p14:creationId xmlns:p14="http://schemas.microsoft.com/office/powerpoint/2010/main" val="22686803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p:cNvSpPr>
            <a:spLocks noGrp="1"/>
          </p:cNvSpPr>
          <p:nvPr>
            <p:ph type="dt" sz="half" idx="10"/>
          </p:nvPr>
        </p:nvSpPr>
        <p:spPr/>
        <p:txBody>
          <a:bodyPr/>
          <a:lstStyle>
            <a:lvl1pPr>
              <a:defRPr/>
            </a:lvl1pPr>
          </a:lstStyle>
          <a:p>
            <a:pPr>
              <a:defRPr/>
            </a:pPr>
            <a:r>
              <a:rPr lang="fa-IR" altLang="en-US"/>
              <a:t>مدارهای الکتریکی و الکترونیکی</a:t>
            </a:r>
            <a:endParaRPr lang="en-US" altLang="en-US" dirty="0"/>
          </a:p>
        </p:txBody>
      </p:sp>
      <p:sp>
        <p:nvSpPr>
          <p:cNvPr id="4" name="Footer Placeholder 2"/>
          <p:cNvSpPr>
            <a:spLocks noGrp="1"/>
          </p:cNvSpPr>
          <p:nvPr>
            <p:ph type="ftr" sz="quarter" idx="11"/>
          </p:nvPr>
        </p:nvSpPr>
        <p:spPr/>
        <p:txBody>
          <a:bodyPr/>
          <a:lstStyle>
            <a:lvl1pPr>
              <a:defRPr/>
            </a:lvl1pPr>
          </a:lstStyle>
          <a:p>
            <a:pPr>
              <a:defRPr/>
            </a:pPr>
            <a:r>
              <a:rPr lang="fa-IR" altLang="en-US"/>
              <a:t>11. ترانزیستور</a:t>
            </a:r>
            <a:endParaRPr lang="en-US" altLang="en-US" dirty="0"/>
          </a:p>
        </p:txBody>
      </p:sp>
      <p:sp>
        <p:nvSpPr>
          <p:cNvPr id="5" name="Slide Number Placeholder 22"/>
          <p:cNvSpPr>
            <a:spLocks noGrp="1"/>
          </p:cNvSpPr>
          <p:nvPr>
            <p:ph type="sldNum" sz="quarter" idx="12"/>
          </p:nvPr>
        </p:nvSpPr>
        <p:spPr/>
        <p:txBody>
          <a:bodyPr/>
          <a:lstStyle>
            <a:lvl1pPr>
              <a:defRPr/>
            </a:lvl1pPr>
          </a:lstStyle>
          <a:p>
            <a:pPr>
              <a:defRPr/>
            </a:pPr>
            <a:fld id="{A6CCBF18-E55F-40C4-AA9C-CCFBF6518CB2}" type="slidenum">
              <a:rPr lang="en-US" altLang="en-US"/>
              <a:pPr>
                <a:defRPr/>
              </a:pPr>
              <a:t>‹#›</a:t>
            </a:fld>
            <a:endParaRPr lang="en-US" altLang="en-US" dirty="0"/>
          </a:p>
        </p:txBody>
      </p:sp>
    </p:spTree>
    <p:extLst>
      <p:ext uri="{BB962C8B-B14F-4D97-AF65-F5344CB8AC3E}">
        <p14:creationId xmlns:p14="http://schemas.microsoft.com/office/powerpoint/2010/main" val="30278676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smtClean="0"/>
            </a:lvl1pPr>
          </a:lstStyle>
          <a:p>
            <a:pPr>
              <a:defRPr/>
            </a:pPr>
            <a:r>
              <a:rPr lang="fa-IR" altLang="en-US"/>
              <a:t>مدارهای الکتریکی و الکترونیکی</a:t>
            </a:r>
            <a:endParaRPr lang="en-US" altLang="en-US"/>
          </a:p>
        </p:txBody>
      </p:sp>
      <p:sp>
        <p:nvSpPr>
          <p:cNvPr id="3" name="Footer Placeholder 2"/>
          <p:cNvSpPr>
            <a:spLocks noGrp="1"/>
          </p:cNvSpPr>
          <p:nvPr>
            <p:ph type="ftr" sz="quarter" idx="11"/>
          </p:nvPr>
        </p:nvSpPr>
        <p:spPr/>
        <p:txBody>
          <a:bodyPr/>
          <a:lstStyle>
            <a:lvl1pPr>
              <a:defRPr/>
            </a:lvl1pPr>
          </a:lstStyle>
          <a:p>
            <a:pPr>
              <a:defRPr/>
            </a:pPr>
            <a:r>
              <a:rPr lang="fa-IR" altLang="en-US"/>
              <a:t>11. ترانزیستور</a:t>
            </a:r>
            <a:endParaRPr lang="en-US" alt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pPr>
              <a:defRPr/>
            </a:pPr>
            <a:fld id="{EA097438-A5DA-4F47-94D7-4634482D7267}" type="slidenum">
              <a:rPr lang="en-US" altLang="en-US"/>
              <a:pPr>
                <a:defRPr/>
              </a:pPr>
              <a:t>‹#›</a:t>
            </a:fld>
            <a:endParaRPr lang="en-US" altLang="en-US"/>
          </a:p>
        </p:txBody>
      </p:sp>
    </p:spTree>
    <p:extLst>
      <p:ext uri="{BB962C8B-B14F-4D97-AF65-F5344CB8AC3E}">
        <p14:creationId xmlns:p14="http://schemas.microsoft.com/office/powerpoint/2010/main" val="31092252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lstStyle>
            <a:lvl1pPr algn="l">
              <a:buNone/>
              <a:defRPr sz="4400" b="0"/>
            </a:lvl1pPr>
          </a:lstStyle>
          <a:p>
            <a:r>
              <a:rPr lang="en-US"/>
              <a:t>Click to edit Master title style</a:t>
            </a:r>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p:cNvSpPr>
            <a:spLocks noGrp="1"/>
          </p:cNvSpPr>
          <p:nvPr>
            <p:ph type="dt" sz="half" idx="10"/>
          </p:nvPr>
        </p:nvSpPr>
        <p:spPr/>
        <p:txBody>
          <a:bodyPr/>
          <a:lstStyle>
            <a:lvl1pPr>
              <a:defRPr/>
            </a:lvl1pPr>
          </a:lstStyle>
          <a:p>
            <a:pPr>
              <a:defRPr/>
            </a:pPr>
            <a:r>
              <a:rPr lang="fa-IR" altLang="en-US"/>
              <a:t>مدارهای الکتریکی و الکترونیکی</a:t>
            </a:r>
            <a:endParaRPr lang="en-US" altLang="en-US" dirty="0"/>
          </a:p>
        </p:txBody>
      </p:sp>
      <p:sp>
        <p:nvSpPr>
          <p:cNvPr id="6" name="Footer Placeholder 2"/>
          <p:cNvSpPr>
            <a:spLocks noGrp="1"/>
          </p:cNvSpPr>
          <p:nvPr>
            <p:ph type="ftr" sz="quarter" idx="11"/>
          </p:nvPr>
        </p:nvSpPr>
        <p:spPr/>
        <p:txBody>
          <a:bodyPr/>
          <a:lstStyle>
            <a:lvl1pPr>
              <a:defRPr/>
            </a:lvl1pPr>
          </a:lstStyle>
          <a:p>
            <a:pPr>
              <a:defRPr/>
            </a:pPr>
            <a:r>
              <a:rPr lang="fa-IR" altLang="en-US"/>
              <a:t>11. ترانزیستور</a:t>
            </a:r>
            <a:endParaRPr lang="en-US" altLang="en-US" dirty="0"/>
          </a:p>
        </p:txBody>
      </p:sp>
      <p:sp>
        <p:nvSpPr>
          <p:cNvPr id="7" name="Slide Number Placeholder 22"/>
          <p:cNvSpPr>
            <a:spLocks noGrp="1"/>
          </p:cNvSpPr>
          <p:nvPr>
            <p:ph type="sldNum" sz="quarter" idx="12"/>
          </p:nvPr>
        </p:nvSpPr>
        <p:spPr/>
        <p:txBody>
          <a:bodyPr/>
          <a:lstStyle>
            <a:lvl1pPr>
              <a:defRPr/>
            </a:lvl1pPr>
          </a:lstStyle>
          <a:p>
            <a:pPr>
              <a:defRPr/>
            </a:pPr>
            <a:fld id="{55FE5F11-A144-4222-B80E-FD52FBD0E5C8}" type="slidenum">
              <a:rPr lang="en-US" altLang="en-US"/>
              <a:pPr>
                <a:defRPr/>
              </a:pPr>
              <a:t>‹#›</a:t>
            </a:fld>
            <a:endParaRPr lang="en-US" altLang="en-US" dirty="0"/>
          </a:p>
        </p:txBody>
      </p:sp>
    </p:spTree>
    <p:extLst>
      <p:ext uri="{BB962C8B-B14F-4D97-AF65-F5344CB8AC3E}">
        <p14:creationId xmlns:p14="http://schemas.microsoft.com/office/powerpoint/2010/main" val="3564724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5" name="Rectangle 4"/>
          <p:cNvSpPr/>
          <p:nvPr/>
        </p:nvSpPr>
        <p:spPr bwMode="white">
          <a:xfrm>
            <a:off x="-9525" y="4572000"/>
            <a:ext cx="9144000" cy="887413"/>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9525" y="4664075"/>
            <a:ext cx="1463675" cy="712788"/>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tangle 6"/>
          <p:cNvSpPr/>
          <p:nvPr/>
        </p:nvSpPr>
        <p:spPr>
          <a:xfrm>
            <a:off x="1544638" y="4654550"/>
            <a:ext cx="7599362" cy="712788"/>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Rectangle 7"/>
          <p:cNvSpPr/>
          <p:nvPr/>
        </p:nvSpPr>
        <p:spPr bwMode="white">
          <a:xfrm>
            <a:off x="1447800" y="0"/>
            <a:ext cx="100013" cy="6867525"/>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a:r>
              <a:rPr lang="en-US"/>
              <a:t>Click to edit Master text styles</a:t>
            </a:r>
          </a:p>
        </p:txBody>
      </p:sp>
      <p:sp>
        <p:nvSpPr>
          <p:cNvPr id="2" name="Title 1"/>
          <p:cNvSpPr>
            <a:spLocks noGrp="1"/>
          </p:cNvSpPr>
          <p:nvPr>
            <p:ph type="title"/>
          </p:nvPr>
        </p:nvSpPr>
        <p:spPr>
          <a:xfrm>
            <a:off x="1600200" y="4648200"/>
            <a:ext cx="7315200" cy="685800"/>
          </a:xfrm>
        </p:spPr>
        <p:txBody>
          <a:bodyPr/>
          <a:lstStyle>
            <a:lvl1pPr algn="l">
              <a:buNone/>
              <a:defRPr sz="2800" b="0">
                <a:solidFill>
                  <a:srgbClr val="FFFFFF"/>
                </a:solidFill>
              </a:defRPr>
            </a:lvl1pPr>
          </a:lstStyle>
          <a:p>
            <a:r>
              <a:rPr lang="en-US"/>
              <a:t>Click to edit Master title style</a:t>
            </a:r>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normAutofit/>
          </a:bodyPr>
          <a:lstStyle>
            <a:lvl1pPr marL="0" indent="0">
              <a:buNone/>
              <a:defRPr sz="3200"/>
            </a:lvl1pPr>
          </a:lstStyle>
          <a:p>
            <a:pPr lvl="0"/>
            <a:r>
              <a:rPr lang="en-US" noProof="0"/>
              <a:t>Click icon to add picture</a:t>
            </a:r>
            <a:endParaRPr lang="en-US" noProof="0" dirty="0"/>
          </a:p>
        </p:txBody>
      </p:sp>
      <p:sp>
        <p:nvSpPr>
          <p:cNvPr id="9" name="Date Placeholder 11"/>
          <p:cNvSpPr>
            <a:spLocks noGrp="1"/>
          </p:cNvSpPr>
          <p:nvPr>
            <p:ph type="dt" sz="half" idx="10"/>
          </p:nvPr>
        </p:nvSpPr>
        <p:spPr>
          <a:xfrm>
            <a:off x="6248400" y="6248400"/>
            <a:ext cx="2667000" cy="365125"/>
          </a:xfrm>
        </p:spPr>
        <p:txBody>
          <a:bodyPr rtlCol="0"/>
          <a:lstStyle>
            <a:lvl1pPr>
              <a:defRPr smtClean="0"/>
            </a:lvl1pPr>
          </a:lstStyle>
          <a:p>
            <a:pPr>
              <a:defRPr/>
            </a:pPr>
            <a:r>
              <a:rPr lang="fa-IR" altLang="en-US"/>
              <a:t>مدارهای الکتریکی و الکترونیکی</a:t>
            </a:r>
            <a:endParaRPr lang="en-US" altLang="en-US"/>
          </a:p>
        </p:txBody>
      </p:sp>
      <p:sp>
        <p:nvSpPr>
          <p:cNvPr id="10" name="Slide Number Placeholder 12"/>
          <p:cNvSpPr>
            <a:spLocks noGrp="1"/>
          </p:cNvSpPr>
          <p:nvPr>
            <p:ph type="sldNum" sz="quarter" idx="11"/>
          </p:nvPr>
        </p:nvSpPr>
        <p:spPr>
          <a:xfrm>
            <a:off x="0" y="4667250"/>
            <a:ext cx="1447800" cy="663575"/>
          </a:xfrm>
        </p:spPr>
        <p:txBody>
          <a:bodyPr rtlCol="0"/>
          <a:lstStyle>
            <a:lvl1pPr>
              <a:defRPr sz="2800"/>
            </a:lvl1pPr>
          </a:lstStyle>
          <a:p>
            <a:pPr>
              <a:defRPr/>
            </a:pPr>
            <a:fld id="{78A045DE-1C2E-4066-AF9F-E27DD7118661}" type="slidenum">
              <a:rPr lang="en-US" altLang="en-US"/>
              <a:pPr>
                <a:defRPr/>
              </a:pPr>
              <a:t>‹#›</a:t>
            </a:fld>
            <a:endParaRPr lang="en-US" altLang="en-US"/>
          </a:p>
        </p:txBody>
      </p:sp>
      <p:sp>
        <p:nvSpPr>
          <p:cNvPr id="11" name="Footer Placeholder 13"/>
          <p:cNvSpPr>
            <a:spLocks noGrp="1"/>
          </p:cNvSpPr>
          <p:nvPr>
            <p:ph type="ftr" sz="quarter" idx="12"/>
          </p:nvPr>
        </p:nvSpPr>
        <p:spPr>
          <a:xfrm>
            <a:off x="1600200" y="6248400"/>
            <a:ext cx="4572000" cy="365125"/>
          </a:xfrm>
        </p:spPr>
        <p:txBody>
          <a:bodyPr rtlCol="0"/>
          <a:lstStyle>
            <a:lvl1pPr>
              <a:defRPr/>
            </a:lvl1pPr>
          </a:lstStyle>
          <a:p>
            <a:pPr>
              <a:defRPr/>
            </a:pPr>
            <a:r>
              <a:rPr lang="fa-IR" altLang="en-US"/>
              <a:t>11. ترانزیستور</a:t>
            </a:r>
            <a:endParaRPr lang="en-US" altLang="en-US"/>
          </a:p>
        </p:txBody>
      </p:sp>
    </p:spTree>
    <p:extLst>
      <p:ext uri="{BB962C8B-B14F-4D97-AF65-F5344CB8AC3E}">
        <p14:creationId xmlns:p14="http://schemas.microsoft.com/office/powerpoint/2010/main" val="1462763391"/>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r>
              <a:rPr lang="fa-IR" altLang="en-US"/>
              <a:t>مدارهای الکتریکی و الکترونیکی</a:t>
            </a:r>
            <a:endParaRPr lang="en-US" altLang="en-US" dirty="0"/>
          </a:p>
        </p:txBody>
      </p:sp>
      <p:sp>
        <p:nvSpPr>
          <p:cNvPr id="5" name="Footer Placeholder 2"/>
          <p:cNvSpPr>
            <a:spLocks noGrp="1"/>
          </p:cNvSpPr>
          <p:nvPr>
            <p:ph type="ftr" sz="quarter" idx="11"/>
          </p:nvPr>
        </p:nvSpPr>
        <p:spPr/>
        <p:txBody>
          <a:bodyPr/>
          <a:lstStyle>
            <a:lvl1pPr>
              <a:defRPr/>
            </a:lvl1pPr>
          </a:lstStyle>
          <a:p>
            <a:pPr>
              <a:defRPr/>
            </a:pPr>
            <a:r>
              <a:rPr lang="fa-IR" altLang="en-US"/>
              <a:t>11. ترانزیستور</a:t>
            </a:r>
            <a:endParaRPr lang="en-US" altLang="en-US" dirty="0"/>
          </a:p>
        </p:txBody>
      </p:sp>
      <p:sp>
        <p:nvSpPr>
          <p:cNvPr id="6" name="Slide Number Placeholder 22"/>
          <p:cNvSpPr>
            <a:spLocks noGrp="1"/>
          </p:cNvSpPr>
          <p:nvPr>
            <p:ph type="sldNum" sz="quarter" idx="12"/>
          </p:nvPr>
        </p:nvSpPr>
        <p:spPr/>
        <p:txBody>
          <a:bodyPr/>
          <a:lstStyle>
            <a:lvl1pPr>
              <a:defRPr/>
            </a:lvl1pPr>
          </a:lstStyle>
          <a:p>
            <a:pPr>
              <a:defRPr/>
            </a:pPr>
            <a:fld id="{89CE0CEF-2513-4502-B5E4-86178963BC8F}" type="slidenum">
              <a:rPr lang="en-US" altLang="en-US"/>
              <a:pPr>
                <a:defRPr/>
              </a:pPr>
              <a:t>‹#›</a:t>
            </a:fld>
            <a:endParaRPr lang="en-US" altLang="en-US" dirty="0"/>
          </a:p>
        </p:txBody>
      </p:sp>
    </p:spTree>
    <p:extLst>
      <p:ext uri="{BB962C8B-B14F-4D97-AF65-F5344CB8AC3E}">
        <p14:creationId xmlns:p14="http://schemas.microsoft.com/office/powerpoint/2010/main" val="5415183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p:cNvSpPr/>
          <p:nvPr/>
        </p:nvSpPr>
        <p:spPr bwMode="white">
          <a:xfrm>
            <a:off x="6096000" y="0"/>
            <a:ext cx="320675"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4"/>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ectangle 5"/>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Vertical Title 1"/>
          <p:cNvSpPr>
            <a:spLocks noGrp="1"/>
          </p:cNvSpPr>
          <p:nvPr>
            <p:ph type="title" orient="vert"/>
          </p:nvPr>
        </p:nvSpPr>
        <p:spPr>
          <a:xfrm>
            <a:off x="6553200" y="609600"/>
            <a:ext cx="2057400" cy="55165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a:xfrm>
            <a:off x="6553200" y="6248400"/>
            <a:ext cx="2209800" cy="365125"/>
          </a:xfrm>
        </p:spPr>
        <p:txBody>
          <a:bodyPr/>
          <a:lstStyle>
            <a:lvl1pPr>
              <a:defRPr smtClean="0"/>
            </a:lvl1pPr>
          </a:lstStyle>
          <a:p>
            <a:pPr>
              <a:defRPr/>
            </a:pPr>
            <a:r>
              <a:rPr lang="fa-IR" altLang="en-US"/>
              <a:t>مدارهای الکتریکی و الکترونیکی</a:t>
            </a:r>
            <a:endParaRPr lang="en-US" altLang="en-US"/>
          </a:p>
        </p:txBody>
      </p:sp>
      <p:sp>
        <p:nvSpPr>
          <p:cNvPr id="8" name="Footer Placeholder 4"/>
          <p:cNvSpPr>
            <a:spLocks noGrp="1"/>
          </p:cNvSpPr>
          <p:nvPr>
            <p:ph type="ftr" sz="quarter" idx="11"/>
          </p:nvPr>
        </p:nvSpPr>
        <p:spPr>
          <a:xfrm>
            <a:off x="457200" y="6248400"/>
            <a:ext cx="5573713" cy="365125"/>
          </a:xfrm>
        </p:spPr>
        <p:txBody>
          <a:bodyPr/>
          <a:lstStyle>
            <a:lvl1pPr>
              <a:defRPr/>
            </a:lvl1pPr>
          </a:lstStyle>
          <a:p>
            <a:pPr>
              <a:defRPr/>
            </a:pPr>
            <a:r>
              <a:rPr lang="fa-IR" altLang="en-US"/>
              <a:t>11. ترانزیستور</a:t>
            </a:r>
            <a:endParaRPr lang="en-US" altLang="en-US"/>
          </a:p>
        </p:txBody>
      </p:sp>
      <p:sp>
        <p:nvSpPr>
          <p:cNvPr id="9" name="Slide Number Placeholder 5"/>
          <p:cNvSpPr>
            <a:spLocks noGrp="1"/>
          </p:cNvSpPr>
          <p:nvPr>
            <p:ph type="sldNum" sz="quarter" idx="12"/>
          </p:nvPr>
        </p:nvSpPr>
        <p:spPr>
          <a:xfrm rot="5400000">
            <a:off x="5989638" y="144462"/>
            <a:ext cx="533400" cy="244475"/>
          </a:xfrm>
        </p:spPr>
        <p:txBody>
          <a:bodyPr/>
          <a:lstStyle>
            <a:lvl1pPr>
              <a:defRPr/>
            </a:lvl1pPr>
          </a:lstStyle>
          <a:p>
            <a:pPr>
              <a:defRPr/>
            </a:pPr>
            <a:fld id="{359B103F-FA24-4D83-98C3-C52A1E5C2915}" type="slidenum">
              <a:rPr lang="en-US" altLang="en-US"/>
              <a:pPr>
                <a:defRPr/>
              </a:pPr>
              <a:t>‹#›</a:t>
            </a:fld>
            <a:endParaRPr lang="en-US" altLang="en-US"/>
          </a:p>
        </p:txBody>
      </p:sp>
    </p:spTree>
    <p:extLst>
      <p:ext uri="{BB962C8B-B14F-4D97-AF65-F5344CB8AC3E}">
        <p14:creationId xmlns:p14="http://schemas.microsoft.com/office/powerpoint/2010/main" val="1979537070"/>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21"/>
          <p:cNvSpPr>
            <a:spLocks noGrp="1"/>
          </p:cNvSpPr>
          <p:nvPr>
            <p:ph type="title"/>
          </p:nvPr>
        </p:nvSpPr>
        <p:spPr bwMode="auto">
          <a:xfrm>
            <a:off x="609600" y="228600"/>
            <a:ext cx="8153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Click to edit Master title style</a:t>
            </a:r>
          </a:p>
        </p:txBody>
      </p:sp>
      <p:sp>
        <p:nvSpPr>
          <p:cNvPr id="1027" name="Text Placeholder 12"/>
          <p:cNvSpPr>
            <a:spLocks noGrp="1"/>
          </p:cNvSpPr>
          <p:nvPr>
            <p:ph type="body" idx="1"/>
          </p:nvPr>
        </p:nvSpPr>
        <p:spPr bwMode="auto">
          <a:xfrm>
            <a:off x="612775" y="1235075"/>
            <a:ext cx="8153400" cy="489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p:cNvSpPr>
            <a:spLocks noGrp="1"/>
          </p:cNvSpPr>
          <p:nvPr>
            <p:ph type="dt" sz="half" idx="2"/>
          </p:nvPr>
        </p:nvSpPr>
        <p:spPr>
          <a:xfrm>
            <a:off x="6096000" y="6248400"/>
            <a:ext cx="2667000" cy="381000"/>
          </a:xfrm>
          <a:prstGeom prst="rect">
            <a:avLst/>
          </a:prstGeom>
          <a:solidFill>
            <a:schemeClr val="accent1"/>
          </a:solidFill>
        </p:spPr>
        <p:txBody>
          <a:bodyPr vert="horz" anchor="ctr" anchorCtr="0"/>
          <a:lstStyle>
            <a:lvl1pPr algn="ctr" eaLnBrk="1" latinLnBrk="0" hangingPunct="1">
              <a:defRPr kumimoji="0" sz="1400" smtClean="0">
                <a:solidFill>
                  <a:schemeClr val="tx2"/>
                </a:solidFill>
              </a:defRPr>
            </a:lvl1pPr>
          </a:lstStyle>
          <a:p>
            <a:pPr>
              <a:defRPr/>
            </a:pPr>
            <a:r>
              <a:rPr lang="fa-IR" altLang="en-US"/>
              <a:t>مدارهای الکتریکی و الکترونیکی</a:t>
            </a:r>
            <a:endParaRPr lang="en-US" altLang="en-US" dirty="0"/>
          </a:p>
        </p:txBody>
      </p:sp>
      <p:sp>
        <p:nvSpPr>
          <p:cNvPr id="3" name="Footer Placeholder 2"/>
          <p:cNvSpPr>
            <a:spLocks noGrp="1"/>
          </p:cNvSpPr>
          <p:nvPr>
            <p:ph type="ftr" sz="quarter" idx="3"/>
          </p:nvPr>
        </p:nvSpPr>
        <p:spPr>
          <a:xfrm>
            <a:off x="1219200" y="6248400"/>
            <a:ext cx="4811713" cy="381000"/>
          </a:xfrm>
          <a:prstGeom prst="rect">
            <a:avLst/>
          </a:prstGeom>
          <a:solidFill>
            <a:schemeClr val="accent2"/>
          </a:solidFill>
        </p:spPr>
        <p:txBody>
          <a:bodyPr vert="horz" anchor="ctr"/>
          <a:lstStyle>
            <a:lvl1pPr algn="ctr" eaLnBrk="1" latinLnBrk="0" hangingPunct="1">
              <a:defRPr kumimoji="0" sz="1400">
                <a:solidFill>
                  <a:schemeClr val="tx2"/>
                </a:solidFill>
              </a:defRPr>
            </a:lvl1pPr>
          </a:lstStyle>
          <a:p>
            <a:pPr>
              <a:defRPr/>
            </a:pPr>
            <a:r>
              <a:rPr lang="fa-IR" altLang="en-US"/>
              <a:t>11. ترانزیستور</a:t>
            </a:r>
            <a:endParaRPr lang="en-US" altLang="en-US" dirty="0"/>
          </a:p>
        </p:txBody>
      </p:sp>
      <p:sp>
        <p:nvSpPr>
          <p:cNvPr id="7" name="Rectangle 6"/>
          <p:cNvSpPr/>
          <p:nvPr/>
        </p:nvSpPr>
        <p:spPr bwMode="white">
          <a:xfrm>
            <a:off x="0" y="900113"/>
            <a:ext cx="9144000" cy="319087"/>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Rectangle 7"/>
          <p:cNvSpPr/>
          <p:nvPr/>
        </p:nvSpPr>
        <p:spPr>
          <a:xfrm>
            <a:off x="590550" y="6248400"/>
            <a:ext cx="533400" cy="381000"/>
          </a:xfrm>
          <a:prstGeom prst="rect">
            <a:avLst/>
          </a:prstGeom>
          <a:solidFill>
            <a:schemeClr val="accent1"/>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9" name="Rectangle 8"/>
          <p:cNvSpPr/>
          <p:nvPr/>
        </p:nvSpPr>
        <p:spPr>
          <a:xfrm>
            <a:off x="590550" y="990600"/>
            <a:ext cx="8172450" cy="160338"/>
          </a:xfrm>
          <a:prstGeom prst="rect">
            <a:avLst/>
          </a:prstGeom>
          <a:solidFill>
            <a:schemeClr val="accent1"/>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3" name="Slide Number Placeholder 22"/>
          <p:cNvSpPr>
            <a:spLocks noGrp="1"/>
          </p:cNvSpPr>
          <p:nvPr>
            <p:ph type="sldNum" sz="quarter" idx="4"/>
          </p:nvPr>
        </p:nvSpPr>
        <p:spPr>
          <a:xfrm>
            <a:off x="609600" y="6329363"/>
            <a:ext cx="533400" cy="244475"/>
          </a:xfrm>
          <a:prstGeom prst="rect">
            <a:avLst/>
          </a:prstGeom>
        </p:spPr>
        <p:txBody>
          <a:bodyPr vert="horz" anchor="ctr" anchorCtr="0">
            <a:normAutofit/>
          </a:bodyPr>
          <a:lstStyle>
            <a:lvl1pPr algn="ctr" rtl="1" eaLnBrk="1" latinLnBrk="0" hangingPunct="1">
              <a:defRPr kumimoji="0" sz="1400" b="1">
                <a:solidFill>
                  <a:srgbClr val="FFFFFF"/>
                </a:solidFill>
              </a:defRPr>
            </a:lvl1pPr>
          </a:lstStyle>
          <a:p>
            <a:pPr>
              <a:defRPr/>
            </a:pPr>
            <a:fld id="{0949679D-F92E-44F0-804B-F6AF1B3D7B0E}" type="slidenum">
              <a:rPr lang="en-US" altLang="en-US" smtClean="0"/>
              <a:pPr>
                <a:defRPr/>
              </a:pPr>
              <a:t>‹#›</a:t>
            </a:fld>
            <a:endParaRPr lang="en-US" altLang="en-US" dirty="0"/>
          </a:p>
        </p:txBody>
      </p:sp>
    </p:spTree>
  </p:cSld>
  <p:clrMap bg1="lt1" tx1="dk1" bg2="lt2" tx2="dk2" accent1="accent1" accent2="accent2" accent3="accent3" accent4="accent4" accent5="accent5" accent6="accent6" hlink="hlink" folHlink="folHlink"/>
  <p:sldLayoutIdLst>
    <p:sldLayoutId id="2147483949" r:id="rId1"/>
    <p:sldLayoutId id="2147483950" r:id="rId2"/>
    <p:sldLayoutId id="2147483951" r:id="rId3"/>
    <p:sldLayoutId id="2147483952" r:id="rId4"/>
    <p:sldLayoutId id="2147483953" r:id="rId5"/>
    <p:sldLayoutId id="2147483946" r:id="rId6"/>
    <p:sldLayoutId id="2147483954" r:id="rId7"/>
    <p:sldLayoutId id="2147483947" r:id="rId8"/>
    <p:sldLayoutId id="2147483955" r:id="rId9"/>
    <p:sldLayoutId id="2147483948" r:id="rId10"/>
    <p:sldLayoutId id="2147483956" r:id="rId11"/>
  </p:sldLayoutIdLst>
  <p:hf hdr="0"/>
  <p:txStyles>
    <p:titleStyle>
      <a:lvl1pPr algn="l" rtl="0" eaLnBrk="0" fontAlgn="base" hangingPunct="0">
        <a:spcBef>
          <a:spcPct val="0"/>
        </a:spcBef>
        <a:spcAft>
          <a:spcPct val="0"/>
        </a:spcAft>
        <a:defRPr sz="4400" kern="12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Calibri" pitchFamily="34" charset="0"/>
        </a:defRPr>
      </a:lvl2pPr>
      <a:lvl3pPr algn="l" rtl="0" eaLnBrk="0" fontAlgn="base" hangingPunct="0">
        <a:spcBef>
          <a:spcPct val="0"/>
        </a:spcBef>
        <a:spcAft>
          <a:spcPct val="0"/>
        </a:spcAft>
        <a:defRPr sz="4400">
          <a:solidFill>
            <a:schemeClr val="tx2"/>
          </a:solidFill>
          <a:latin typeface="Calibri" pitchFamily="34" charset="0"/>
        </a:defRPr>
      </a:lvl3pPr>
      <a:lvl4pPr algn="l" rtl="0" eaLnBrk="0" fontAlgn="base" hangingPunct="0">
        <a:spcBef>
          <a:spcPct val="0"/>
        </a:spcBef>
        <a:spcAft>
          <a:spcPct val="0"/>
        </a:spcAft>
        <a:defRPr sz="4400">
          <a:solidFill>
            <a:schemeClr val="tx2"/>
          </a:solidFill>
          <a:latin typeface="Calibri" pitchFamily="34" charset="0"/>
        </a:defRPr>
      </a:lvl4pPr>
      <a:lvl5pPr algn="l" rtl="0" eaLnBrk="0" fontAlgn="base" hangingPunct="0">
        <a:spcBef>
          <a:spcPct val="0"/>
        </a:spcBef>
        <a:spcAft>
          <a:spcPct val="0"/>
        </a:spcAft>
        <a:defRPr sz="4400">
          <a:solidFill>
            <a:schemeClr val="tx2"/>
          </a:solidFill>
          <a:latin typeface="Calibri" pitchFamily="34" charset="0"/>
        </a:defRPr>
      </a:lvl5pPr>
      <a:lvl6pPr marL="457200" algn="l" rtl="0" fontAlgn="base">
        <a:spcBef>
          <a:spcPct val="0"/>
        </a:spcBef>
        <a:spcAft>
          <a:spcPct val="0"/>
        </a:spcAft>
        <a:defRPr sz="4400">
          <a:solidFill>
            <a:schemeClr val="tx2"/>
          </a:solidFill>
          <a:latin typeface="Calibri" pitchFamily="34" charset="0"/>
        </a:defRPr>
      </a:lvl6pPr>
      <a:lvl7pPr marL="914400" algn="l" rtl="0" fontAlgn="base">
        <a:spcBef>
          <a:spcPct val="0"/>
        </a:spcBef>
        <a:spcAft>
          <a:spcPct val="0"/>
        </a:spcAft>
        <a:defRPr sz="4400">
          <a:solidFill>
            <a:schemeClr val="tx2"/>
          </a:solidFill>
          <a:latin typeface="Calibri" pitchFamily="34" charset="0"/>
        </a:defRPr>
      </a:lvl7pPr>
      <a:lvl8pPr marL="1371600" algn="l" rtl="0" fontAlgn="base">
        <a:spcBef>
          <a:spcPct val="0"/>
        </a:spcBef>
        <a:spcAft>
          <a:spcPct val="0"/>
        </a:spcAft>
        <a:defRPr sz="4400">
          <a:solidFill>
            <a:schemeClr val="tx2"/>
          </a:solidFill>
          <a:latin typeface="Calibri" pitchFamily="34" charset="0"/>
        </a:defRPr>
      </a:lvl8pPr>
      <a:lvl9pPr marL="1828800" algn="l" rtl="0" fontAlgn="base">
        <a:spcBef>
          <a:spcPct val="0"/>
        </a:spcBef>
        <a:spcAft>
          <a:spcPct val="0"/>
        </a:spcAft>
        <a:defRPr sz="4400">
          <a:solidFill>
            <a:schemeClr val="tx2"/>
          </a:solidFill>
          <a:latin typeface="Calibri" pitchFamily="34" charset="0"/>
        </a:defRPr>
      </a:lvl9pPr>
    </p:titleStyle>
    <p:bodyStyle>
      <a:lvl1pPr marL="319088" indent="-319088" algn="l" rtl="0" eaLnBrk="0" fontAlgn="base" hangingPunct="0">
        <a:spcBef>
          <a:spcPts val="700"/>
        </a:spcBef>
        <a:spcAft>
          <a:spcPct val="0"/>
        </a:spcAft>
        <a:buClr>
          <a:schemeClr val="accent2"/>
        </a:buClr>
        <a:buSzPct val="60000"/>
        <a:buFont typeface="Wingdings" pitchFamily="2" charset="2"/>
        <a:buChar char=""/>
        <a:defRPr sz="2900" kern="1200">
          <a:solidFill>
            <a:schemeClr val="tx1"/>
          </a:solidFill>
          <a:latin typeface="+mn-lt"/>
          <a:ea typeface="+mn-ea"/>
          <a:cs typeface="+mn-cs"/>
        </a:defRPr>
      </a:lvl1pPr>
      <a:lvl2pPr marL="639763" indent="-273050" algn="l" rtl="0" eaLnBrk="0" fontAlgn="base" hangingPunct="0">
        <a:spcBef>
          <a:spcPts val="550"/>
        </a:spcBef>
        <a:spcAft>
          <a:spcPct val="0"/>
        </a:spcAft>
        <a:buClr>
          <a:schemeClr val="accent1"/>
        </a:buClr>
        <a:buSzPct val="70000"/>
        <a:buFont typeface="Wingdings 2" pitchFamily="18" charset="2"/>
        <a:buChar char=""/>
        <a:defRPr sz="2600" kern="1200">
          <a:solidFill>
            <a:schemeClr val="tx1"/>
          </a:solidFill>
          <a:latin typeface="+mn-lt"/>
          <a:ea typeface="+mn-ea"/>
          <a:cs typeface="+mn-cs"/>
        </a:defRPr>
      </a:lvl2pPr>
      <a:lvl3pPr marL="914400" indent="-228600" algn="l" rtl="0" eaLnBrk="0" fontAlgn="base" hangingPunct="0">
        <a:spcBef>
          <a:spcPts val="500"/>
        </a:spcBef>
        <a:spcAft>
          <a:spcPct val="0"/>
        </a:spcAft>
        <a:buClr>
          <a:schemeClr val="accent2"/>
        </a:buClr>
        <a:buSzPct val="75000"/>
        <a:buFont typeface="Wingdings" pitchFamily="2" charset="2"/>
        <a:buChar char=""/>
        <a:defRPr sz="2300" kern="1200">
          <a:solidFill>
            <a:schemeClr val="tx1"/>
          </a:solidFill>
          <a:latin typeface="+mn-lt"/>
          <a:ea typeface="+mn-ea"/>
          <a:cs typeface="+mn-cs"/>
        </a:defRPr>
      </a:lvl3pPr>
      <a:lvl4pPr marL="1371600" indent="-228600" algn="l" rtl="0" eaLnBrk="0" fontAlgn="base" hangingPunct="0">
        <a:spcBef>
          <a:spcPts val="400"/>
        </a:spcBef>
        <a:spcAft>
          <a:spcPct val="0"/>
        </a:spcAft>
        <a:buClr>
          <a:srgbClr val="A5AB81"/>
        </a:buClr>
        <a:buSzPct val="75000"/>
        <a:buFont typeface="Wingdings" pitchFamily="2" charset="2"/>
        <a:buChar char=""/>
        <a:defRPr sz="2000" kern="1200">
          <a:solidFill>
            <a:schemeClr val="tx1"/>
          </a:solidFill>
          <a:latin typeface="+mn-lt"/>
          <a:ea typeface="+mn-ea"/>
          <a:cs typeface="+mn-cs"/>
        </a:defRPr>
      </a:lvl4pPr>
      <a:lvl5pPr marL="1828800" indent="-228600" algn="l" rtl="0" eaLnBrk="0" fontAlgn="base" hangingPunct="0">
        <a:spcBef>
          <a:spcPts val="400"/>
        </a:spcBef>
        <a:spcAft>
          <a:spcPct val="0"/>
        </a:spcAft>
        <a:buClr>
          <a:srgbClr val="D8B25C"/>
        </a:buClr>
        <a:buSzPct val="65000"/>
        <a:buFont typeface="Wingdings" pitchFamily="2" charset="2"/>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10.png"/><Relationship Id="rId4" Type="http://schemas.openxmlformats.org/officeDocument/2006/relationships/image" Target="../media/image41.png"/></Relationships>
</file>

<file path=ppt/slides/_rels/slide2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250.png"/><Relationship Id="rId4" Type="http://schemas.openxmlformats.org/officeDocument/2006/relationships/image" Target="../media/image47.png"/></Relationships>
</file>

<file path=ppt/slides/_rels/slide34.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280.png"/><Relationship Id="rId1" Type="http://schemas.openxmlformats.org/officeDocument/2006/relationships/slideLayout" Target="../slideLayouts/slideLayout2.xml"/><Relationship Id="rId6" Type="http://schemas.openxmlformats.org/officeDocument/2006/relationships/image" Target="../media/image310.png"/><Relationship Id="rId5" Type="http://schemas.microsoft.com/office/2007/relationships/hdphoto" Target="../media/hdphoto1.wdp"/><Relationship Id="rId4" Type="http://schemas.openxmlformats.org/officeDocument/2006/relationships/image" Target="../media/image50.png"/></Relationships>
</file>

<file path=ppt/slides/_rels/slide36.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51.png"/></Relationships>
</file>

<file path=ppt/slides/_rels/slide3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340.png"/><Relationship Id="rId4" Type="http://schemas.microsoft.com/office/2007/relationships/hdphoto" Target="../media/hdphoto2.wdp"/></Relationships>
</file>

<file path=ppt/slides/_rels/slide3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60.png"/></Relationships>
</file>

<file path=ppt/slides/_rels/slide39.xml.rels><?xml version="1.0" encoding="UTF-8" standalone="yes"?>
<Relationships xmlns="http://schemas.openxmlformats.org/package/2006/relationships"><Relationship Id="rId3" Type="http://schemas.openxmlformats.org/officeDocument/2006/relationships/image" Target="../media/image370.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4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00.png"/></Relationships>
</file>

<file path=ppt/slides/_rels/slide4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55.png"/><Relationship Id="rId1" Type="http://schemas.openxmlformats.org/officeDocument/2006/relationships/slideLayout" Target="../slideLayouts/slideLayout2.xml"/><Relationship Id="rId4" Type="http://schemas.openxmlformats.org/officeDocument/2006/relationships/image" Target="../media/image420.png"/></Relationships>
</file>

<file path=ppt/slides/_rels/slide43.xml.rels><?xml version="1.0" encoding="UTF-8" standalone="yes"?>
<Relationships xmlns="http://schemas.openxmlformats.org/package/2006/relationships"><Relationship Id="rId3" Type="http://schemas.openxmlformats.org/officeDocument/2006/relationships/image" Target="../media/image440.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60.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80.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90.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4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520.png"/></Relationships>
</file>

<file path=ppt/slides/_rels/slide4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4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50.xml.rels><?xml version="1.0" encoding="UTF-8" standalone="yes"?>
<Relationships xmlns="http://schemas.openxmlformats.org/package/2006/relationships"><Relationship Id="rId2" Type="http://schemas.openxmlformats.org/officeDocument/2006/relationships/image" Target="../media/image40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09600" y="990600"/>
            <a:ext cx="8229600" cy="4876800"/>
          </a:xfrm>
        </p:spPr>
        <p:txBody>
          <a:bodyPr>
            <a:normAutofit/>
          </a:bodyPr>
          <a:lstStyle/>
          <a:p>
            <a:pPr algn="ctr" rtl="1" eaLnBrk="1" fontAlgn="auto" hangingPunct="1">
              <a:spcAft>
                <a:spcPts val="0"/>
              </a:spcAft>
              <a:defRPr/>
            </a:pPr>
            <a:r>
              <a:rPr lang="fa-IR" sz="3200" cap="none" dirty="0">
                <a:cs typeface="B Titr" panose="00000700000000000000" pitchFamily="2" charset="-78"/>
              </a:rPr>
              <a:t>مدارهای الکتریکی و الکترونیکی</a:t>
            </a:r>
            <a:br>
              <a:rPr lang="fa-IR" cap="none" dirty="0">
                <a:cs typeface="B Titr" panose="00000700000000000000" pitchFamily="2" charset="-78"/>
              </a:rPr>
            </a:br>
            <a:br>
              <a:rPr lang="en-US" cap="none" dirty="0">
                <a:cs typeface="B Titr" panose="00000700000000000000" pitchFamily="2" charset="-78"/>
              </a:rPr>
            </a:br>
            <a:r>
              <a:rPr lang="fa-IR" cap="none" dirty="0">
                <a:cs typeface="B Titr" panose="00000700000000000000" pitchFamily="2" charset="-78"/>
              </a:rPr>
              <a:t>ترانزیستور</a:t>
            </a:r>
            <a:br>
              <a:rPr lang="en-US" dirty="0">
                <a:cs typeface="B Titr" panose="00000700000000000000" pitchFamily="2" charset="-78"/>
              </a:rPr>
            </a:br>
            <a:br>
              <a:rPr lang="fa-IR" sz="3600" cap="none" dirty="0">
                <a:cs typeface="B Titr" panose="00000700000000000000" pitchFamily="2" charset="-78"/>
              </a:rPr>
            </a:br>
            <a:r>
              <a:rPr lang="en-US" sz="3600" cap="none" dirty="0">
                <a:cs typeface="B Titr" panose="00000700000000000000" pitchFamily="2" charset="-78"/>
              </a:rPr>
              <a:t> </a:t>
            </a:r>
            <a:br>
              <a:rPr lang="en-US" dirty="0">
                <a:cs typeface="B Titr" panose="00000700000000000000" pitchFamily="2" charset="-78"/>
              </a:rPr>
            </a:br>
            <a:br>
              <a:rPr lang="en-US" dirty="0">
                <a:cs typeface="B Titr" panose="00000700000000000000" pitchFamily="2" charset="-78"/>
              </a:rPr>
            </a:br>
            <a:br>
              <a:rPr lang="en-US" sz="3000" cap="none" dirty="0">
                <a:cs typeface="B Titr" panose="00000700000000000000" pitchFamily="2" charset="-78"/>
              </a:rPr>
            </a:br>
            <a:endParaRPr lang="en-US" sz="3000" cap="none" dirty="0">
              <a:cs typeface="B Titr" panose="00000700000000000000" pitchFamily="2" charset="-78"/>
            </a:endParaRPr>
          </a:p>
        </p:txBody>
      </p:sp>
      <p:sp>
        <p:nvSpPr>
          <p:cNvPr id="10243" name="Subtitle 2"/>
          <p:cNvSpPr>
            <a:spLocks noGrp="1"/>
          </p:cNvSpPr>
          <p:nvPr>
            <p:ph type="subTitle" idx="1"/>
          </p:nvPr>
        </p:nvSpPr>
        <p:spPr>
          <a:xfrm>
            <a:off x="2362200" y="6049963"/>
            <a:ext cx="6705600" cy="685800"/>
          </a:xfrm>
        </p:spPr>
        <p:txBody>
          <a:bodyPr/>
          <a:lstStyle/>
          <a:p>
            <a:pPr algn="r" rtl="1" eaLnBrk="1" hangingPunct="1"/>
            <a:r>
              <a:rPr lang="fa-IR" altLang="en-US" dirty="0">
                <a:cs typeface="B Nazanin" panose="00000400000000000000" pitchFamily="2" charset="-78"/>
              </a:rPr>
              <a:t>دانشگاه صنعتی امیرکبیر</a:t>
            </a:r>
            <a:endParaRPr lang="en-US" altLang="en-US" dirty="0">
              <a:cs typeface="B Nazanin" panose="00000400000000000000" pitchFamily="2" charset="-78"/>
            </a:endParaRPr>
          </a:p>
        </p:txBody>
      </p:sp>
      <p:sp>
        <p:nvSpPr>
          <p:cNvPr id="10245" name="Date Placeholder 3"/>
          <p:cNvSpPr>
            <a:spLocks noGrp="1"/>
          </p:cNvSpPr>
          <p:nvPr>
            <p:ph type="dt" sz="quarter" idx="10"/>
          </p:nvPr>
        </p:nvSpPr>
        <p:spPr bwMode="auto">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fa-IR" altLang="en-US">
                <a:solidFill>
                  <a:srgbClr val="FFFFFF"/>
                </a:solidFill>
                <a:cs typeface="B Nazanin" panose="00000400000000000000" pitchFamily="2" charset="-78"/>
              </a:rPr>
              <a:t>مدارهای الکتریکی و الکترونیکی</a:t>
            </a:r>
            <a:endParaRPr lang="en-US" altLang="en-US" dirty="0">
              <a:solidFill>
                <a:srgbClr val="FFFFFF"/>
              </a:solidFill>
              <a:cs typeface="B Nazanin" panose="00000400000000000000" pitchFamily="2" charset="-7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381000" y="152400"/>
            <a:ext cx="8229600" cy="822325"/>
          </a:xfrm>
        </p:spPr>
        <p:txBody>
          <a:bodyPr/>
          <a:lstStyle/>
          <a:p>
            <a:pPr eaLnBrk="1" fontAlgn="auto" hangingPunct="1">
              <a:spcAft>
                <a:spcPts val="0"/>
              </a:spcAft>
              <a:defRPr/>
            </a:pPr>
            <a:r>
              <a:rPr lang="fa-IR" altLang="en-US" dirty="0"/>
              <a:t>فهرست مطالب</a:t>
            </a:r>
            <a:endParaRPr lang="en-US" altLang="en-US" dirty="0"/>
          </a:p>
        </p:txBody>
      </p:sp>
      <p:sp>
        <p:nvSpPr>
          <p:cNvPr id="11267" name="Rectangle 3"/>
          <p:cNvSpPr>
            <a:spLocks noGrp="1" noChangeArrowheads="1"/>
          </p:cNvSpPr>
          <p:nvPr>
            <p:ph sz="quarter" idx="1"/>
          </p:nvPr>
        </p:nvSpPr>
        <p:spPr>
          <a:xfrm>
            <a:off x="609600" y="1219200"/>
            <a:ext cx="8153400" cy="4876800"/>
          </a:xfrm>
        </p:spPr>
        <p:txBody>
          <a:bodyPr/>
          <a:lstStyle/>
          <a:p>
            <a:pPr eaLnBrk="1" hangingPunct="1"/>
            <a:r>
              <a:rPr lang="fa-IR" altLang="en-US" dirty="0"/>
              <a:t>انواع ترانزیستور</a:t>
            </a:r>
            <a:endParaRPr lang="en-US" altLang="en-US" dirty="0"/>
          </a:p>
          <a:p>
            <a:pPr eaLnBrk="1" hangingPunct="1"/>
            <a:r>
              <a:rPr lang="fa-IR" altLang="en-US" dirty="0"/>
              <a:t>کاربرد ترانزیستورها</a:t>
            </a:r>
            <a:endParaRPr lang="en-US" altLang="en-US" dirty="0"/>
          </a:p>
          <a:p>
            <a:pPr eaLnBrk="1" hangingPunct="1"/>
            <a:r>
              <a:rPr lang="fa-IR" altLang="en-US" dirty="0"/>
              <a:t>مدل ترانزیستور در مدارهای دیجیتال</a:t>
            </a:r>
          </a:p>
          <a:p>
            <a:pPr lvl="1" eaLnBrk="1" hangingPunct="1"/>
            <a:r>
              <a:rPr lang="fa-IR" altLang="en-US" dirty="0"/>
              <a:t>سوئیچ ایده‌آل</a:t>
            </a:r>
          </a:p>
          <a:p>
            <a:pPr eaLnBrk="1" hangingPunct="1"/>
            <a:endParaRPr lang="en-US" altLang="en-US" dirty="0"/>
          </a:p>
          <a:p>
            <a:pPr eaLnBrk="1" hangingPunct="1"/>
            <a:endParaRPr lang="en-US" altLang="en-US" dirty="0"/>
          </a:p>
        </p:txBody>
      </p:sp>
      <p:sp>
        <p:nvSpPr>
          <p:cNvPr id="11268" name="Date Placeholder 3"/>
          <p:cNvSpPr>
            <a:spLocks noGrp="1"/>
          </p:cNvSpPr>
          <p:nvPr>
            <p:ph type="dt" sz="quarter" idx="10"/>
          </p:nvPr>
        </p:nvSpPr>
        <p:spPr bwMode="auto">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fa-IR" altLang="en-US">
                <a:solidFill>
                  <a:schemeClr val="tx2"/>
                </a:solidFill>
              </a:rPr>
              <a:t>مدارهای الکتریکی و الکترونیکی</a:t>
            </a:r>
            <a:endParaRPr lang="en-US" altLang="en-US">
              <a:solidFill>
                <a:schemeClr val="tx2"/>
              </a:solidFill>
            </a:endParaRPr>
          </a:p>
        </p:txBody>
      </p:sp>
      <p:sp>
        <p:nvSpPr>
          <p:cNvPr id="11269" name="Footer Placeholder 4"/>
          <p:cNvSpPr>
            <a:spLocks noGrp="1"/>
          </p:cNvSpPr>
          <p:nvPr>
            <p:ph type="ftr" sz="quarter" idx="11"/>
          </p:nvPr>
        </p:nvSpPr>
        <p:spPr bwMode="auto">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fa-IR" altLang="en-US">
                <a:solidFill>
                  <a:schemeClr val="tx2"/>
                </a:solidFill>
              </a:rPr>
              <a:t>11. ترانزیستور</a:t>
            </a:r>
            <a:endParaRPr lang="en-US" altLang="en-US">
              <a:solidFill>
                <a:schemeClr val="tx2"/>
              </a:solidFill>
            </a:endParaRPr>
          </a:p>
        </p:txBody>
      </p:sp>
      <p:sp>
        <p:nvSpPr>
          <p:cNvPr id="3" name="Slide Number Placeholder 2"/>
          <p:cNvSpPr>
            <a:spLocks noGrp="1"/>
          </p:cNvSpPr>
          <p:nvPr>
            <p:ph type="sldNum" sz="quarter" idx="12"/>
          </p:nvPr>
        </p:nvSpPr>
        <p:spPr/>
        <p:txBody>
          <a:bodyPr>
            <a:normAutofit fontScale="85000" lnSpcReduction="20000"/>
          </a:bodyPr>
          <a:lstStyle/>
          <a:p>
            <a:pPr>
              <a:defRPr/>
            </a:pPr>
            <a:fld id="{0805AAEB-DA8E-4881-81AF-D22FE85BF778}" type="slidenum">
              <a:rPr lang="en-US" altLang="en-US"/>
              <a:pPr>
                <a:defRPr/>
              </a:pPr>
              <a:t>2</a:t>
            </a:fld>
            <a:endParaRPr lang="en-US" altLang="en-US"/>
          </a:p>
        </p:txBody>
      </p:sp>
      <p:sp>
        <p:nvSpPr>
          <p:cNvPr id="11271" name="TextBox 6"/>
          <p:cNvSpPr txBox="1">
            <a:spLocks noChangeArrowheads="1"/>
          </p:cNvSpPr>
          <p:nvPr/>
        </p:nvSpPr>
        <p:spPr bwMode="auto">
          <a:xfrm>
            <a:off x="-1752600" y="47244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eaLnBrk="1" hangingPunct="1">
              <a:spcBef>
                <a:spcPct val="0"/>
              </a:spcBef>
              <a:buClrTx/>
              <a:buSzTx/>
              <a:buFontTx/>
              <a:buNone/>
            </a:pPr>
            <a:endParaRPr lang="en-US" altLang="en-US" sz="1800">
              <a:latin typeface="Arial" charset="0"/>
            </a:endParaRPr>
          </a:p>
        </p:txBody>
      </p:sp>
    </p:spTree>
    <p:extLst>
      <p:ext uri="{BB962C8B-B14F-4D97-AF65-F5344CB8AC3E}">
        <p14:creationId xmlns:p14="http://schemas.microsoft.com/office/powerpoint/2010/main" val="2619205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ترانزیستور</a:t>
            </a:r>
          </a:p>
        </p:txBody>
      </p:sp>
      <p:sp>
        <p:nvSpPr>
          <p:cNvPr id="3" name="Content Placeholder 2"/>
          <p:cNvSpPr>
            <a:spLocks noGrp="1"/>
          </p:cNvSpPr>
          <p:nvPr>
            <p:ph sz="quarter" idx="1"/>
          </p:nvPr>
        </p:nvSpPr>
        <p:spPr/>
        <p:txBody>
          <a:bodyPr/>
          <a:lstStyle/>
          <a:p>
            <a:r>
              <a:rPr lang="fa-IR" dirty="0"/>
              <a:t>یک المان سه‌پایه، دارای دو نوع</a:t>
            </a:r>
            <a:endParaRPr lang="en-US" dirty="0"/>
          </a:p>
          <a:p>
            <a:pPr lvl="1"/>
            <a:r>
              <a:rPr lang="en-US" dirty="0"/>
              <a:t>BJT</a:t>
            </a:r>
          </a:p>
          <a:p>
            <a:pPr lvl="1"/>
            <a:r>
              <a:rPr lang="en-US" dirty="0"/>
              <a:t>MOSFET</a:t>
            </a:r>
          </a:p>
          <a:p>
            <a:pPr lvl="1"/>
            <a:endParaRPr lang="en-US" dirty="0"/>
          </a:p>
          <a:p>
            <a:pPr lvl="1"/>
            <a:endParaRPr lang="en-US" dirty="0"/>
          </a:p>
          <a:p>
            <a:pPr algn="l" rtl="0"/>
            <a:endParaRPr lang="en-US" dirty="0"/>
          </a:p>
          <a:p>
            <a:pPr algn="l" rtl="0"/>
            <a:r>
              <a:rPr lang="en-US" dirty="0"/>
              <a:t>BJT: Bipolar Junction Transistor</a:t>
            </a:r>
          </a:p>
          <a:p>
            <a:pPr algn="l" rtl="0"/>
            <a:r>
              <a:rPr lang="en-US" dirty="0"/>
              <a:t>MOSFET: Metal-Oxide-Semiconductor Field Effect Transistor</a:t>
            </a:r>
            <a:endParaRPr lang="fa-IR" dirty="0"/>
          </a:p>
        </p:txBody>
      </p:sp>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11. ترانزیستور</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3</a:t>
            </a:fld>
            <a:endParaRPr lang="en-US" altLang="en-US" dirty="0"/>
          </a:p>
        </p:txBody>
      </p:sp>
      <p:pic>
        <p:nvPicPr>
          <p:cNvPr id="47106" name="Picture 2" descr="http://www.educachip.com/wp-content/uploads/Tipos-de-Transistor.jpg"/>
          <p:cNvPicPr>
            <a:picLocks noChangeAspect="1" noChangeArrowheads="1"/>
          </p:cNvPicPr>
          <p:nvPr/>
        </p:nvPicPr>
        <p:blipFill rotWithShape="1">
          <a:blip r:embed="rId3">
            <a:extLst>
              <a:ext uri="{28A0092B-C50C-407E-A947-70E740481C1C}">
                <a14:useLocalDpi xmlns:a14="http://schemas.microsoft.com/office/drawing/2010/main" val="0"/>
              </a:ext>
            </a:extLst>
          </a:blip>
          <a:srcRect l="6158" t="13867" r="6093" b="7599"/>
          <a:stretch/>
        </p:blipFill>
        <p:spPr bwMode="auto">
          <a:xfrm>
            <a:off x="990600" y="1315075"/>
            <a:ext cx="3429001" cy="22258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5297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sz="quarter" idx="1"/>
          </p:nvPr>
        </p:nvSpPr>
        <p:spPr/>
        <p:txBody>
          <a:bodyPr/>
          <a:lstStyle/>
          <a:p>
            <a:r>
              <a:rPr lang="fa-IR" dirty="0"/>
              <a:t>دارای سه پایه به نام‌های:</a:t>
            </a:r>
          </a:p>
          <a:p>
            <a:pPr lvl="1"/>
            <a:r>
              <a:rPr lang="en-US" dirty="0"/>
              <a:t>B</a:t>
            </a:r>
            <a:r>
              <a:rPr lang="fa-IR" dirty="0"/>
              <a:t> (</a:t>
            </a:r>
            <a:r>
              <a:rPr lang="en-US" dirty="0"/>
              <a:t>Base</a:t>
            </a:r>
            <a:r>
              <a:rPr lang="fa-IR" dirty="0"/>
              <a:t>)</a:t>
            </a:r>
          </a:p>
          <a:p>
            <a:pPr lvl="1"/>
            <a:r>
              <a:rPr lang="en-US" dirty="0"/>
              <a:t>C</a:t>
            </a:r>
            <a:r>
              <a:rPr lang="fa-IR" dirty="0"/>
              <a:t> (</a:t>
            </a:r>
            <a:r>
              <a:rPr lang="en-US" dirty="0"/>
              <a:t>Collector</a:t>
            </a:r>
            <a:r>
              <a:rPr lang="fa-IR" dirty="0"/>
              <a:t>)</a:t>
            </a:r>
            <a:endParaRPr lang="en-US" dirty="0"/>
          </a:p>
          <a:p>
            <a:pPr lvl="1"/>
            <a:r>
              <a:rPr lang="en-US" dirty="0"/>
              <a:t>E</a:t>
            </a:r>
            <a:r>
              <a:rPr lang="fa-IR" dirty="0"/>
              <a:t> (</a:t>
            </a:r>
            <a:r>
              <a:rPr lang="en-US" dirty="0"/>
              <a:t>Emitter</a:t>
            </a:r>
            <a:r>
              <a:rPr lang="fa-IR" dirty="0"/>
              <a:t>)</a:t>
            </a:r>
          </a:p>
        </p:txBody>
      </p:sp>
      <p:sp>
        <p:nvSpPr>
          <p:cNvPr id="2" name="Title 1"/>
          <p:cNvSpPr>
            <a:spLocks noGrp="1"/>
          </p:cNvSpPr>
          <p:nvPr>
            <p:ph type="title"/>
          </p:nvPr>
        </p:nvSpPr>
        <p:spPr/>
        <p:txBody>
          <a:bodyPr/>
          <a:lstStyle/>
          <a:p>
            <a:r>
              <a:rPr lang="fa-IR" dirty="0"/>
              <a:t>ترانزیستور </a:t>
            </a:r>
            <a:r>
              <a:rPr lang="en-US" dirty="0"/>
              <a:t>BJT</a:t>
            </a:r>
            <a:endParaRPr lang="fa-IR" dirty="0"/>
          </a:p>
        </p:txBody>
      </p:sp>
      <p:sp>
        <p:nvSpPr>
          <p:cNvPr id="4" name="Date Placeholder 3"/>
          <p:cNvSpPr>
            <a:spLocks noGrp="1"/>
          </p:cNvSpPr>
          <p:nvPr>
            <p:ph type="dt" sz="half" idx="10"/>
          </p:nvPr>
        </p:nvSpPr>
        <p:spPr/>
        <p:txBody>
          <a:bodyPr/>
          <a:lstStyle/>
          <a:p>
            <a:pPr>
              <a:defRPr/>
            </a:pPr>
            <a:r>
              <a:rPr lang="en-US" altLang="en-US"/>
              <a:t>Electrical Circuits</a:t>
            </a:r>
            <a:endParaRPr lang="en-US" altLang="en-US" dirty="0"/>
          </a:p>
        </p:txBody>
      </p:sp>
      <p:sp>
        <p:nvSpPr>
          <p:cNvPr id="5" name="Footer Placeholder 4"/>
          <p:cNvSpPr>
            <a:spLocks noGrp="1"/>
          </p:cNvSpPr>
          <p:nvPr>
            <p:ph type="ftr" sz="quarter" idx="11"/>
          </p:nvPr>
        </p:nvSpPr>
        <p:spPr/>
        <p:txBody>
          <a:bodyPr/>
          <a:lstStyle/>
          <a:p>
            <a:pPr>
              <a:defRPr/>
            </a:pPr>
            <a:r>
              <a:rPr lang="en-US" altLang="en-US"/>
              <a:t>15. BJT Transistors</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4</a:t>
            </a:fld>
            <a:endParaRPr lang="en-US" altLang="en-US" dirty="0"/>
          </a:p>
        </p:txBody>
      </p:sp>
      <p:pic>
        <p:nvPicPr>
          <p:cNvPr id="48136" name="Picture 8" descr="https://upload.wikimedia.org/wikipedia/commons/thumb/f/f5/Transistor-diode-npn-pnp.svg/384px-Transistor-diode-npn-pnp.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5293" y="1296549"/>
            <a:ext cx="2423160" cy="30289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p:cNvPicPr>
            <a:picLocks noChangeAspect="1"/>
          </p:cNvPicPr>
          <p:nvPr/>
        </p:nvPicPr>
        <p:blipFill>
          <a:blip r:embed="rId4"/>
          <a:stretch>
            <a:fillRect/>
          </a:stretch>
        </p:blipFill>
        <p:spPr>
          <a:xfrm>
            <a:off x="914400" y="4371219"/>
            <a:ext cx="705716" cy="1524000"/>
          </a:xfrm>
          <a:prstGeom prst="rect">
            <a:avLst/>
          </a:prstGeom>
        </p:spPr>
      </p:pic>
      <p:pic>
        <p:nvPicPr>
          <p:cNvPr id="11" name="Picture 10"/>
          <p:cNvPicPr>
            <a:picLocks noChangeAspect="1"/>
          </p:cNvPicPr>
          <p:nvPr/>
        </p:nvPicPr>
        <p:blipFill>
          <a:blip r:embed="rId5"/>
          <a:stretch>
            <a:fillRect/>
          </a:stretch>
        </p:blipFill>
        <p:spPr>
          <a:xfrm>
            <a:off x="1907853" y="4371219"/>
            <a:ext cx="588818" cy="1524000"/>
          </a:xfrm>
          <a:prstGeom prst="rect">
            <a:avLst/>
          </a:prstGeom>
        </p:spPr>
      </p:pic>
      <p:cxnSp>
        <p:nvCxnSpPr>
          <p:cNvPr id="13" name="Straight Connector 12"/>
          <p:cNvCxnSpPr/>
          <p:nvPr/>
        </p:nvCxnSpPr>
        <p:spPr>
          <a:xfrm>
            <a:off x="1679253" y="1403229"/>
            <a:ext cx="0" cy="449199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48138" name="Picture 10" descr="https://upload.wikimedia.org/wikipedia/commons/thumb/6/6b/NPN_BJT_%28Planar%29_Cross-section.svg/300px-NPN_BJT_%28Planar%29_Cross-section.svg.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56126" y="3683598"/>
            <a:ext cx="3546348" cy="206870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4495800" y="5726668"/>
            <a:ext cx="2196905" cy="369332"/>
          </a:xfrm>
          <a:prstGeom prst="rect">
            <a:avLst/>
          </a:prstGeom>
          <a:noFill/>
        </p:spPr>
        <p:txBody>
          <a:bodyPr wrap="square" rtlCol="1">
            <a:spAutoFit/>
          </a:bodyPr>
          <a:lstStyle/>
          <a:p>
            <a:pPr algn="r" rtl="1"/>
            <a:r>
              <a:rPr lang="fa-IR" dirty="0">
                <a:cs typeface="B Nazanin" panose="00000400000000000000" pitchFamily="2" charset="-78"/>
              </a:rPr>
              <a:t>ساختار ترانزیستور </a:t>
            </a:r>
            <a:r>
              <a:rPr lang="en-US" dirty="0">
                <a:cs typeface="B Nazanin" panose="00000400000000000000" pitchFamily="2" charset="-78"/>
              </a:rPr>
              <a:t>BJT</a:t>
            </a:r>
            <a:endParaRPr lang="fa-IR" dirty="0">
              <a:cs typeface="B Nazanin" panose="00000400000000000000" pitchFamily="2" charset="-78"/>
            </a:endParaRPr>
          </a:p>
        </p:txBody>
      </p:sp>
    </p:spTree>
    <p:extLst>
      <p:ext uri="{BB962C8B-B14F-4D97-AF65-F5344CB8AC3E}">
        <p14:creationId xmlns:p14="http://schemas.microsoft.com/office/powerpoint/2010/main" val="30894143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نحوه عملکرد ترانزیستور </a:t>
            </a:r>
            <a:r>
              <a:rPr lang="en-US" dirty="0"/>
              <a:t>BJT</a:t>
            </a:r>
            <a:endParaRPr lang="fa-IR" dirty="0"/>
          </a:p>
        </p:txBody>
      </p:sp>
      <p:sp>
        <p:nvSpPr>
          <p:cNvPr id="3" name="Content Placeholder 2"/>
          <p:cNvSpPr>
            <a:spLocks noGrp="1"/>
          </p:cNvSpPr>
          <p:nvPr>
            <p:ph sz="quarter" idx="1"/>
          </p:nvPr>
        </p:nvSpPr>
        <p:spPr/>
        <p:txBody>
          <a:bodyPr/>
          <a:lstStyle/>
          <a:p>
            <a:r>
              <a:rPr lang="fa-IR" dirty="0"/>
              <a:t>عبور یک جریان کم از بیس، باعث عبور یک جریان زیاد بین کلکتور و امیتر می‌شود.</a:t>
            </a:r>
          </a:p>
        </p:txBody>
      </p:sp>
      <p:sp>
        <p:nvSpPr>
          <p:cNvPr id="4" name="Date Placeholder 3"/>
          <p:cNvSpPr>
            <a:spLocks noGrp="1"/>
          </p:cNvSpPr>
          <p:nvPr>
            <p:ph type="dt" sz="half" idx="10"/>
          </p:nvPr>
        </p:nvSpPr>
        <p:spPr/>
        <p:txBody>
          <a:bodyPr/>
          <a:lstStyle/>
          <a:p>
            <a:pPr>
              <a:defRPr/>
            </a:pPr>
            <a:r>
              <a:rPr lang="en-US" altLang="en-US"/>
              <a:t>Electrical Circuits</a:t>
            </a:r>
            <a:endParaRPr lang="en-US" altLang="en-US" dirty="0"/>
          </a:p>
        </p:txBody>
      </p:sp>
      <p:sp>
        <p:nvSpPr>
          <p:cNvPr id="5" name="Footer Placeholder 4"/>
          <p:cNvSpPr>
            <a:spLocks noGrp="1"/>
          </p:cNvSpPr>
          <p:nvPr>
            <p:ph type="ftr" sz="quarter" idx="11"/>
          </p:nvPr>
        </p:nvSpPr>
        <p:spPr/>
        <p:txBody>
          <a:bodyPr/>
          <a:lstStyle/>
          <a:p>
            <a:pPr>
              <a:defRPr/>
            </a:pPr>
            <a:r>
              <a:rPr lang="en-US" altLang="en-US"/>
              <a:t>15. BJT Transistors</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5</a:t>
            </a:fld>
            <a:endParaRPr lang="en-US" altLang="en-US" dirty="0"/>
          </a:p>
        </p:txBody>
      </p:sp>
      <p:pic>
        <p:nvPicPr>
          <p:cNvPr id="7" name="YzhoczlUaHpPVlFUUWtTM2hVTGdHaW9Ba2pVbVBmbkJuZ2Nvd1lVRmZPelVLTmgvQ3REdXpNR2l1Z0IxQmRxcXRYMnFXOUpISXh0QUgwa0FWSENYRUJCdTluank4ajZMQWtTUHM4VG1wcSt2TWowT3l2RXJ3UGxSZGJiOUh2SHZqS1N6M3B4YTJBMl">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762000" y="2286000"/>
            <a:ext cx="7784761" cy="3886200"/>
          </a:xfrm>
          <a:prstGeom prst="rect">
            <a:avLst/>
          </a:prstGeom>
        </p:spPr>
      </p:pic>
    </p:spTree>
    <p:extLst>
      <p:ext uri="{BB962C8B-B14F-4D97-AF65-F5344CB8AC3E}">
        <p14:creationId xmlns:p14="http://schemas.microsoft.com/office/powerpoint/2010/main" val="45564440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7"/>
                                        </p:tgtEl>
                                      </p:cBhvr>
                                    </p:cmd>
                                  </p:childTnLst>
                                </p:cTn>
                              </p:par>
                            </p:childTnLst>
                          </p:cTn>
                        </p:par>
                      </p:childTnLst>
                    </p:cTn>
                  </p:par>
                </p:childTnLst>
              </p:cTn>
              <p:nextCondLst>
                <p:cond evt="onClick" delay="0">
                  <p:tgtEl>
                    <p:spTgt spid="7"/>
                  </p:tgtEl>
                </p:cond>
              </p:nextCondLst>
            </p:seq>
            <p:video>
              <p:cMediaNode vol="80000">
                <p:cTn id="7" fill="hold" display="0">
                  <p:stCondLst>
                    <p:cond delay="indefinite"/>
                  </p:stCondLst>
                </p:cTn>
                <p:tgtEl>
                  <p:spTgt spid="7"/>
                </p:tgtEl>
              </p:cMediaNode>
            </p:vide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ترانزیستور </a:t>
            </a:r>
            <a:r>
              <a:rPr lang="en-US" dirty="0"/>
              <a:t>MOSFET</a:t>
            </a:r>
            <a:endParaRPr lang="fa-IR" dirty="0"/>
          </a:p>
        </p:txBody>
      </p:sp>
      <p:sp>
        <p:nvSpPr>
          <p:cNvPr id="3" name="Content Placeholder 2"/>
          <p:cNvSpPr>
            <a:spLocks noGrp="1"/>
          </p:cNvSpPr>
          <p:nvPr>
            <p:ph sz="quarter" idx="1"/>
          </p:nvPr>
        </p:nvSpPr>
        <p:spPr/>
        <p:txBody>
          <a:bodyPr/>
          <a:lstStyle/>
          <a:p>
            <a:r>
              <a:rPr lang="fa-IR" dirty="0"/>
              <a:t>دارای سه پایه به نام‌های:</a:t>
            </a:r>
          </a:p>
          <a:p>
            <a:pPr lvl="1"/>
            <a:r>
              <a:rPr lang="en-US" dirty="0"/>
              <a:t>G</a:t>
            </a:r>
            <a:r>
              <a:rPr lang="fa-IR" dirty="0"/>
              <a:t> (</a:t>
            </a:r>
            <a:r>
              <a:rPr lang="en-US" dirty="0"/>
              <a:t>Gate</a:t>
            </a:r>
            <a:r>
              <a:rPr lang="fa-IR" dirty="0"/>
              <a:t>)</a:t>
            </a:r>
            <a:endParaRPr lang="en-US" dirty="0"/>
          </a:p>
          <a:p>
            <a:pPr lvl="1"/>
            <a:r>
              <a:rPr lang="en-US" dirty="0"/>
              <a:t>S</a:t>
            </a:r>
            <a:r>
              <a:rPr lang="fa-IR" dirty="0"/>
              <a:t> (</a:t>
            </a:r>
            <a:r>
              <a:rPr lang="en-US" dirty="0"/>
              <a:t>Source</a:t>
            </a:r>
            <a:r>
              <a:rPr lang="fa-IR" dirty="0"/>
              <a:t>)</a:t>
            </a:r>
            <a:endParaRPr lang="en-US" dirty="0"/>
          </a:p>
          <a:p>
            <a:pPr lvl="1"/>
            <a:r>
              <a:rPr lang="en-US" dirty="0"/>
              <a:t>D</a:t>
            </a:r>
            <a:r>
              <a:rPr lang="fa-IR" dirty="0"/>
              <a:t> (</a:t>
            </a:r>
            <a:r>
              <a:rPr lang="en-US" dirty="0"/>
              <a:t>Drain</a:t>
            </a:r>
            <a:r>
              <a:rPr lang="fa-IR" dirty="0"/>
              <a:t>)</a:t>
            </a:r>
          </a:p>
        </p:txBody>
      </p:sp>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11. ترانزیستور</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6</a:t>
            </a:fld>
            <a:endParaRPr lang="en-US" altLang="en-US" dirty="0"/>
          </a:p>
        </p:txBody>
      </p:sp>
      <p:grpSp>
        <p:nvGrpSpPr>
          <p:cNvPr id="33" name="Group 32"/>
          <p:cNvGrpSpPr/>
          <p:nvPr/>
        </p:nvGrpSpPr>
        <p:grpSpPr>
          <a:xfrm>
            <a:off x="4191000" y="3352800"/>
            <a:ext cx="4532322" cy="2916199"/>
            <a:chOff x="411947" y="2983468"/>
            <a:chExt cx="4532322" cy="2916199"/>
          </a:xfrm>
        </p:grpSpPr>
        <p:pic>
          <p:nvPicPr>
            <p:cNvPr id="51202" name="Picture 2" descr="https://upload.wikimedia.org/wikipedia/commons/thumb/a/a4/NMOS_E_ON.svg/282px-NMOS_E_ON.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8219" y="3429000"/>
              <a:ext cx="2686050" cy="2286001"/>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p:cNvSpPr txBox="1"/>
            <p:nvPr/>
          </p:nvSpPr>
          <p:spPr>
            <a:xfrm>
              <a:off x="2667000" y="2983468"/>
              <a:ext cx="748923" cy="369332"/>
            </a:xfrm>
            <a:prstGeom prst="rect">
              <a:avLst/>
            </a:prstGeom>
            <a:noFill/>
          </p:spPr>
          <p:txBody>
            <a:bodyPr wrap="none" rtlCol="1">
              <a:spAutoFit/>
            </a:bodyPr>
            <a:lstStyle/>
            <a:p>
              <a:r>
                <a:rPr lang="en-US" dirty="0"/>
                <a:t>Metal</a:t>
              </a:r>
              <a:endParaRPr lang="fa-IR" dirty="0"/>
            </a:p>
          </p:txBody>
        </p:sp>
        <p:sp>
          <p:nvSpPr>
            <p:cNvPr id="18" name="TextBox 17"/>
            <p:cNvSpPr txBox="1"/>
            <p:nvPr/>
          </p:nvSpPr>
          <p:spPr>
            <a:xfrm>
              <a:off x="886460" y="3944026"/>
              <a:ext cx="1518364" cy="369332"/>
            </a:xfrm>
            <a:prstGeom prst="rect">
              <a:avLst/>
            </a:prstGeom>
            <a:noFill/>
          </p:spPr>
          <p:txBody>
            <a:bodyPr wrap="none" rtlCol="1">
              <a:spAutoFit/>
            </a:bodyPr>
            <a:lstStyle/>
            <a:p>
              <a:r>
                <a:rPr lang="en-US" dirty="0"/>
                <a:t>Oxide (SiO2)</a:t>
              </a:r>
              <a:endParaRPr lang="fa-IR" dirty="0"/>
            </a:p>
          </p:txBody>
        </p:sp>
        <p:sp>
          <p:nvSpPr>
            <p:cNvPr id="19" name="TextBox 18"/>
            <p:cNvSpPr txBox="1"/>
            <p:nvPr/>
          </p:nvSpPr>
          <p:spPr>
            <a:xfrm>
              <a:off x="411947" y="5530335"/>
              <a:ext cx="1723549" cy="369332"/>
            </a:xfrm>
            <a:prstGeom prst="rect">
              <a:avLst/>
            </a:prstGeom>
            <a:noFill/>
          </p:spPr>
          <p:txBody>
            <a:bodyPr wrap="none" rtlCol="1">
              <a:spAutoFit/>
            </a:bodyPr>
            <a:lstStyle/>
            <a:p>
              <a:r>
                <a:rPr lang="en-US" dirty="0"/>
                <a:t>Semiconductor</a:t>
              </a:r>
              <a:endParaRPr lang="fa-IR" dirty="0"/>
            </a:p>
          </p:txBody>
        </p:sp>
        <p:cxnSp>
          <p:nvCxnSpPr>
            <p:cNvPr id="20" name="Straight Arrow Connector 19"/>
            <p:cNvCxnSpPr/>
            <p:nvPr/>
          </p:nvCxnSpPr>
          <p:spPr>
            <a:xfrm>
              <a:off x="2362200" y="4267200"/>
              <a:ext cx="762000" cy="26959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3034923" y="3370401"/>
              <a:ext cx="381000" cy="103159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V="1">
              <a:off x="2204213" y="4743151"/>
              <a:ext cx="1397031" cy="97185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7" name="Group 6"/>
          <p:cNvGrpSpPr/>
          <p:nvPr/>
        </p:nvGrpSpPr>
        <p:grpSpPr>
          <a:xfrm>
            <a:off x="438758" y="1143000"/>
            <a:ext cx="3828442" cy="3563799"/>
            <a:chOff x="533400" y="1143000"/>
            <a:chExt cx="3828442" cy="3563799"/>
          </a:xfrm>
        </p:grpSpPr>
        <p:pic>
          <p:nvPicPr>
            <p:cNvPr id="27" name="Picture 26"/>
            <p:cNvPicPr>
              <a:picLocks noChangeAspect="1"/>
            </p:cNvPicPr>
            <p:nvPr/>
          </p:nvPicPr>
          <p:blipFill>
            <a:blip r:embed="rId4"/>
            <a:stretch>
              <a:fillRect/>
            </a:stretch>
          </p:blipFill>
          <p:spPr>
            <a:xfrm>
              <a:off x="1663347" y="1610273"/>
              <a:ext cx="1169956" cy="1414947"/>
            </a:xfrm>
            <a:prstGeom prst="rect">
              <a:avLst/>
            </a:prstGeom>
          </p:spPr>
        </p:pic>
        <p:pic>
          <p:nvPicPr>
            <p:cNvPr id="28" name="Picture 27"/>
            <p:cNvPicPr>
              <a:picLocks noChangeAspect="1"/>
            </p:cNvPicPr>
            <p:nvPr/>
          </p:nvPicPr>
          <p:blipFill>
            <a:blip r:embed="rId5"/>
            <a:stretch>
              <a:fillRect/>
            </a:stretch>
          </p:blipFill>
          <p:spPr>
            <a:xfrm>
              <a:off x="3162348" y="1529644"/>
              <a:ext cx="1194955" cy="1489944"/>
            </a:xfrm>
            <a:prstGeom prst="rect">
              <a:avLst/>
            </a:prstGeom>
          </p:spPr>
        </p:pic>
        <p:pic>
          <p:nvPicPr>
            <p:cNvPr id="30" name="Picture 29"/>
            <p:cNvPicPr>
              <a:picLocks noChangeAspect="1"/>
            </p:cNvPicPr>
            <p:nvPr/>
          </p:nvPicPr>
          <p:blipFill>
            <a:blip r:embed="rId6"/>
            <a:stretch>
              <a:fillRect/>
            </a:stretch>
          </p:blipFill>
          <p:spPr>
            <a:xfrm>
              <a:off x="1728515" y="3082056"/>
              <a:ext cx="1124958" cy="1489944"/>
            </a:xfrm>
            <a:prstGeom prst="rect">
              <a:avLst/>
            </a:prstGeom>
          </p:spPr>
        </p:pic>
        <p:pic>
          <p:nvPicPr>
            <p:cNvPr id="31" name="Picture 30"/>
            <p:cNvPicPr>
              <a:picLocks noChangeAspect="1"/>
            </p:cNvPicPr>
            <p:nvPr/>
          </p:nvPicPr>
          <p:blipFill>
            <a:blip r:embed="rId7"/>
            <a:stretch>
              <a:fillRect/>
            </a:stretch>
          </p:blipFill>
          <p:spPr>
            <a:xfrm>
              <a:off x="3236884" y="3059115"/>
              <a:ext cx="1124958" cy="1444946"/>
            </a:xfrm>
            <a:prstGeom prst="rect">
              <a:avLst/>
            </a:prstGeom>
          </p:spPr>
        </p:pic>
        <p:sp>
          <p:nvSpPr>
            <p:cNvPr id="34" name="TextBox 33"/>
            <p:cNvSpPr txBox="1"/>
            <p:nvPr/>
          </p:nvSpPr>
          <p:spPr>
            <a:xfrm>
              <a:off x="1946608" y="1149219"/>
              <a:ext cx="877163" cy="369332"/>
            </a:xfrm>
            <a:prstGeom prst="rect">
              <a:avLst/>
            </a:prstGeom>
            <a:noFill/>
          </p:spPr>
          <p:txBody>
            <a:bodyPr wrap="none" rtlCol="1">
              <a:spAutoFit/>
            </a:bodyPr>
            <a:lstStyle/>
            <a:p>
              <a:r>
                <a:rPr lang="en-US" dirty="0"/>
                <a:t>NMOS</a:t>
              </a:r>
              <a:endParaRPr lang="fa-IR" dirty="0"/>
            </a:p>
          </p:txBody>
        </p:sp>
        <p:sp>
          <p:nvSpPr>
            <p:cNvPr id="35" name="TextBox 34"/>
            <p:cNvSpPr txBox="1"/>
            <p:nvPr/>
          </p:nvSpPr>
          <p:spPr>
            <a:xfrm>
              <a:off x="3366703" y="1143000"/>
              <a:ext cx="864339" cy="369332"/>
            </a:xfrm>
            <a:prstGeom prst="rect">
              <a:avLst/>
            </a:prstGeom>
            <a:noFill/>
          </p:spPr>
          <p:txBody>
            <a:bodyPr wrap="none" rtlCol="1">
              <a:spAutoFit/>
            </a:bodyPr>
            <a:lstStyle/>
            <a:p>
              <a:r>
                <a:rPr lang="en-US" dirty="0"/>
                <a:t>PMOS</a:t>
              </a:r>
              <a:endParaRPr lang="fa-IR" dirty="0"/>
            </a:p>
          </p:txBody>
        </p:sp>
        <p:cxnSp>
          <p:nvCxnSpPr>
            <p:cNvPr id="36" name="Straight Connector 35"/>
            <p:cNvCxnSpPr/>
            <p:nvPr/>
          </p:nvCxnSpPr>
          <p:spPr>
            <a:xfrm>
              <a:off x="3061903" y="1223011"/>
              <a:ext cx="0" cy="34837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533400" y="2073307"/>
              <a:ext cx="966931" cy="369332"/>
            </a:xfrm>
            <a:prstGeom prst="rect">
              <a:avLst/>
            </a:prstGeom>
            <a:noFill/>
          </p:spPr>
          <p:txBody>
            <a:bodyPr wrap="none" rtlCol="1">
              <a:spAutoFit/>
            </a:bodyPr>
            <a:lstStyle/>
            <a:p>
              <a:r>
                <a:rPr lang="en-US" dirty="0"/>
                <a:t>Analog:</a:t>
              </a:r>
              <a:endParaRPr lang="fa-IR" dirty="0"/>
            </a:p>
          </p:txBody>
        </p:sp>
        <p:sp>
          <p:nvSpPr>
            <p:cNvPr id="39" name="TextBox 38"/>
            <p:cNvSpPr txBox="1"/>
            <p:nvPr/>
          </p:nvSpPr>
          <p:spPr>
            <a:xfrm>
              <a:off x="547303" y="3669268"/>
              <a:ext cx="889987" cy="369332"/>
            </a:xfrm>
            <a:prstGeom prst="rect">
              <a:avLst/>
            </a:prstGeom>
            <a:noFill/>
          </p:spPr>
          <p:txBody>
            <a:bodyPr wrap="none" rtlCol="1">
              <a:spAutoFit/>
            </a:bodyPr>
            <a:lstStyle/>
            <a:p>
              <a:r>
                <a:rPr lang="en-US" dirty="0"/>
                <a:t>Digital:</a:t>
              </a:r>
              <a:endParaRPr lang="fa-IR" dirty="0"/>
            </a:p>
          </p:txBody>
        </p:sp>
      </p:grpSp>
    </p:spTree>
    <p:extLst>
      <p:ext uri="{BB962C8B-B14F-4D97-AF65-F5344CB8AC3E}">
        <p14:creationId xmlns:p14="http://schemas.microsoft.com/office/powerpoint/2010/main" val="19560454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نحوه عملکرد ترانزیستور </a:t>
            </a:r>
            <a:r>
              <a:rPr lang="en-US" dirty="0"/>
              <a:t>MOSFET</a:t>
            </a:r>
            <a:endParaRPr lang="fa-IR" dirty="0"/>
          </a:p>
        </p:txBody>
      </p:sp>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11. ترانزیستور</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7</a:t>
            </a:fld>
            <a:endParaRPr lang="en-US" altLang="en-US" dirty="0"/>
          </a:p>
        </p:txBody>
      </p:sp>
      <p:pic>
        <p:nvPicPr>
          <p:cNvPr id="9" name="YzhoczlUaHpPVlFUUWtTM2hVTGdHakFQVnIzZlMyc3c0OHpkbDlkSzk3UFRSZllIUlpIQlVDTE01VkR3NzBxcjcybjAwZUxNNklra1VEeDRjeVU2U29zNXVNaS95RFJaNjhaeXN1dnBrZ0lwOS9jbUhydG9leWlORllxQTZiQTNoa2JRNFRKV2ZhV0">
            <a:hlinkClick r:id="" action="ppaction://media"/>
          </p:cNvPr>
          <p:cNvPicPr>
            <a:picLocks noGrp="1" noChangeAspect="1"/>
          </p:cNvPicPr>
          <p:nvPr>
            <p:ph sz="quarter" idx="1"/>
            <a:videoFile r:link="rId2"/>
            <p:extLst>
              <p:ext uri="{DAA4B4D4-6D71-4841-9C94-3DE7FCFB9230}">
                <p14:media xmlns:p14="http://schemas.microsoft.com/office/powerpoint/2010/main" r:embed="rId1"/>
              </p:ext>
            </p:extLst>
          </p:nvPr>
        </p:nvPicPr>
        <p:blipFill>
          <a:blip r:embed="rId4"/>
          <a:stretch>
            <a:fillRect/>
          </a:stretch>
        </p:blipFill>
        <p:spPr>
          <a:xfrm>
            <a:off x="612775" y="2209800"/>
            <a:ext cx="8153400" cy="3962400"/>
          </a:xfrm>
        </p:spPr>
      </p:pic>
      <p:sp>
        <p:nvSpPr>
          <p:cNvPr id="7" name="Content Placeholder 2"/>
          <p:cNvSpPr txBox="1">
            <a:spLocks/>
          </p:cNvSpPr>
          <p:nvPr/>
        </p:nvSpPr>
        <p:spPr bwMode="auto">
          <a:xfrm>
            <a:off x="612648" y="1219200"/>
            <a:ext cx="81534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9088" indent="-319088" algn="r" rtl="1" eaLnBrk="0" fontAlgn="base" hangingPunct="0">
              <a:spcBef>
                <a:spcPts val="700"/>
              </a:spcBef>
              <a:spcAft>
                <a:spcPct val="0"/>
              </a:spcAft>
              <a:buClr>
                <a:schemeClr val="accent2"/>
              </a:buClr>
              <a:buSzPct val="60000"/>
              <a:buFont typeface="Wingdings" pitchFamily="2" charset="2"/>
              <a:buChar char=""/>
              <a:defRPr sz="2900" kern="1200">
                <a:solidFill>
                  <a:schemeClr val="tx1"/>
                </a:solidFill>
                <a:latin typeface="+mn-lt"/>
                <a:ea typeface="+mn-ea"/>
                <a:cs typeface="B Nazanin" panose="00000400000000000000" pitchFamily="2" charset="-78"/>
              </a:defRPr>
            </a:lvl1pPr>
            <a:lvl2pPr marL="639763" indent="-273050" algn="r" rtl="1" eaLnBrk="0" fontAlgn="base" hangingPunct="0">
              <a:spcBef>
                <a:spcPts val="550"/>
              </a:spcBef>
              <a:spcAft>
                <a:spcPct val="0"/>
              </a:spcAft>
              <a:buClr>
                <a:schemeClr val="accent1"/>
              </a:buClr>
              <a:buSzPct val="70000"/>
              <a:buFont typeface="Wingdings 2" pitchFamily="18" charset="2"/>
              <a:buChar char=""/>
              <a:defRPr sz="2600" kern="1200">
                <a:solidFill>
                  <a:schemeClr val="tx1"/>
                </a:solidFill>
                <a:latin typeface="+mn-lt"/>
                <a:ea typeface="+mn-ea"/>
                <a:cs typeface="B Nazanin" panose="00000400000000000000" pitchFamily="2" charset="-78"/>
              </a:defRPr>
            </a:lvl2pPr>
            <a:lvl3pPr marL="914400" indent="-228600" algn="r" rtl="1" eaLnBrk="0" fontAlgn="base" hangingPunct="0">
              <a:spcBef>
                <a:spcPts val="500"/>
              </a:spcBef>
              <a:spcAft>
                <a:spcPct val="0"/>
              </a:spcAft>
              <a:buClr>
                <a:schemeClr val="accent2"/>
              </a:buClr>
              <a:buSzPct val="75000"/>
              <a:buFont typeface="Wingdings" pitchFamily="2" charset="2"/>
              <a:buChar char=""/>
              <a:defRPr sz="2300" kern="1200">
                <a:solidFill>
                  <a:schemeClr val="tx1"/>
                </a:solidFill>
                <a:latin typeface="+mn-lt"/>
                <a:ea typeface="+mn-ea"/>
                <a:cs typeface="B Nazanin" panose="00000400000000000000" pitchFamily="2" charset="-78"/>
              </a:defRPr>
            </a:lvl3pPr>
            <a:lvl4pPr marL="1371600" indent="-228600" algn="r" rtl="1" eaLnBrk="0" fontAlgn="base" hangingPunct="0">
              <a:spcBef>
                <a:spcPts val="400"/>
              </a:spcBef>
              <a:spcAft>
                <a:spcPct val="0"/>
              </a:spcAft>
              <a:buClr>
                <a:srgbClr val="A5AB81"/>
              </a:buClr>
              <a:buSzPct val="75000"/>
              <a:buFont typeface="Wingdings" pitchFamily="2" charset="2"/>
              <a:buChar char=""/>
              <a:defRPr sz="2000" kern="1200">
                <a:solidFill>
                  <a:schemeClr val="tx1"/>
                </a:solidFill>
                <a:latin typeface="+mn-lt"/>
                <a:ea typeface="+mn-ea"/>
                <a:cs typeface="B Nazanin" panose="00000400000000000000" pitchFamily="2" charset="-78"/>
              </a:defRPr>
            </a:lvl4pPr>
            <a:lvl5pPr marL="1828800" indent="-228600" algn="r" rtl="1" eaLnBrk="0" fontAlgn="base" hangingPunct="0">
              <a:spcBef>
                <a:spcPts val="400"/>
              </a:spcBef>
              <a:spcAft>
                <a:spcPct val="0"/>
              </a:spcAft>
              <a:buClr>
                <a:srgbClr val="D8B25C"/>
              </a:buClr>
              <a:buSzPct val="65000"/>
              <a:buFont typeface="Wingdings" pitchFamily="2" charset="2"/>
              <a:buChar char=""/>
              <a:defRPr sz="2000" kern="1200">
                <a:solidFill>
                  <a:schemeClr val="tx1"/>
                </a:solidFill>
                <a:latin typeface="+mn-lt"/>
                <a:ea typeface="+mn-ea"/>
                <a:cs typeface="B Nazanin" panose="00000400000000000000" pitchFamily="2" charset="-78"/>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r>
              <a:rPr lang="fa-IR" dirty="0"/>
              <a:t>اعمال یک ولتاژ کافی به گیت، باعث عبور جریان متناسب بین درین و سورس می‌شود.</a:t>
            </a:r>
          </a:p>
        </p:txBody>
      </p:sp>
    </p:spTree>
    <p:extLst>
      <p:ext uri="{BB962C8B-B14F-4D97-AF65-F5344CB8AC3E}">
        <p14:creationId xmlns:p14="http://schemas.microsoft.com/office/powerpoint/2010/main" val="89077794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9"/>
                                        </p:tgtEl>
                                      </p:cBhvr>
                                    </p:cmd>
                                  </p:childTnLst>
                                </p:cTn>
                              </p:par>
                            </p:childTnLst>
                          </p:cTn>
                        </p:par>
                      </p:childTnLst>
                    </p:cTn>
                  </p:par>
                </p:childTnLst>
              </p:cTn>
              <p:nextCondLst>
                <p:cond evt="onClick" delay="0">
                  <p:tgtEl>
                    <p:spTgt spid="9"/>
                  </p:tgtEl>
                </p:cond>
              </p:nextCondLst>
            </p:seq>
            <p:video>
              <p:cMediaNode vol="80000">
                <p:cTn id="7" fill="hold" display="0">
                  <p:stCondLst>
                    <p:cond delay="indefinite"/>
                  </p:stCondLst>
                </p:cTn>
                <p:tgtEl>
                  <p:spTgt spid="9"/>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تفاوت‌های ترانزیستور </a:t>
            </a:r>
            <a:r>
              <a:rPr lang="en-US" dirty="0"/>
              <a:t>BJT</a:t>
            </a:r>
            <a:r>
              <a:rPr lang="fa-IR" dirty="0"/>
              <a:t> و </a:t>
            </a:r>
            <a:r>
              <a:rPr lang="en-US" dirty="0"/>
              <a:t>MOSFET</a:t>
            </a:r>
            <a:endParaRPr lang="fa-IR" dirty="0"/>
          </a:p>
        </p:txBody>
      </p:sp>
      <p:graphicFrame>
        <p:nvGraphicFramePr>
          <p:cNvPr id="7" name="Content Placeholder 6"/>
          <p:cNvGraphicFramePr>
            <a:graphicFrameLocks noGrp="1"/>
          </p:cNvGraphicFramePr>
          <p:nvPr>
            <p:ph sz="quarter" idx="1"/>
            <p:extLst>
              <p:ext uri="{D42A27DB-BD31-4B8C-83A1-F6EECF244321}">
                <p14:modId xmlns:p14="http://schemas.microsoft.com/office/powerpoint/2010/main" val="1641776591"/>
              </p:ext>
            </p:extLst>
          </p:nvPr>
        </p:nvGraphicFramePr>
        <p:xfrm>
          <a:off x="612774" y="1554480"/>
          <a:ext cx="8111678" cy="3474720"/>
        </p:xfrm>
        <a:graphic>
          <a:graphicData uri="http://schemas.openxmlformats.org/drawingml/2006/table">
            <a:tbl>
              <a:tblPr rtl="1" firstRow="1" bandRow="1">
                <a:tableStyleId>{5C22544A-7EE6-4342-B048-85BDC9FD1C3A}</a:tableStyleId>
              </a:tblPr>
              <a:tblGrid>
                <a:gridCol w="4055839">
                  <a:extLst>
                    <a:ext uri="{9D8B030D-6E8A-4147-A177-3AD203B41FA5}">
                      <a16:colId xmlns:a16="http://schemas.microsoft.com/office/drawing/2014/main" val="20000"/>
                    </a:ext>
                  </a:extLst>
                </a:gridCol>
                <a:gridCol w="4055839">
                  <a:extLst>
                    <a:ext uri="{9D8B030D-6E8A-4147-A177-3AD203B41FA5}">
                      <a16:colId xmlns:a16="http://schemas.microsoft.com/office/drawing/2014/main" val="20001"/>
                    </a:ext>
                  </a:extLst>
                </a:gridCol>
              </a:tblGrid>
              <a:tr h="371438">
                <a:tc>
                  <a:txBody>
                    <a:bodyPr/>
                    <a:lstStyle/>
                    <a:p>
                      <a:pPr algn="ctr" rtl="1"/>
                      <a:r>
                        <a:rPr lang="en-US" sz="2400" dirty="0"/>
                        <a:t>BJT</a:t>
                      </a:r>
                      <a:endParaRPr lang="fa-IR" sz="2400" dirty="0"/>
                    </a:p>
                  </a:txBody>
                  <a:tcPr anchor="ctr"/>
                </a:tc>
                <a:tc>
                  <a:txBody>
                    <a:bodyPr/>
                    <a:lstStyle/>
                    <a:p>
                      <a:pPr algn="ctr" rtl="1"/>
                      <a:r>
                        <a:rPr lang="en-US" sz="2400" dirty="0"/>
                        <a:t>MOSFET</a:t>
                      </a:r>
                      <a:endParaRPr lang="fa-IR" sz="2400" dirty="0"/>
                    </a:p>
                  </a:txBody>
                  <a:tcPr anchor="ctr"/>
                </a:tc>
                <a:extLst>
                  <a:ext uri="{0D108BD9-81ED-4DB2-BD59-A6C34878D82A}">
                    <a16:rowId xmlns:a16="http://schemas.microsoft.com/office/drawing/2014/main" val="10000"/>
                  </a:ext>
                </a:extLst>
              </a:tr>
              <a:tr h="371438">
                <a:tc>
                  <a:txBody>
                    <a:bodyPr/>
                    <a:lstStyle/>
                    <a:p>
                      <a:pPr algn="ctr" rtl="1"/>
                      <a:r>
                        <a:rPr lang="fa-IR" sz="2400" dirty="0">
                          <a:cs typeface="B Nazanin" panose="00000400000000000000" pitchFamily="2" charset="-78"/>
                        </a:rPr>
                        <a:t>ساختار نامتقارن</a:t>
                      </a:r>
                    </a:p>
                  </a:txBody>
                  <a:tcPr anchor="ctr"/>
                </a:tc>
                <a:tc>
                  <a:txBody>
                    <a:bodyPr/>
                    <a:lstStyle/>
                    <a:p>
                      <a:pPr algn="ctr" rtl="1"/>
                      <a:r>
                        <a:rPr lang="fa-IR" sz="2400" dirty="0">
                          <a:cs typeface="B Nazanin" panose="00000400000000000000" pitchFamily="2" charset="-78"/>
                        </a:rPr>
                        <a:t>ساختار متقارن</a:t>
                      </a:r>
                    </a:p>
                  </a:txBody>
                  <a:tcPr anchor="ctr"/>
                </a:tc>
                <a:extLst>
                  <a:ext uri="{0D108BD9-81ED-4DB2-BD59-A6C34878D82A}">
                    <a16:rowId xmlns:a16="http://schemas.microsoft.com/office/drawing/2014/main" val="10001"/>
                  </a:ext>
                </a:extLst>
              </a:tr>
              <a:tr h="371438">
                <a:tc>
                  <a:txBody>
                    <a:bodyPr/>
                    <a:lstStyle/>
                    <a:p>
                      <a:pPr algn="ctr" rtl="1"/>
                      <a:r>
                        <a:rPr lang="fa-IR" sz="2400" dirty="0">
                          <a:cs typeface="B Nazanin" panose="00000400000000000000" pitchFamily="2" charset="-78"/>
                        </a:rPr>
                        <a:t>جریان</a:t>
                      </a:r>
                      <a:r>
                        <a:rPr lang="fa-IR" sz="2400" baseline="0" dirty="0">
                          <a:cs typeface="B Nazanin" panose="00000400000000000000" pitchFamily="2" charset="-78"/>
                        </a:rPr>
                        <a:t> بیس، جریان کلکتور-امیتر را کنترل می‌کند.</a:t>
                      </a:r>
                      <a:endParaRPr lang="fa-IR" sz="2400" dirty="0">
                        <a:cs typeface="B Nazanin" panose="00000400000000000000" pitchFamily="2" charset="-78"/>
                      </a:endParaRPr>
                    </a:p>
                  </a:txBody>
                  <a:tcPr anchor="ctr"/>
                </a:tc>
                <a:tc>
                  <a:txBody>
                    <a:bodyPr/>
                    <a:lstStyle/>
                    <a:p>
                      <a:pPr algn="ctr" rtl="1"/>
                      <a:r>
                        <a:rPr lang="fa-IR" sz="2400" dirty="0">
                          <a:cs typeface="B Nazanin" panose="00000400000000000000" pitchFamily="2" charset="-78"/>
                        </a:rPr>
                        <a:t>ولتاژ گیت،</a:t>
                      </a:r>
                      <a:r>
                        <a:rPr lang="fa-IR" sz="2400" baseline="0" dirty="0">
                          <a:cs typeface="B Nazanin" panose="00000400000000000000" pitchFamily="2" charset="-78"/>
                        </a:rPr>
                        <a:t> جریان سورس-درین را کنترل می‌کند.</a:t>
                      </a:r>
                      <a:endParaRPr lang="fa-IR" sz="2400" dirty="0">
                        <a:cs typeface="B Nazanin" panose="00000400000000000000" pitchFamily="2" charset="-78"/>
                      </a:endParaRPr>
                    </a:p>
                  </a:txBody>
                  <a:tcPr anchor="ctr"/>
                </a:tc>
                <a:extLst>
                  <a:ext uri="{0D108BD9-81ED-4DB2-BD59-A6C34878D82A}">
                    <a16:rowId xmlns:a16="http://schemas.microsoft.com/office/drawing/2014/main" val="10002"/>
                  </a:ext>
                </a:extLst>
              </a:tr>
              <a:tr h="371438">
                <a:tc>
                  <a:txBody>
                    <a:bodyPr/>
                    <a:lstStyle/>
                    <a:p>
                      <a:pPr algn="ctr" rtl="1"/>
                      <a:r>
                        <a:rPr lang="fa-IR" sz="2400" dirty="0">
                          <a:cs typeface="B Nazanin" panose="00000400000000000000" pitchFamily="2" charset="-78"/>
                        </a:rPr>
                        <a:t>توان مصرفی زیاد (به دلیل غیرصفر بودن جریان ورودی)</a:t>
                      </a:r>
                    </a:p>
                  </a:txBody>
                  <a:tcPr anchor="ctr"/>
                </a:tc>
                <a:tc>
                  <a:txBody>
                    <a:bodyPr/>
                    <a:lstStyle/>
                    <a:p>
                      <a:pPr algn="ctr" rtl="1"/>
                      <a:r>
                        <a:rPr lang="fa-IR" sz="2400" dirty="0">
                          <a:cs typeface="B Nazanin" panose="00000400000000000000" pitchFamily="2" charset="-78"/>
                        </a:rPr>
                        <a:t>توان</a:t>
                      </a:r>
                      <a:r>
                        <a:rPr lang="fa-IR" sz="2400" baseline="0" dirty="0">
                          <a:cs typeface="B Nazanin" panose="00000400000000000000" pitchFamily="2" charset="-78"/>
                        </a:rPr>
                        <a:t> مصرفی کم و مناسب برای مدارها با تعداد بسیار زیاد ترانزیستور</a:t>
                      </a:r>
                      <a:endParaRPr lang="fa-IR" sz="2400" dirty="0">
                        <a:cs typeface="B Nazanin" panose="00000400000000000000" pitchFamily="2" charset="-78"/>
                      </a:endParaRPr>
                    </a:p>
                  </a:txBody>
                  <a:tcPr anchor="ctr"/>
                </a:tc>
                <a:extLst>
                  <a:ext uri="{0D108BD9-81ED-4DB2-BD59-A6C34878D82A}">
                    <a16:rowId xmlns:a16="http://schemas.microsoft.com/office/drawing/2014/main" val="10003"/>
                  </a:ext>
                </a:extLst>
              </a:tr>
              <a:tr h="371438">
                <a:tc>
                  <a:txBody>
                    <a:bodyPr/>
                    <a:lstStyle/>
                    <a:p>
                      <a:pPr algn="ctr" rtl="1"/>
                      <a:r>
                        <a:rPr lang="fa-IR" sz="2400" dirty="0">
                          <a:cs typeface="B Nazanin" panose="00000400000000000000" pitchFamily="2" charset="-78"/>
                        </a:rPr>
                        <a:t>مناسب برای مدارهای آنالوگ فرکانس بالا</a:t>
                      </a:r>
                    </a:p>
                  </a:txBody>
                  <a:tcPr anchor="ctr"/>
                </a:tc>
                <a:tc>
                  <a:txBody>
                    <a:bodyPr/>
                    <a:lstStyle/>
                    <a:p>
                      <a:pPr algn="ctr" rtl="1"/>
                      <a:r>
                        <a:rPr lang="fa-IR" sz="2400" dirty="0">
                          <a:cs typeface="B Nazanin" panose="00000400000000000000" pitchFamily="2" charset="-78"/>
                        </a:rPr>
                        <a:t>مناسب برای مدارهای آنالوگ</a:t>
                      </a:r>
                      <a:r>
                        <a:rPr lang="fa-IR" sz="2400" baseline="0" dirty="0">
                          <a:cs typeface="B Nazanin" panose="00000400000000000000" pitchFamily="2" charset="-78"/>
                        </a:rPr>
                        <a:t> و دیجیتال</a:t>
                      </a:r>
                      <a:endParaRPr lang="fa-IR" sz="2400" dirty="0">
                        <a:cs typeface="B Nazanin" panose="00000400000000000000" pitchFamily="2" charset="-78"/>
                      </a:endParaRPr>
                    </a:p>
                  </a:txBody>
                  <a:tcPr anchor="ctr"/>
                </a:tc>
                <a:extLst>
                  <a:ext uri="{0D108BD9-81ED-4DB2-BD59-A6C34878D82A}">
                    <a16:rowId xmlns:a16="http://schemas.microsoft.com/office/drawing/2014/main" val="10004"/>
                  </a:ext>
                </a:extLst>
              </a:tr>
              <a:tr h="371438">
                <a:tc>
                  <a:txBody>
                    <a:bodyPr/>
                    <a:lstStyle/>
                    <a:p>
                      <a:pPr algn="ctr" rtl="1"/>
                      <a:r>
                        <a:rPr lang="fa-IR" sz="2400" dirty="0">
                          <a:cs typeface="B Nazanin" panose="00000400000000000000" pitchFamily="2" charset="-78"/>
                        </a:rPr>
                        <a:t>وابستگی</a:t>
                      </a:r>
                      <a:r>
                        <a:rPr lang="fa-IR" sz="2400" baseline="0" dirty="0">
                          <a:cs typeface="B Nazanin" panose="00000400000000000000" pitchFamily="2" charset="-78"/>
                        </a:rPr>
                        <a:t> زیاد بهره به دما</a:t>
                      </a:r>
                      <a:endParaRPr lang="fa-IR" sz="2400" dirty="0">
                        <a:cs typeface="B Nazanin" panose="00000400000000000000" pitchFamily="2" charset="-78"/>
                      </a:endParaRPr>
                    </a:p>
                  </a:txBody>
                  <a:tcPr anchor="ctr"/>
                </a:tc>
                <a:tc>
                  <a:txBody>
                    <a:bodyPr/>
                    <a:lstStyle/>
                    <a:p>
                      <a:pPr algn="ctr" rtl="1"/>
                      <a:r>
                        <a:rPr lang="fa-IR" sz="2400" dirty="0">
                          <a:cs typeface="B Nazanin" panose="00000400000000000000" pitchFamily="2" charset="-78"/>
                        </a:rPr>
                        <a:t>وابستگی</a:t>
                      </a:r>
                      <a:r>
                        <a:rPr lang="fa-IR" sz="2400" baseline="0" dirty="0">
                          <a:cs typeface="B Nazanin" panose="00000400000000000000" pitchFamily="2" charset="-78"/>
                        </a:rPr>
                        <a:t> کم بهره به دما</a:t>
                      </a:r>
                      <a:endParaRPr lang="fa-IR" sz="2400" dirty="0">
                        <a:cs typeface="B Nazanin" panose="00000400000000000000" pitchFamily="2" charset="-78"/>
                      </a:endParaRPr>
                    </a:p>
                  </a:txBody>
                  <a:tcPr anchor="ctr"/>
                </a:tc>
                <a:extLst>
                  <a:ext uri="{0D108BD9-81ED-4DB2-BD59-A6C34878D82A}">
                    <a16:rowId xmlns:a16="http://schemas.microsoft.com/office/drawing/2014/main" val="10005"/>
                  </a:ext>
                </a:extLst>
              </a:tr>
            </a:tbl>
          </a:graphicData>
        </a:graphic>
      </p:graphicFrame>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11. ترانزیستور</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rtl="1">
              <a:defRPr/>
            </a:pPr>
            <a:fld id="{B5CFC3F8-B58D-40FA-AF21-F23E618E0688}" type="slidenum">
              <a:rPr lang="en-US" altLang="en-US" smtClean="0"/>
              <a:pPr rtl="1">
                <a:defRPr/>
              </a:pPr>
              <a:t>8</a:t>
            </a:fld>
            <a:endParaRPr lang="en-US" altLang="en-US" dirty="0"/>
          </a:p>
        </p:txBody>
      </p:sp>
    </p:spTree>
    <p:extLst>
      <p:ext uri="{BB962C8B-B14F-4D97-AF65-F5344CB8AC3E}">
        <p14:creationId xmlns:p14="http://schemas.microsoft.com/office/powerpoint/2010/main" val="23615519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کاربردهای ترانزیستور</a:t>
            </a:r>
          </a:p>
        </p:txBody>
      </p:sp>
      <p:sp>
        <p:nvSpPr>
          <p:cNvPr id="3" name="Content Placeholder 2"/>
          <p:cNvSpPr>
            <a:spLocks noGrp="1"/>
          </p:cNvSpPr>
          <p:nvPr>
            <p:ph sz="quarter" idx="1"/>
          </p:nvPr>
        </p:nvSpPr>
        <p:spPr/>
        <p:txBody>
          <a:bodyPr/>
          <a:lstStyle/>
          <a:p>
            <a:r>
              <a:rPr lang="fa-IR" dirty="0"/>
              <a:t>در مدارهای آنالوگ به عنوان تقویت‌کننده</a:t>
            </a:r>
          </a:p>
        </p:txBody>
      </p:sp>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11. ترانزیستور</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9</a:t>
            </a:fld>
            <a:endParaRPr lang="en-US" altLang="en-US" dirty="0"/>
          </a:p>
        </p:txBody>
      </p:sp>
      <p:sp>
        <p:nvSpPr>
          <p:cNvPr id="9" name="TextBox 8"/>
          <p:cNvSpPr txBox="1"/>
          <p:nvPr/>
        </p:nvSpPr>
        <p:spPr>
          <a:xfrm>
            <a:off x="2362200" y="5543490"/>
            <a:ext cx="4384534" cy="400110"/>
          </a:xfrm>
          <a:prstGeom prst="rect">
            <a:avLst/>
          </a:prstGeom>
          <a:noFill/>
        </p:spPr>
        <p:txBody>
          <a:bodyPr wrap="none" rtlCol="1">
            <a:spAutoFit/>
          </a:bodyPr>
          <a:lstStyle/>
          <a:p>
            <a:r>
              <a:rPr lang="fa-IR" sz="2000" dirty="0">
                <a:cs typeface="B Nazanin" panose="00000400000000000000" pitchFamily="2" charset="-78"/>
              </a:rPr>
              <a:t>مثال: تقویت کردن سیگنال صوتی دریافتی از میکروفن</a:t>
            </a:r>
          </a:p>
        </p:txBody>
      </p:sp>
      <p:pic>
        <p:nvPicPr>
          <p:cNvPr id="7" name="Picture 6"/>
          <p:cNvPicPr>
            <a:picLocks noChangeAspect="1"/>
          </p:cNvPicPr>
          <p:nvPr/>
        </p:nvPicPr>
        <p:blipFill>
          <a:blip r:embed="rId2"/>
          <a:stretch>
            <a:fillRect/>
          </a:stretch>
        </p:blipFill>
        <p:spPr>
          <a:xfrm>
            <a:off x="1868492" y="1989392"/>
            <a:ext cx="6096000" cy="3104340"/>
          </a:xfrm>
          <a:prstGeom prst="rect">
            <a:avLst/>
          </a:prstGeom>
        </p:spPr>
      </p:pic>
    </p:spTree>
    <p:extLst>
      <p:ext uri="{BB962C8B-B14F-4D97-AF65-F5344CB8AC3E}">
        <p14:creationId xmlns:p14="http://schemas.microsoft.com/office/powerpoint/2010/main" val="42038149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کاربردهای ترانزیستور</a:t>
            </a:r>
          </a:p>
        </p:txBody>
      </p:sp>
      <p:sp>
        <p:nvSpPr>
          <p:cNvPr id="3" name="Content Placeholder 2"/>
          <p:cNvSpPr>
            <a:spLocks noGrp="1"/>
          </p:cNvSpPr>
          <p:nvPr>
            <p:ph sz="quarter" idx="1"/>
          </p:nvPr>
        </p:nvSpPr>
        <p:spPr/>
        <p:txBody>
          <a:bodyPr/>
          <a:lstStyle/>
          <a:p>
            <a:r>
              <a:rPr lang="fa-IR" dirty="0"/>
              <a:t>در مدارهای آنالوگ به عنوان تقویت‌کننده</a:t>
            </a:r>
          </a:p>
        </p:txBody>
      </p:sp>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11. ترانزیستور</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10</a:t>
            </a:fld>
            <a:endParaRPr lang="en-US" altLang="en-US" dirty="0"/>
          </a:p>
        </p:txBody>
      </p:sp>
      <p:pic>
        <p:nvPicPr>
          <p:cNvPr id="8" name="Picture 7"/>
          <p:cNvPicPr>
            <a:picLocks noChangeAspect="1"/>
          </p:cNvPicPr>
          <p:nvPr/>
        </p:nvPicPr>
        <p:blipFill>
          <a:blip r:embed="rId2"/>
          <a:stretch>
            <a:fillRect/>
          </a:stretch>
        </p:blipFill>
        <p:spPr>
          <a:xfrm>
            <a:off x="1792889" y="1828800"/>
            <a:ext cx="5792918" cy="4336843"/>
          </a:xfrm>
          <a:prstGeom prst="rect">
            <a:avLst/>
          </a:prstGeom>
        </p:spPr>
      </p:pic>
    </p:spTree>
    <p:extLst>
      <p:ext uri="{BB962C8B-B14F-4D97-AF65-F5344CB8AC3E}">
        <p14:creationId xmlns:p14="http://schemas.microsoft.com/office/powerpoint/2010/main" val="29698701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کاربردهای ترانزیستور</a:t>
            </a:r>
          </a:p>
        </p:txBody>
      </p:sp>
      <p:sp>
        <p:nvSpPr>
          <p:cNvPr id="3" name="Content Placeholder 2"/>
          <p:cNvSpPr>
            <a:spLocks noGrp="1"/>
          </p:cNvSpPr>
          <p:nvPr>
            <p:ph sz="quarter" idx="1"/>
          </p:nvPr>
        </p:nvSpPr>
        <p:spPr/>
        <p:txBody>
          <a:bodyPr/>
          <a:lstStyle/>
          <a:p>
            <a:r>
              <a:rPr lang="fa-IR" dirty="0"/>
              <a:t>در مدارهای دیجیتال به عنوان سوئیچ</a:t>
            </a:r>
          </a:p>
        </p:txBody>
      </p:sp>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11. ترانزیستور</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11</a:t>
            </a:fld>
            <a:endParaRPr lang="en-US" altLang="en-US" dirty="0"/>
          </a:p>
        </p:txBody>
      </p:sp>
      <p:sp>
        <p:nvSpPr>
          <p:cNvPr id="9" name="TextBox 8"/>
          <p:cNvSpPr txBox="1"/>
          <p:nvPr/>
        </p:nvSpPr>
        <p:spPr>
          <a:xfrm>
            <a:off x="4038600" y="5486400"/>
            <a:ext cx="1433406" cy="369332"/>
          </a:xfrm>
          <a:prstGeom prst="rect">
            <a:avLst/>
          </a:prstGeom>
          <a:noFill/>
        </p:spPr>
        <p:txBody>
          <a:bodyPr wrap="none" rtlCol="1">
            <a:spAutoFit/>
          </a:bodyPr>
          <a:lstStyle/>
          <a:p>
            <a:r>
              <a:rPr lang="fa-IR" dirty="0">
                <a:cs typeface="B Nazanin" panose="00000400000000000000" pitchFamily="2" charset="-78"/>
              </a:rPr>
              <a:t>مثال: گیت اینورتر</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600" y="1791546"/>
            <a:ext cx="2386019" cy="4064186"/>
          </a:xfrm>
          <a:prstGeom prst="rect">
            <a:avLst/>
          </a:prstGeom>
        </p:spPr>
      </p:pic>
    </p:spTree>
    <p:extLst>
      <p:ext uri="{BB962C8B-B14F-4D97-AF65-F5344CB8AC3E}">
        <p14:creationId xmlns:p14="http://schemas.microsoft.com/office/powerpoint/2010/main" val="24404345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مدل ترانزیستور به عنوان سوئیچ</a:t>
            </a:r>
          </a:p>
        </p:txBody>
      </p:sp>
      <p:sp>
        <p:nvSpPr>
          <p:cNvPr id="3" name="Content Placeholder 2"/>
          <p:cNvSpPr>
            <a:spLocks noGrp="1"/>
          </p:cNvSpPr>
          <p:nvPr>
            <p:ph sz="quarter" idx="1"/>
          </p:nvPr>
        </p:nvSpPr>
        <p:spPr/>
        <p:txBody>
          <a:bodyPr/>
          <a:lstStyle/>
          <a:p>
            <a:r>
              <a:rPr lang="fa-IR" dirty="0"/>
              <a:t>مثال: روشن و خاموش کردن یک لامپ توسط یک سوئیچ</a:t>
            </a:r>
          </a:p>
          <a:p>
            <a:endParaRPr lang="fa-IR" dirty="0"/>
          </a:p>
          <a:p>
            <a:endParaRPr lang="fa-IR" dirty="0"/>
          </a:p>
          <a:p>
            <a:endParaRPr lang="fa-IR" dirty="0"/>
          </a:p>
          <a:p>
            <a:endParaRPr lang="fa-IR" dirty="0"/>
          </a:p>
          <a:p>
            <a:endParaRPr lang="fa-IR" dirty="0"/>
          </a:p>
          <a:p>
            <a:endParaRPr lang="fa-IR" dirty="0"/>
          </a:p>
          <a:p>
            <a:endParaRPr lang="fa-IR" sz="1800" dirty="0"/>
          </a:p>
          <a:p>
            <a:r>
              <a:rPr lang="fa-IR" dirty="0"/>
              <a:t>در بسیاری از کاربردها سوئیچی لازم داریم که بتوان خودش را با سیگنال الکتریکی کنترل کرد.</a:t>
            </a:r>
          </a:p>
        </p:txBody>
      </p:sp>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11. ترانزیستور</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rtl="1">
              <a:defRPr/>
            </a:pPr>
            <a:fld id="{B5CFC3F8-B58D-40FA-AF21-F23E618E0688}" type="slidenum">
              <a:rPr lang="en-US" altLang="en-US" smtClean="0"/>
              <a:pPr rtl="1">
                <a:defRPr/>
              </a:pPr>
              <a:t>12</a:t>
            </a:fld>
            <a:endParaRPr lang="en-US" altLang="en-US" dirty="0"/>
          </a:p>
        </p:txBody>
      </p:sp>
      <p:pic>
        <p:nvPicPr>
          <p:cNvPr id="8" name="Picture 7"/>
          <p:cNvPicPr>
            <a:picLocks noChangeAspect="1"/>
          </p:cNvPicPr>
          <p:nvPr/>
        </p:nvPicPr>
        <p:blipFill>
          <a:blip r:embed="rId2"/>
          <a:stretch>
            <a:fillRect/>
          </a:stretch>
        </p:blipFill>
        <p:spPr>
          <a:xfrm>
            <a:off x="1011972" y="1828800"/>
            <a:ext cx="7354751" cy="2819531"/>
          </a:xfrm>
          <a:prstGeom prst="rect">
            <a:avLst/>
          </a:prstGeom>
        </p:spPr>
      </p:pic>
      <p:sp>
        <p:nvSpPr>
          <p:cNvPr id="9" name="TextBox 8"/>
          <p:cNvSpPr txBox="1"/>
          <p:nvPr/>
        </p:nvSpPr>
        <p:spPr>
          <a:xfrm>
            <a:off x="2362200" y="4762435"/>
            <a:ext cx="1141659" cy="400110"/>
          </a:xfrm>
          <a:prstGeom prst="rect">
            <a:avLst/>
          </a:prstGeom>
          <a:noFill/>
        </p:spPr>
        <p:txBody>
          <a:bodyPr wrap="none" rtlCol="1">
            <a:spAutoFit/>
          </a:bodyPr>
          <a:lstStyle/>
          <a:p>
            <a:r>
              <a:rPr lang="fa-IR" sz="2000" dirty="0">
                <a:cs typeface="B Nazanin" panose="00000400000000000000" pitchFamily="2" charset="-78"/>
              </a:rPr>
              <a:t>مدار فیزیکی</a:t>
            </a:r>
          </a:p>
        </p:txBody>
      </p:sp>
      <p:sp>
        <p:nvSpPr>
          <p:cNvPr id="10" name="TextBox 9"/>
          <p:cNvSpPr txBox="1"/>
          <p:nvPr/>
        </p:nvSpPr>
        <p:spPr>
          <a:xfrm>
            <a:off x="6249741" y="4781490"/>
            <a:ext cx="1284326" cy="400110"/>
          </a:xfrm>
          <a:prstGeom prst="rect">
            <a:avLst/>
          </a:prstGeom>
          <a:noFill/>
        </p:spPr>
        <p:txBody>
          <a:bodyPr wrap="none" rtlCol="1">
            <a:spAutoFit/>
          </a:bodyPr>
          <a:lstStyle/>
          <a:p>
            <a:r>
              <a:rPr lang="fa-IR" sz="2000" dirty="0">
                <a:cs typeface="B Nazanin" panose="00000400000000000000" pitchFamily="2" charset="-78"/>
              </a:rPr>
              <a:t>مدل الکتریکی</a:t>
            </a:r>
          </a:p>
        </p:txBody>
      </p:sp>
    </p:spTree>
    <p:extLst>
      <p:ext uri="{BB962C8B-B14F-4D97-AF65-F5344CB8AC3E}">
        <p14:creationId xmlns:p14="http://schemas.microsoft.com/office/powerpoint/2010/main" val="1677965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مدل ترانزیستور </a:t>
            </a:r>
            <a:r>
              <a:rPr lang="en-US" dirty="0"/>
              <a:t>NMOS</a:t>
            </a:r>
            <a:r>
              <a:rPr lang="fa-IR" dirty="0"/>
              <a:t> به عنوان سوئیچ</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fa-IR" dirty="0"/>
                  <a:t>حالت روشن</a:t>
                </a:r>
              </a:p>
              <a:p>
                <a:pPr lvl="1"/>
                <a14:m>
                  <m:oMath xmlns:m="http://schemas.openxmlformats.org/officeDocument/2006/math">
                    <m:r>
                      <a:rPr lang="en-US" b="0" i="1" smtClean="0">
                        <a:latin typeface="Cambria Math" panose="02040503050406030204" pitchFamily="18" charset="0"/>
                      </a:rPr>
                      <m:t>𝐶𝑜𝑛𝑡𝑟𝑜𝑙</m:t>
                    </m:r>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𝑣</m:t>
                    </m:r>
                    <m:r>
                      <a:rPr lang="en-US" b="0" i="1" smtClean="0">
                        <a:latin typeface="Cambria Math" panose="02040503050406030204" pitchFamily="18" charset="0"/>
                      </a:rPr>
                      <m:t>=</m:t>
                    </m:r>
                    <m:r>
                      <a:rPr lang="en-US" b="0" i="1" smtClean="0">
                        <a:latin typeface="Cambria Math" panose="02040503050406030204" pitchFamily="18" charset="0"/>
                      </a:rPr>
                      <m:t>0</m:t>
                    </m:r>
                  </m:oMath>
                </a14:m>
                <a:endParaRPr lang="fa-IR" dirty="0"/>
              </a:p>
              <a:p>
                <a:pPr lvl="1"/>
                <a:endParaRPr lang="fa-IR" dirty="0"/>
              </a:p>
              <a:p>
                <a:pPr lvl="1"/>
                <a:endParaRPr lang="fa-IR" dirty="0"/>
              </a:p>
              <a:p>
                <a:r>
                  <a:rPr lang="fa-IR" dirty="0"/>
                  <a:t>حالت خاموش</a:t>
                </a:r>
              </a:p>
              <a:p>
                <a:pPr lvl="1"/>
                <a14:m>
                  <m:oMath xmlns:m="http://schemas.openxmlformats.org/officeDocument/2006/math">
                    <m:r>
                      <a:rPr lang="en-US" b="0" i="1" smtClean="0">
                        <a:latin typeface="Cambria Math" panose="02040503050406030204" pitchFamily="18" charset="0"/>
                      </a:rPr>
                      <m:t>𝐶</m:t>
                    </m:r>
                    <m:r>
                      <a:rPr lang="en-US" i="1">
                        <a:latin typeface="Cambria Math" panose="02040503050406030204" pitchFamily="18" charset="0"/>
                      </a:rPr>
                      <m:t>𝑜𝑛𝑡𝑟𝑜𝑙</m:t>
                    </m:r>
                    <m:r>
                      <a:rPr lang="en-US" i="1">
                        <a:latin typeface="Cambria Math" panose="02040503050406030204" pitchFamily="18" charset="0"/>
                      </a:rPr>
                      <m:t>=</m:t>
                    </m:r>
                    <m:r>
                      <a:rPr lang="en-US" b="0" i="1" smtClean="0">
                        <a:latin typeface="Cambria Math" panose="02040503050406030204" pitchFamily="18" charset="0"/>
                      </a:rPr>
                      <m:t>0</m:t>
                    </m:r>
                    <m:r>
                      <a:rPr lang="en-US" i="1">
                        <a:latin typeface="Cambria Math" panose="02040503050406030204" pitchFamily="18" charset="0"/>
                      </a:rPr>
                      <m:t>→</m:t>
                    </m:r>
                    <m:r>
                      <a:rPr lang="en-US" b="0" i="1" smtClean="0">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0</m:t>
                    </m:r>
                  </m:oMath>
                </a14:m>
                <a:endParaRPr lang="fa-IR" dirty="0"/>
              </a:p>
              <a:p>
                <a:endParaRPr lang="fa-IR"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0">
                <a:blip r:embed="rId2"/>
                <a:stretch>
                  <a:fillRect t="-1250" r="-449"/>
                </a:stretch>
              </a:blipFill>
            </p:spPr>
            <p:txBody>
              <a:bodyPr/>
              <a:lstStyle/>
              <a:p>
                <a:r>
                  <a:rPr lang="fa-IR">
                    <a:noFill/>
                  </a:rPr>
                  <a:t> </a:t>
                </a:r>
              </a:p>
            </p:txBody>
          </p:sp>
        </mc:Fallback>
      </mc:AlternateContent>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11. ترانزیستور</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rtl="1">
              <a:defRPr/>
            </a:pPr>
            <a:fld id="{B5CFC3F8-B58D-40FA-AF21-F23E618E0688}" type="slidenum">
              <a:rPr lang="en-US" altLang="en-US" smtClean="0"/>
              <a:pPr rtl="1">
                <a:defRPr/>
              </a:pPr>
              <a:t>13</a:t>
            </a:fld>
            <a:endParaRPr lang="en-US" altLang="en-US" dirty="0"/>
          </a:p>
        </p:txBody>
      </p:sp>
      <p:pic>
        <p:nvPicPr>
          <p:cNvPr id="7" name="Picture 6"/>
          <p:cNvPicPr>
            <a:picLocks noChangeAspect="1"/>
          </p:cNvPicPr>
          <p:nvPr/>
        </p:nvPicPr>
        <p:blipFill>
          <a:blip r:embed="rId3"/>
          <a:stretch>
            <a:fillRect/>
          </a:stretch>
        </p:blipFill>
        <p:spPr>
          <a:xfrm>
            <a:off x="762000" y="1384344"/>
            <a:ext cx="3158849" cy="2273256"/>
          </a:xfrm>
          <a:prstGeom prst="rect">
            <a:avLst/>
          </a:prstGeom>
        </p:spPr>
      </p:pic>
      <p:pic>
        <p:nvPicPr>
          <p:cNvPr id="11" name="Picture 10"/>
          <p:cNvPicPr>
            <a:picLocks noChangeAspect="1"/>
          </p:cNvPicPr>
          <p:nvPr/>
        </p:nvPicPr>
        <p:blipFill>
          <a:blip r:embed="rId4"/>
          <a:stretch>
            <a:fillRect/>
          </a:stretch>
        </p:blipFill>
        <p:spPr>
          <a:xfrm>
            <a:off x="876300" y="3705053"/>
            <a:ext cx="3158849" cy="2426665"/>
          </a:xfrm>
          <a:prstGeom prst="rect">
            <a:avLst/>
          </a:prstGeom>
        </p:spPr>
      </p:pic>
    </p:spTree>
    <p:extLst>
      <p:ext uri="{BB962C8B-B14F-4D97-AF65-F5344CB8AC3E}">
        <p14:creationId xmlns:p14="http://schemas.microsoft.com/office/powerpoint/2010/main" val="482835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ترانزیستور </a:t>
            </a:r>
            <a:r>
              <a:rPr lang="en-US" sz="4000" dirty="0"/>
              <a:t>NMOS</a:t>
            </a:r>
            <a:r>
              <a:rPr lang="fa-IR" dirty="0"/>
              <a:t> به عنوان سوئیچ</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endParaRPr lang="fa-IR" dirty="0"/>
              </a:p>
              <a:p>
                <a:endParaRPr lang="fa-IR" dirty="0"/>
              </a:p>
              <a:p>
                <a:endParaRPr lang="fa-IR" dirty="0"/>
              </a:p>
              <a:p>
                <a:endParaRPr lang="fa-IR" dirty="0"/>
              </a:p>
              <a:p>
                <a:endParaRPr lang="fa-IR" dirty="0"/>
              </a:p>
              <a:p>
                <a:endParaRPr lang="fa-IR" dirty="0"/>
              </a:p>
              <a:p>
                <a:endParaRPr lang="fa-IR" dirty="0"/>
              </a:p>
              <a:p>
                <a:endParaRPr lang="fa-IR" sz="4000" dirty="0"/>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𝑇</m:t>
                        </m:r>
                      </m:sub>
                    </m:sSub>
                  </m:oMath>
                </a14:m>
                <a:r>
                  <a:rPr lang="fa-IR" dirty="0"/>
                  <a:t> ولتاژ آستانه ترانزیستور </a:t>
                </a:r>
                <a:r>
                  <a:rPr lang="en-US" dirty="0"/>
                  <a:t>NMOS</a:t>
                </a:r>
                <a:r>
                  <a:rPr lang="fa-IR" dirty="0"/>
                  <a:t> و یک عدد مثبت است.</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0">
                <a:blip r:embed="rId3"/>
                <a:stretch>
                  <a:fillRect r="-449" b="-5500"/>
                </a:stretch>
              </a:blipFill>
            </p:spPr>
            <p:txBody>
              <a:bodyPr/>
              <a:lstStyle/>
              <a:p>
                <a:r>
                  <a:rPr lang="fa-IR">
                    <a:noFill/>
                  </a:rPr>
                  <a:t> </a:t>
                </a:r>
              </a:p>
            </p:txBody>
          </p:sp>
        </mc:Fallback>
      </mc:AlternateContent>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11. ترانزیستور</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rtl="1">
              <a:defRPr/>
            </a:pPr>
            <a:fld id="{B5CFC3F8-B58D-40FA-AF21-F23E618E0688}" type="slidenum">
              <a:rPr lang="en-US" altLang="en-US" smtClean="0"/>
              <a:pPr rtl="1">
                <a:defRPr/>
              </a:pPr>
              <a:t>14</a:t>
            </a:fld>
            <a:endParaRPr lang="en-US" altLang="en-US" dirty="0"/>
          </a:p>
        </p:txBody>
      </p:sp>
      <p:pic>
        <p:nvPicPr>
          <p:cNvPr id="7" name="Picture 6"/>
          <p:cNvPicPr>
            <a:picLocks noChangeAspect="1"/>
          </p:cNvPicPr>
          <p:nvPr/>
        </p:nvPicPr>
        <p:blipFill>
          <a:blip r:embed="rId4"/>
          <a:stretch>
            <a:fillRect/>
          </a:stretch>
        </p:blipFill>
        <p:spPr>
          <a:xfrm>
            <a:off x="609600" y="1524000"/>
            <a:ext cx="2409825" cy="2447925"/>
          </a:xfrm>
          <a:prstGeom prst="rect">
            <a:avLst/>
          </a:prstGeom>
        </p:spPr>
      </p:pic>
      <p:pic>
        <p:nvPicPr>
          <p:cNvPr id="8" name="Picture 7"/>
          <p:cNvPicPr>
            <a:picLocks noChangeAspect="1"/>
          </p:cNvPicPr>
          <p:nvPr/>
        </p:nvPicPr>
        <p:blipFill>
          <a:blip r:embed="rId5"/>
          <a:stretch>
            <a:fillRect/>
          </a:stretch>
        </p:blipFill>
        <p:spPr>
          <a:xfrm>
            <a:off x="3118736" y="1495425"/>
            <a:ext cx="2619375" cy="3228975"/>
          </a:xfrm>
          <a:prstGeom prst="rect">
            <a:avLst/>
          </a:prstGeom>
        </p:spPr>
      </p:pic>
      <p:pic>
        <p:nvPicPr>
          <p:cNvPr id="9" name="Picture 8"/>
          <p:cNvPicPr>
            <a:picLocks noChangeAspect="1"/>
          </p:cNvPicPr>
          <p:nvPr/>
        </p:nvPicPr>
        <p:blipFill>
          <a:blip r:embed="rId6"/>
          <a:stretch>
            <a:fillRect/>
          </a:stretch>
        </p:blipFill>
        <p:spPr>
          <a:xfrm>
            <a:off x="5893004" y="1335741"/>
            <a:ext cx="2562225" cy="3228975"/>
          </a:xfrm>
          <a:prstGeom prst="rect">
            <a:avLst/>
          </a:prstGeom>
        </p:spPr>
      </p:pic>
      <p:sp>
        <p:nvSpPr>
          <p:cNvPr id="10" name="TextBox 9"/>
          <p:cNvSpPr txBox="1"/>
          <p:nvPr/>
        </p:nvSpPr>
        <p:spPr>
          <a:xfrm>
            <a:off x="4114800" y="5029200"/>
            <a:ext cx="1082348" cy="430887"/>
          </a:xfrm>
          <a:prstGeom prst="rect">
            <a:avLst/>
          </a:prstGeom>
          <a:noFill/>
        </p:spPr>
        <p:txBody>
          <a:bodyPr wrap="none" rtlCol="1">
            <a:spAutoFit/>
          </a:bodyPr>
          <a:lstStyle/>
          <a:p>
            <a:r>
              <a:rPr lang="fa-IR" sz="2200" dirty="0">
                <a:cs typeface="B Nazanin" panose="00000400000000000000" pitchFamily="2" charset="-78"/>
              </a:rPr>
              <a:t>حالت قطع</a:t>
            </a:r>
          </a:p>
        </p:txBody>
      </p:sp>
      <p:sp>
        <p:nvSpPr>
          <p:cNvPr id="11" name="TextBox 10"/>
          <p:cNvSpPr txBox="1"/>
          <p:nvPr/>
        </p:nvSpPr>
        <p:spPr>
          <a:xfrm>
            <a:off x="7010400" y="5029200"/>
            <a:ext cx="1133644" cy="430887"/>
          </a:xfrm>
          <a:prstGeom prst="rect">
            <a:avLst/>
          </a:prstGeom>
          <a:noFill/>
        </p:spPr>
        <p:txBody>
          <a:bodyPr wrap="none" rtlCol="1">
            <a:spAutoFit/>
          </a:bodyPr>
          <a:lstStyle/>
          <a:p>
            <a:r>
              <a:rPr lang="fa-IR" sz="2200" dirty="0">
                <a:cs typeface="B Nazanin" panose="00000400000000000000" pitchFamily="2" charset="-78"/>
              </a:rPr>
              <a:t>حالت وصل</a:t>
            </a:r>
          </a:p>
        </p:txBody>
      </p:sp>
      <p:sp>
        <p:nvSpPr>
          <p:cNvPr id="12" name="TextBox 11"/>
          <p:cNvSpPr txBox="1"/>
          <p:nvPr/>
        </p:nvSpPr>
        <p:spPr>
          <a:xfrm>
            <a:off x="1143745" y="5029199"/>
            <a:ext cx="1888658" cy="430887"/>
          </a:xfrm>
          <a:prstGeom prst="rect">
            <a:avLst/>
          </a:prstGeom>
          <a:noFill/>
        </p:spPr>
        <p:txBody>
          <a:bodyPr wrap="none" rtlCol="1">
            <a:spAutoFit/>
          </a:bodyPr>
          <a:lstStyle/>
          <a:p>
            <a:pPr algn="r" rtl="1"/>
            <a:r>
              <a:rPr lang="fa-IR" sz="2200" dirty="0">
                <a:cs typeface="B Nazanin" panose="00000400000000000000" pitchFamily="2" charset="-78"/>
              </a:rPr>
              <a:t>ترانزیستور </a:t>
            </a:r>
            <a:r>
              <a:rPr lang="en-US" sz="2000" dirty="0">
                <a:cs typeface="B Nazanin" panose="00000400000000000000" pitchFamily="2" charset="-78"/>
              </a:rPr>
              <a:t>NMOS</a:t>
            </a:r>
            <a:endParaRPr lang="fa-IR" sz="2000" dirty="0">
              <a:cs typeface="B Nazanin" panose="00000400000000000000" pitchFamily="2" charset="-78"/>
            </a:endParaRPr>
          </a:p>
        </p:txBody>
      </p:sp>
    </p:spTree>
    <p:extLst>
      <p:ext uri="{BB962C8B-B14F-4D97-AF65-F5344CB8AC3E}">
        <p14:creationId xmlns:p14="http://schemas.microsoft.com/office/powerpoint/2010/main" val="3485601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ساخت گیت‌های منطقی</a:t>
            </a:r>
          </a:p>
        </p:txBody>
      </p:sp>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11. ترانزیستور</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rtl="1">
              <a:defRPr/>
            </a:pPr>
            <a:fld id="{B5CFC3F8-B58D-40FA-AF21-F23E618E0688}" type="slidenum">
              <a:rPr lang="en-US" altLang="en-US" smtClean="0"/>
              <a:pPr rtl="1">
                <a:defRPr/>
              </a:pPr>
              <a:t>15</a:t>
            </a:fld>
            <a:endParaRPr lang="en-US" altLang="en-US" dirty="0"/>
          </a:p>
        </p:txBody>
      </p:sp>
      <p:pic>
        <p:nvPicPr>
          <p:cNvPr id="8" name="Picture 7"/>
          <p:cNvPicPr>
            <a:picLocks noChangeAspect="1"/>
          </p:cNvPicPr>
          <p:nvPr/>
        </p:nvPicPr>
        <p:blipFill>
          <a:blip r:embed="rId2"/>
          <a:stretch>
            <a:fillRect/>
          </a:stretch>
        </p:blipFill>
        <p:spPr>
          <a:xfrm>
            <a:off x="683917" y="1219200"/>
            <a:ext cx="3829050" cy="2857500"/>
          </a:xfrm>
          <a:prstGeom prst="rect">
            <a:avLst/>
          </a:prstGeom>
        </p:spPr>
      </p:pic>
      <p:sp>
        <p:nvSpPr>
          <p:cNvPr id="10" name="Content Placeholder 9"/>
          <p:cNvSpPr>
            <a:spLocks noGrp="1"/>
          </p:cNvSpPr>
          <p:nvPr>
            <p:ph sz="quarter" idx="1"/>
          </p:nvPr>
        </p:nvSpPr>
        <p:spPr/>
        <p:txBody>
          <a:bodyPr/>
          <a:lstStyle/>
          <a:p>
            <a:r>
              <a:rPr lang="fa-IR" dirty="0"/>
              <a:t>مثال: اتصال سری دو سوئیچ</a:t>
            </a:r>
          </a:p>
        </p:txBody>
      </p:sp>
      <p:pic>
        <p:nvPicPr>
          <p:cNvPr id="11" name="Picture 10"/>
          <p:cNvPicPr>
            <a:picLocks noChangeAspect="1"/>
          </p:cNvPicPr>
          <p:nvPr/>
        </p:nvPicPr>
        <p:blipFill>
          <a:blip r:embed="rId3"/>
          <a:stretch>
            <a:fillRect/>
          </a:stretch>
        </p:blipFill>
        <p:spPr>
          <a:xfrm>
            <a:off x="4822081" y="2927537"/>
            <a:ext cx="3667125" cy="3114675"/>
          </a:xfrm>
          <a:prstGeom prst="rect">
            <a:avLst/>
          </a:prstGeom>
        </p:spPr>
      </p:pic>
    </p:spTree>
    <p:extLst>
      <p:ext uri="{BB962C8B-B14F-4D97-AF65-F5344CB8AC3E}">
        <p14:creationId xmlns:p14="http://schemas.microsoft.com/office/powerpoint/2010/main" val="3150408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ساخت گیت‌های منطقی</a:t>
            </a:r>
          </a:p>
        </p:txBody>
      </p:sp>
      <p:sp>
        <p:nvSpPr>
          <p:cNvPr id="3" name="Content Placeholder 2"/>
          <p:cNvSpPr>
            <a:spLocks noGrp="1"/>
          </p:cNvSpPr>
          <p:nvPr>
            <p:ph sz="quarter" idx="1"/>
          </p:nvPr>
        </p:nvSpPr>
        <p:spPr/>
        <p:txBody>
          <a:bodyPr/>
          <a:lstStyle/>
          <a:p>
            <a:r>
              <a:rPr lang="fa-IR" dirty="0"/>
              <a:t>گیت </a:t>
            </a:r>
            <a:r>
              <a:rPr lang="en-US" dirty="0"/>
              <a:t>NOT</a:t>
            </a:r>
            <a:endParaRPr lang="fa-IR" dirty="0"/>
          </a:p>
        </p:txBody>
      </p:sp>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11. ترانزیستور</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rtl="1">
              <a:defRPr/>
            </a:pPr>
            <a:fld id="{B5CFC3F8-B58D-40FA-AF21-F23E618E0688}" type="slidenum">
              <a:rPr lang="en-US" altLang="en-US" smtClean="0"/>
              <a:pPr rtl="1">
                <a:defRPr/>
              </a:pPr>
              <a:t>16</a:t>
            </a:fld>
            <a:endParaRPr lang="en-US" altLang="en-US" dirty="0"/>
          </a:p>
        </p:txBody>
      </p:sp>
      <p:pic>
        <p:nvPicPr>
          <p:cNvPr id="7" name="Picture 6"/>
          <p:cNvPicPr>
            <a:picLocks noChangeAspect="1"/>
          </p:cNvPicPr>
          <p:nvPr/>
        </p:nvPicPr>
        <p:blipFill>
          <a:blip r:embed="rId2"/>
          <a:stretch>
            <a:fillRect/>
          </a:stretch>
        </p:blipFill>
        <p:spPr>
          <a:xfrm>
            <a:off x="762000" y="1164796"/>
            <a:ext cx="2308019" cy="2831879"/>
          </a:xfrm>
          <a:prstGeom prst="rect">
            <a:avLst/>
          </a:prstGeom>
        </p:spPr>
      </p:pic>
      <p:pic>
        <p:nvPicPr>
          <p:cNvPr id="10" name="Picture 9"/>
          <p:cNvPicPr>
            <a:picLocks noChangeAspect="1"/>
          </p:cNvPicPr>
          <p:nvPr/>
        </p:nvPicPr>
        <p:blipFill>
          <a:blip r:embed="rId3"/>
          <a:stretch>
            <a:fillRect/>
          </a:stretch>
        </p:blipFill>
        <p:spPr>
          <a:xfrm>
            <a:off x="5657794" y="3162300"/>
            <a:ext cx="3162300" cy="3009900"/>
          </a:xfrm>
          <a:prstGeom prst="rect">
            <a:avLst/>
          </a:prstGeom>
        </p:spPr>
      </p:pic>
      <p:pic>
        <p:nvPicPr>
          <p:cNvPr id="11" name="Picture 10"/>
          <p:cNvPicPr>
            <a:picLocks noChangeAspect="1"/>
          </p:cNvPicPr>
          <p:nvPr/>
        </p:nvPicPr>
        <p:blipFill>
          <a:blip r:embed="rId4"/>
          <a:stretch>
            <a:fillRect/>
          </a:stretch>
        </p:blipFill>
        <p:spPr>
          <a:xfrm>
            <a:off x="2428875" y="3190875"/>
            <a:ext cx="3209925" cy="3057525"/>
          </a:xfrm>
          <a:prstGeom prst="rect">
            <a:avLst/>
          </a:prstGeom>
        </p:spPr>
      </p:pic>
    </p:spTree>
    <p:extLst>
      <p:ext uri="{BB962C8B-B14F-4D97-AF65-F5344CB8AC3E}">
        <p14:creationId xmlns:p14="http://schemas.microsoft.com/office/powerpoint/2010/main" val="1531138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مثال:</a:t>
            </a:r>
          </a:p>
        </p:txBody>
      </p:sp>
      <p:sp>
        <p:nvSpPr>
          <p:cNvPr id="3" name="Content Placeholder 2"/>
          <p:cNvSpPr>
            <a:spLocks noGrp="1"/>
          </p:cNvSpPr>
          <p:nvPr>
            <p:ph sz="quarter" idx="1"/>
          </p:nvPr>
        </p:nvSpPr>
        <p:spPr/>
        <p:txBody>
          <a:bodyPr/>
          <a:lstStyle/>
          <a:p>
            <a:r>
              <a:rPr lang="fa-IR" dirty="0"/>
              <a:t>گیت منطقی زیر چیست؟</a:t>
            </a:r>
          </a:p>
        </p:txBody>
      </p:sp>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11. ترانزیستور</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rtl="1">
              <a:defRPr/>
            </a:pPr>
            <a:fld id="{B5CFC3F8-B58D-40FA-AF21-F23E618E0688}" type="slidenum">
              <a:rPr lang="en-US" altLang="en-US" smtClean="0"/>
              <a:pPr rtl="1">
                <a:defRPr/>
              </a:pPr>
              <a:t>17</a:t>
            </a:fld>
            <a:endParaRPr lang="en-US" altLang="en-US" dirty="0"/>
          </a:p>
        </p:txBody>
      </p:sp>
      <p:pic>
        <p:nvPicPr>
          <p:cNvPr id="8" name="Picture 7"/>
          <p:cNvPicPr>
            <a:picLocks noChangeAspect="1"/>
          </p:cNvPicPr>
          <p:nvPr/>
        </p:nvPicPr>
        <p:blipFill>
          <a:blip r:embed="rId2"/>
          <a:stretch>
            <a:fillRect/>
          </a:stretch>
        </p:blipFill>
        <p:spPr>
          <a:xfrm>
            <a:off x="1143000" y="1497806"/>
            <a:ext cx="2857700" cy="4319587"/>
          </a:xfrm>
          <a:prstGeom prst="rect">
            <a:avLst/>
          </a:prstGeom>
        </p:spPr>
      </p:pic>
    </p:spTree>
    <p:extLst>
      <p:ext uri="{BB962C8B-B14F-4D97-AF65-F5344CB8AC3E}">
        <p14:creationId xmlns:p14="http://schemas.microsoft.com/office/powerpoint/2010/main" val="36543125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ترانزیستور </a:t>
            </a:r>
            <a:r>
              <a:rPr lang="en-US" sz="4000" dirty="0"/>
              <a:t>PMOS</a:t>
            </a:r>
            <a:r>
              <a:rPr lang="fa-IR" dirty="0"/>
              <a:t> به عنوان سوئیچ</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endParaRPr lang="fa-IR" dirty="0"/>
              </a:p>
              <a:p>
                <a:endParaRPr lang="fa-IR" dirty="0"/>
              </a:p>
              <a:p>
                <a:endParaRPr lang="fa-IR" dirty="0"/>
              </a:p>
              <a:p>
                <a:endParaRPr lang="fa-IR" dirty="0"/>
              </a:p>
              <a:p>
                <a:endParaRPr lang="fa-IR" dirty="0"/>
              </a:p>
              <a:p>
                <a:endParaRPr lang="fa-IR" dirty="0"/>
              </a:p>
              <a:p>
                <a:endParaRPr lang="fa-IR" dirty="0"/>
              </a:p>
              <a:p>
                <a:endParaRPr lang="fa-IR" sz="4000" dirty="0"/>
              </a:p>
              <a:p>
                <a14:m>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𝑉</m:t>
                        </m:r>
                      </m:e>
                      <m:sub>
                        <m:r>
                          <a:rPr lang="en-US" sz="2800" b="0" i="1" smtClean="0">
                            <a:latin typeface="Cambria Math" panose="02040503050406030204" pitchFamily="18" charset="0"/>
                          </a:rPr>
                          <m:t>𝑇</m:t>
                        </m:r>
                      </m:sub>
                    </m:sSub>
                  </m:oMath>
                </a14:m>
                <a:r>
                  <a:rPr lang="fa-IR" sz="2800" dirty="0"/>
                  <a:t> در ترانزیستور </a:t>
                </a:r>
                <a:r>
                  <a:rPr lang="en-US" sz="2800" dirty="0"/>
                  <a:t>PMOS</a:t>
                </a:r>
                <a:r>
                  <a:rPr lang="fa-IR" sz="2800" dirty="0"/>
                  <a:t> یک عدد منفی است.</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0">
                <a:blip r:embed="rId3"/>
                <a:stretch>
                  <a:fillRect r="-374" b="-5000"/>
                </a:stretch>
              </a:blipFill>
            </p:spPr>
            <p:txBody>
              <a:bodyPr/>
              <a:lstStyle/>
              <a:p>
                <a:r>
                  <a:rPr lang="fa-IR">
                    <a:noFill/>
                  </a:rPr>
                  <a:t> </a:t>
                </a:r>
              </a:p>
            </p:txBody>
          </p:sp>
        </mc:Fallback>
      </mc:AlternateContent>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11. ترانزیستور</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rtl="1">
              <a:defRPr/>
            </a:pPr>
            <a:fld id="{B5CFC3F8-B58D-40FA-AF21-F23E618E0688}" type="slidenum">
              <a:rPr lang="en-US" altLang="en-US" smtClean="0"/>
              <a:pPr rtl="1">
                <a:defRPr/>
              </a:pPr>
              <a:t>18</a:t>
            </a:fld>
            <a:endParaRPr lang="en-US" altLang="en-US" dirty="0"/>
          </a:p>
        </p:txBody>
      </p:sp>
      <p:sp>
        <p:nvSpPr>
          <p:cNvPr id="10" name="TextBox 9"/>
          <p:cNvSpPr txBox="1"/>
          <p:nvPr/>
        </p:nvSpPr>
        <p:spPr>
          <a:xfrm>
            <a:off x="4114800" y="5029200"/>
            <a:ext cx="1082348" cy="430887"/>
          </a:xfrm>
          <a:prstGeom prst="rect">
            <a:avLst/>
          </a:prstGeom>
          <a:noFill/>
        </p:spPr>
        <p:txBody>
          <a:bodyPr wrap="none" rtlCol="1">
            <a:spAutoFit/>
          </a:bodyPr>
          <a:lstStyle/>
          <a:p>
            <a:r>
              <a:rPr lang="fa-IR" sz="2200" dirty="0">
                <a:cs typeface="B Nazanin" panose="00000400000000000000" pitchFamily="2" charset="-78"/>
              </a:rPr>
              <a:t>حالت قطع</a:t>
            </a:r>
          </a:p>
        </p:txBody>
      </p:sp>
      <p:sp>
        <p:nvSpPr>
          <p:cNvPr id="11" name="TextBox 10"/>
          <p:cNvSpPr txBox="1"/>
          <p:nvPr/>
        </p:nvSpPr>
        <p:spPr>
          <a:xfrm>
            <a:off x="7010400" y="5029200"/>
            <a:ext cx="1133644" cy="430887"/>
          </a:xfrm>
          <a:prstGeom prst="rect">
            <a:avLst/>
          </a:prstGeom>
          <a:noFill/>
        </p:spPr>
        <p:txBody>
          <a:bodyPr wrap="none" rtlCol="1">
            <a:spAutoFit/>
          </a:bodyPr>
          <a:lstStyle/>
          <a:p>
            <a:r>
              <a:rPr lang="fa-IR" sz="2200" dirty="0">
                <a:cs typeface="B Nazanin" panose="00000400000000000000" pitchFamily="2" charset="-78"/>
              </a:rPr>
              <a:t>حالت وصل</a:t>
            </a:r>
          </a:p>
        </p:txBody>
      </p:sp>
      <p:sp>
        <p:nvSpPr>
          <p:cNvPr id="12" name="TextBox 11"/>
          <p:cNvSpPr txBox="1"/>
          <p:nvPr/>
        </p:nvSpPr>
        <p:spPr>
          <a:xfrm>
            <a:off x="1143745" y="5029199"/>
            <a:ext cx="1888658" cy="430887"/>
          </a:xfrm>
          <a:prstGeom prst="rect">
            <a:avLst/>
          </a:prstGeom>
          <a:noFill/>
        </p:spPr>
        <p:txBody>
          <a:bodyPr wrap="none" rtlCol="1">
            <a:spAutoFit/>
          </a:bodyPr>
          <a:lstStyle/>
          <a:p>
            <a:pPr algn="r" rtl="1"/>
            <a:r>
              <a:rPr lang="fa-IR" sz="2200" dirty="0">
                <a:cs typeface="B Nazanin" panose="00000400000000000000" pitchFamily="2" charset="-78"/>
              </a:rPr>
              <a:t>ترانزیستور </a:t>
            </a:r>
            <a:r>
              <a:rPr lang="en-US" sz="2000" dirty="0">
                <a:cs typeface="B Nazanin" panose="00000400000000000000" pitchFamily="2" charset="-78"/>
              </a:rPr>
              <a:t>PMOS</a:t>
            </a:r>
            <a:endParaRPr lang="fa-IR" sz="2000" dirty="0">
              <a:cs typeface="B Nazanin" panose="00000400000000000000" pitchFamily="2" charset="-78"/>
            </a:endParaRPr>
          </a:p>
        </p:txBody>
      </p:sp>
      <p:pic>
        <p:nvPicPr>
          <p:cNvPr id="13" name="Picture 12"/>
          <p:cNvPicPr>
            <a:picLocks noChangeAspect="1"/>
          </p:cNvPicPr>
          <p:nvPr/>
        </p:nvPicPr>
        <p:blipFill>
          <a:blip r:embed="rId4"/>
          <a:stretch>
            <a:fillRect/>
          </a:stretch>
        </p:blipFill>
        <p:spPr>
          <a:xfrm>
            <a:off x="561975" y="1447800"/>
            <a:ext cx="2409825" cy="2447925"/>
          </a:xfrm>
          <a:prstGeom prst="rect">
            <a:avLst/>
          </a:prstGeom>
        </p:spPr>
      </p:pic>
      <p:pic>
        <p:nvPicPr>
          <p:cNvPr id="7" name="Picture 6"/>
          <p:cNvPicPr>
            <a:picLocks noChangeAspect="1"/>
          </p:cNvPicPr>
          <p:nvPr/>
        </p:nvPicPr>
        <p:blipFill>
          <a:blip r:embed="rId5"/>
          <a:stretch>
            <a:fillRect/>
          </a:stretch>
        </p:blipFill>
        <p:spPr>
          <a:xfrm>
            <a:off x="3095625" y="1447800"/>
            <a:ext cx="2619375" cy="3228975"/>
          </a:xfrm>
          <a:prstGeom prst="rect">
            <a:avLst/>
          </a:prstGeom>
        </p:spPr>
      </p:pic>
      <p:pic>
        <p:nvPicPr>
          <p:cNvPr id="14" name="Picture 13"/>
          <p:cNvPicPr>
            <a:picLocks noChangeAspect="1"/>
          </p:cNvPicPr>
          <p:nvPr/>
        </p:nvPicPr>
        <p:blipFill>
          <a:blip r:embed="rId6"/>
          <a:stretch>
            <a:fillRect/>
          </a:stretch>
        </p:blipFill>
        <p:spPr>
          <a:xfrm>
            <a:off x="6019800" y="1328738"/>
            <a:ext cx="2562225" cy="3228975"/>
          </a:xfrm>
          <a:prstGeom prst="rect">
            <a:avLst/>
          </a:prstGeom>
        </p:spPr>
      </p:pic>
    </p:spTree>
    <p:extLst>
      <p:ext uri="{BB962C8B-B14F-4D97-AF65-F5344CB8AC3E}">
        <p14:creationId xmlns:p14="http://schemas.microsoft.com/office/powerpoint/2010/main" val="2850113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فناوری </a:t>
            </a:r>
            <a:r>
              <a:rPr lang="en-US" dirty="0"/>
              <a:t>CMOS</a:t>
            </a:r>
            <a:endParaRPr lang="fa-IR" dirty="0"/>
          </a:p>
        </p:txBody>
      </p:sp>
      <p:sp>
        <p:nvSpPr>
          <p:cNvPr id="3" name="Content Placeholder 2"/>
          <p:cNvSpPr>
            <a:spLocks noGrp="1"/>
          </p:cNvSpPr>
          <p:nvPr>
            <p:ph sz="quarter" idx="1"/>
          </p:nvPr>
        </p:nvSpPr>
        <p:spPr/>
        <p:txBody>
          <a:bodyPr/>
          <a:lstStyle/>
          <a:p>
            <a:r>
              <a:rPr lang="fa-IR" dirty="0"/>
              <a:t>استفاده از ترانزیستورهای </a:t>
            </a:r>
            <a:r>
              <a:rPr lang="en-US" dirty="0"/>
              <a:t>NMOS</a:t>
            </a:r>
            <a:r>
              <a:rPr lang="fa-IR" dirty="0"/>
              <a:t> در طبقه پایین و گیت‌های </a:t>
            </a:r>
            <a:r>
              <a:rPr lang="en-US" dirty="0"/>
              <a:t>PMOS</a:t>
            </a:r>
            <a:r>
              <a:rPr lang="fa-IR" dirty="0"/>
              <a:t> در طبقه بالا</a:t>
            </a:r>
          </a:p>
          <a:p>
            <a:endParaRPr lang="fa-IR" dirty="0"/>
          </a:p>
          <a:p>
            <a:r>
              <a:rPr lang="fa-IR" dirty="0"/>
              <a:t>مدار روبرو چه گیتی است؟</a:t>
            </a:r>
          </a:p>
          <a:p>
            <a:endParaRPr lang="fa-IR" dirty="0"/>
          </a:p>
          <a:p>
            <a:endParaRPr lang="fa-IR" dirty="0"/>
          </a:p>
          <a:p>
            <a:r>
              <a:rPr lang="fa-IR" dirty="0"/>
              <a:t>چه مزیتی نسبت به پیاده‌سازی</a:t>
            </a:r>
          </a:p>
          <a:p>
            <a:pPr marL="0" indent="0">
              <a:buNone/>
            </a:pPr>
            <a:r>
              <a:rPr lang="fa-IR" dirty="0"/>
              <a:t>با </a:t>
            </a:r>
            <a:r>
              <a:rPr lang="en-US" dirty="0"/>
              <a:t>NMOS</a:t>
            </a:r>
            <a:r>
              <a:rPr lang="fa-IR" dirty="0"/>
              <a:t> و مقاومت دارد؟</a:t>
            </a:r>
          </a:p>
        </p:txBody>
      </p:sp>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11. ترانزیستور</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rtl="1">
              <a:defRPr/>
            </a:pPr>
            <a:fld id="{B5CFC3F8-B58D-40FA-AF21-F23E618E0688}" type="slidenum">
              <a:rPr lang="en-US" altLang="en-US" smtClean="0"/>
              <a:pPr rtl="1">
                <a:defRPr/>
              </a:pPr>
              <a:t>19</a:t>
            </a:fld>
            <a:endParaRPr lang="en-US" altLang="en-US" dirty="0"/>
          </a:p>
        </p:txBody>
      </p:sp>
      <p:pic>
        <p:nvPicPr>
          <p:cNvPr id="7" name="Picture 6"/>
          <p:cNvPicPr>
            <a:picLocks noChangeAspect="1"/>
          </p:cNvPicPr>
          <p:nvPr/>
        </p:nvPicPr>
        <p:blipFill>
          <a:blip r:embed="rId2"/>
          <a:stretch>
            <a:fillRect/>
          </a:stretch>
        </p:blipFill>
        <p:spPr>
          <a:xfrm>
            <a:off x="762000" y="1979295"/>
            <a:ext cx="3276600" cy="4086225"/>
          </a:xfrm>
          <a:prstGeom prst="rect">
            <a:avLst/>
          </a:prstGeom>
        </p:spPr>
      </p:pic>
    </p:spTree>
    <p:extLst>
      <p:ext uri="{BB962C8B-B14F-4D97-AF65-F5344CB8AC3E}">
        <p14:creationId xmlns:p14="http://schemas.microsoft.com/office/powerpoint/2010/main" val="3464101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تمرین کلاسی 1</a:t>
            </a:r>
            <a:endParaRPr lang="en-US" dirty="0">
              <a:solidFill>
                <a:srgbClr val="FF0000"/>
              </a:solidFill>
            </a:endParaRPr>
          </a:p>
        </p:txBody>
      </p:sp>
      <p:sp>
        <p:nvSpPr>
          <p:cNvPr id="3" name="Content Placeholder 2"/>
          <p:cNvSpPr>
            <a:spLocks noGrp="1"/>
          </p:cNvSpPr>
          <p:nvPr>
            <p:ph sz="quarter" idx="1"/>
          </p:nvPr>
        </p:nvSpPr>
        <p:spPr/>
        <p:txBody>
          <a:bodyPr/>
          <a:lstStyle/>
          <a:p>
            <a:r>
              <a:rPr lang="fa-IR" dirty="0"/>
              <a:t>مدار زیر بیان‌گر چه گیتی است؟</a:t>
            </a:r>
            <a:endParaRPr lang="en-US" dirty="0"/>
          </a:p>
        </p:txBody>
      </p:sp>
      <p:sp>
        <p:nvSpPr>
          <p:cNvPr id="4" name="Date Placeholder 3"/>
          <p:cNvSpPr>
            <a:spLocks noGrp="1"/>
          </p:cNvSpPr>
          <p:nvPr>
            <p:ph type="dt" sz="half" idx="10"/>
          </p:nvPr>
        </p:nvSpPr>
        <p:spPr/>
        <p:txBody>
          <a:bodyPr/>
          <a:lstStyle/>
          <a:p>
            <a:pPr>
              <a:defRPr/>
            </a:pPr>
            <a:r>
              <a:rPr lang="en-US" altLang="en-US"/>
              <a:t>Electrical Circuits</a:t>
            </a:r>
            <a:endParaRPr lang="en-US" altLang="en-US" dirty="0"/>
          </a:p>
        </p:txBody>
      </p:sp>
      <p:sp>
        <p:nvSpPr>
          <p:cNvPr id="5" name="Footer Placeholder 4"/>
          <p:cNvSpPr>
            <a:spLocks noGrp="1"/>
          </p:cNvSpPr>
          <p:nvPr>
            <p:ph type="ftr" sz="quarter" idx="11"/>
          </p:nvPr>
        </p:nvSpPr>
        <p:spPr/>
        <p:txBody>
          <a:bodyPr/>
          <a:lstStyle/>
          <a:p>
            <a:pPr>
              <a:defRPr/>
            </a:pPr>
            <a:r>
              <a:rPr lang="en-US" altLang="en-US"/>
              <a:t>13. MOSFET Transistors 2</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20</a:t>
            </a:fld>
            <a:endParaRPr lang="en-US" altLang="en-US" dirty="0"/>
          </a:p>
        </p:txBody>
      </p:sp>
      <p:pic>
        <p:nvPicPr>
          <p:cNvPr id="9" name="Picture 8"/>
          <p:cNvPicPr>
            <a:picLocks noChangeAspect="1"/>
          </p:cNvPicPr>
          <p:nvPr/>
        </p:nvPicPr>
        <p:blipFill>
          <a:blip r:embed="rId2"/>
          <a:stretch>
            <a:fillRect/>
          </a:stretch>
        </p:blipFill>
        <p:spPr>
          <a:xfrm>
            <a:off x="857474" y="1431131"/>
            <a:ext cx="3228975" cy="4219575"/>
          </a:xfrm>
          <a:prstGeom prst="rect">
            <a:avLst/>
          </a:prstGeom>
        </p:spPr>
      </p:pic>
    </p:spTree>
    <p:extLst>
      <p:ext uri="{BB962C8B-B14F-4D97-AF65-F5344CB8AC3E}">
        <p14:creationId xmlns:p14="http://schemas.microsoft.com/office/powerpoint/2010/main" val="8327359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381000" y="152400"/>
            <a:ext cx="8229600" cy="822325"/>
          </a:xfrm>
        </p:spPr>
        <p:txBody>
          <a:bodyPr/>
          <a:lstStyle/>
          <a:p>
            <a:pPr eaLnBrk="1" fontAlgn="auto" hangingPunct="1">
              <a:spcAft>
                <a:spcPts val="0"/>
              </a:spcAft>
              <a:defRPr/>
            </a:pPr>
            <a:r>
              <a:rPr lang="fa-IR" altLang="en-US" dirty="0"/>
              <a:t>فهرست مطالب</a:t>
            </a:r>
            <a:r>
              <a:rPr lang="en-US" altLang="en-US" dirty="0"/>
              <a:t> </a:t>
            </a:r>
            <a:r>
              <a:rPr lang="fa-IR" altLang="en-US" dirty="0"/>
              <a:t>بخش دوم</a:t>
            </a:r>
            <a:endParaRPr lang="en-US" altLang="en-US" dirty="0"/>
          </a:p>
        </p:txBody>
      </p:sp>
      <p:sp>
        <p:nvSpPr>
          <p:cNvPr id="11267" name="Rectangle 3"/>
          <p:cNvSpPr>
            <a:spLocks noGrp="1" noChangeArrowheads="1"/>
          </p:cNvSpPr>
          <p:nvPr>
            <p:ph sz="quarter" idx="1"/>
          </p:nvPr>
        </p:nvSpPr>
        <p:spPr>
          <a:xfrm>
            <a:off x="609600" y="1219200"/>
            <a:ext cx="8153400" cy="4876800"/>
          </a:xfrm>
        </p:spPr>
        <p:txBody>
          <a:bodyPr/>
          <a:lstStyle/>
          <a:p>
            <a:pPr eaLnBrk="1" hangingPunct="1"/>
            <a:r>
              <a:rPr lang="fa-IR" altLang="en-US" dirty="0"/>
              <a:t>مدل ترانزیستور به عنوان تقویت کننده</a:t>
            </a:r>
          </a:p>
          <a:p>
            <a:pPr lvl="1" eaLnBrk="1" hangingPunct="1"/>
            <a:r>
              <a:rPr lang="fa-IR" altLang="en-US" dirty="0"/>
              <a:t>سیگنال بزرگ</a:t>
            </a:r>
          </a:p>
          <a:p>
            <a:pPr lvl="1" eaLnBrk="1" hangingPunct="1"/>
            <a:r>
              <a:rPr lang="fa-IR" altLang="en-US" dirty="0"/>
              <a:t>سیگنال کوچک</a:t>
            </a:r>
          </a:p>
          <a:p>
            <a:pPr eaLnBrk="1" hangingPunct="1"/>
            <a:r>
              <a:rPr lang="fa-IR" altLang="en-US" dirty="0"/>
              <a:t>تحلیل </a:t>
            </a:r>
            <a:r>
              <a:rPr lang="en-US" altLang="en-US" dirty="0"/>
              <a:t>DC</a:t>
            </a:r>
            <a:r>
              <a:rPr lang="fa-IR" altLang="en-US" dirty="0"/>
              <a:t> و </a:t>
            </a:r>
            <a:r>
              <a:rPr lang="en-US" altLang="en-US" dirty="0"/>
              <a:t>AC</a:t>
            </a:r>
            <a:r>
              <a:rPr lang="fa-IR" altLang="en-US" dirty="0"/>
              <a:t> ترانزیستورها</a:t>
            </a:r>
            <a:endParaRPr lang="en-US" altLang="en-US" dirty="0"/>
          </a:p>
          <a:p>
            <a:pPr eaLnBrk="1" hangingPunct="1"/>
            <a:r>
              <a:rPr lang="fa-IR" altLang="en-US"/>
              <a:t>پیکربندی‌‌های </a:t>
            </a:r>
            <a:r>
              <a:rPr lang="fa-IR" altLang="en-US" dirty="0"/>
              <a:t>مختلف</a:t>
            </a:r>
          </a:p>
          <a:p>
            <a:pPr eaLnBrk="1" hangingPunct="1"/>
            <a:endParaRPr lang="en-US" altLang="en-US" dirty="0"/>
          </a:p>
          <a:p>
            <a:pPr eaLnBrk="1" hangingPunct="1"/>
            <a:endParaRPr lang="en-US" altLang="en-US" dirty="0"/>
          </a:p>
        </p:txBody>
      </p:sp>
      <p:sp>
        <p:nvSpPr>
          <p:cNvPr id="11268" name="Date Placeholder 3"/>
          <p:cNvSpPr>
            <a:spLocks noGrp="1"/>
          </p:cNvSpPr>
          <p:nvPr>
            <p:ph type="dt" sz="quarter" idx="10"/>
          </p:nvPr>
        </p:nvSpPr>
        <p:spPr bwMode="auto">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fa-IR" altLang="en-US">
                <a:solidFill>
                  <a:schemeClr val="tx2"/>
                </a:solidFill>
              </a:rPr>
              <a:t>مدارهای الکتریکی و الکترونیکی</a:t>
            </a:r>
            <a:endParaRPr lang="en-US" altLang="en-US">
              <a:solidFill>
                <a:schemeClr val="tx2"/>
              </a:solidFill>
            </a:endParaRPr>
          </a:p>
        </p:txBody>
      </p:sp>
      <p:sp>
        <p:nvSpPr>
          <p:cNvPr id="11269" name="Footer Placeholder 4"/>
          <p:cNvSpPr>
            <a:spLocks noGrp="1"/>
          </p:cNvSpPr>
          <p:nvPr>
            <p:ph type="ftr" sz="quarter" idx="11"/>
          </p:nvPr>
        </p:nvSpPr>
        <p:spPr bwMode="auto">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fa-IR" altLang="en-US">
                <a:solidFill>
                  <a:schemeClr val="tx2"/>
                </a:solidFill>
              </a:rPr>
              <a:t>12. ترانزیستور (ادامه)</a:t>
            </a:r>
            <a:endParaRPr lang="en-US" altLang="en-US">
              <a:solidFill>
                <a:schemeClr val="tx2"/>
              </a:solidFill>
            </a:endParaRPr>
          </a:p>
        </p:txBody>
      </p:sp>
      <p:sp>
        <p:nvSpPr>
          <p:cNvPr id="3" name="Slide Number Placeholder 2"/>
          <p:cNvSpPr>
            <a:spLocks noGrp="1"/>
          </p:cNvSpPr>
          <p:nvPr>
            <p:ph type="sldNum" sz="quarter" idx="12"/>
          </p:nvPr>
        </p:nvSpPr>
        <p:spPr/>
        <p:txBody>
          <a:bodyPr>
            <a:normAutofit fontScale="85000" lnSpcReduction="20000"/>
          </a:bodyPr>
          <a:lstStyle/>
          <a:p>
            <a:pPr>
              <a:defRPr/>
            </a:pPr>
            <a:fld id="{0805AAEB-DA8E-4881-81AF-D22FE85BF778}" type="slidenum">
              <a:rPr lang="en-US" altLang="en-US"/>
              <a:pPr>
                <a:defRPr/>
              </a:pPr>
              <a:t>21</a:t>
            </a:fld>
            <a:endParaRPr lang="en-US" altLang="en-US"/>
          </a:p>
        </p:txBody>
      </p:sp>
      <p:sp>
        <p:nvSpPr>
          <p:cNvPr id="11271" name="TextBox 6"/>
          <p:cNvSpPr txBox="1">
            <a:spLocks noChangeArrowheads="1"/>
          </p:cNvSpPr>
          <p:nvPr/>
        </p:nvSpPr>
        <p:spPr bwMode="auto">
          <a:xfrm>
            <a:off x="-1752600" y="47244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eaLnBrk="1" hangingPunct="1">
              <a:spcBef>
                <a:spcPct val="0"/>
              </a:spcBef>
              <a:buClrTx/>
              <a:buSzTx/>
              <a:buFontTx/>
              <a:buNone/>
            </a:pPr>
            <a:endParaRPr lang="en-US" altLang="en-US" sz="1800">
              <a:latin typeface="Arial" charset="0"/>
            </a:endParaRPr>
          </a:p>
        </p:txBody>
      </p:sp>
    </p:spTree>
    <p:extLst>
      <p:ext uri="{BB962C8B-B14F-4D97-AF65-F5344CB8AC3E}">
        <p14:creationId xmlns:p14="http://schemas.microsoft.com/office/powerpoint/2010/main" val="23201041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کاربردهای ترانزیستور</a:t>
            </a:r>
          </a:p>
        </p:txBody>
      </p:sp>
      <p:sp>
        <p:nvSpPr>
          <p:cNvPr id="3" name="Content Placeholder 2"/>
          <p:cNvSpPr>
            <a:spLocks noGrp="1"/>
          </p:cNvSpPr>
          <p:nvPr>
            <p:ph sz="quarter" idx="1"/>
          </p:nvPr>
        </p:nvSpPr>
        <p:spPr/>
        <p:txBody>
          <a:bodyPr/>
          <a:lstStyle/>
          <a:p>
            <a:r>
              <a:rPr lang="fa-IR" dirty="0"/>
              <a:t>در مدارهای آنالوگ به عنوان تقویت‌کننده</a:t>
            </a:r>
          </a:p>
        </p:txBody>
      </p:sp>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12. ترانزیستور (ادامه)</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22</a:t>
            </a:fld>
            <a:endParaRPr lang="en-US" altLang="en-US" dirty="0"/>
          </a:p>
        </p:txBody>
      </p:sp>
      <p:pic>
        <p:nvPicPr>
          <p:cNvPr id="8" name="Picture 7"/>
          <p:cNvPicPr>
            <a:picLocks noChangeAspect="1"/>
          </p:cNvPicPr>
          <p:nvPr/>
        </p:nvPicPr>
        <p:blipFill>
          <a:blip r:embed="rId2"/>
          <a:stretch>
            <a:fillRect/>
          </a:stretch>
        </p:blipFill>
        <p:spPr>
          <a:xfrm>
            <a:off x="1792889" y="1828800"/>
            <a:ext cx="5792918" cy="4336843"/>
          </a:xfrm>
          <a:prstGeom prst="rect">
            <a:avLst/>
          </a:prstGeom>
        </p:spPr>
      </p:pic>
    </p:spTree>
    <p:extLst>
      <p:ext uri="{BB962C8B-B14F-4D97-AF65-F5344CB8AC3E}">
        <p14:creationId xmlns:p14="http://schemas.microsoft.com/office/powerpoint/2010/main" val="2614305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رفتار غیرخطی دیود</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endParaRPr lang="fa-IR" dirty="0"/>
              </a:p>
              <a:p>
                <a:endParaRPr lang="fa-IR" dirty="0"/>
              </a:p>
              <a:p>
                <a:endParaRPr lang="fa-IR" dirty="0"/>
              </a:p>
              <a:p>
                <a:endParaRPr lang="fa-IR" dirty="0"/>
              </a:p>
              <a:p>
                <a:endParaRPr lang="fa-IR" dirty="0"/>
              </a:p>
              <a:p>
                <a:r>
                  <a:rPr lang="fa-IR" dirty="0"/>
                  <a:t>با استفاده از مدل غیرخطی برای محاسبه جریان دیود داریم:</a:t>
                </a:r>
              </a:p>
              <a:p>
                <a:pPr algn="l" rtl="0"/>
                <a:endParaRPr lang="en-US" b="0" i="1" dirty="0">
                  <a:latin typeface="Cambria Math" panose="02040503050406030204" pitchFamily="18" charset="0"/>
                </a:endParaRPr>
              </a:p>
              <a:p>
                <a:pPr algn="l" rtl="0"/>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𝐷</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𝑠</m:t>
                            </m:r>
                          </m:sub>
                        </m:sSub>
                        <m:r>
                          <a:rPr lang="en-US" b="0" i="1" smtClean="0">
                            <a:latin typeface="Cambria Math" panose="02040503050406030204" pitchFamily="18" charset="0"/>
                          </a:rPr>
                          <m:t>[</m:t>
                        </m:r>
                        <m:r>
                          <a:rPr lang="en-US" b="0" i="1" smtClean="0">
                            <a:latin typeface="Cambria Math" panose="02040503050406030204" pitchFamily="18" charset="0"/>
                          </a:rPr>
                          <m:t>𝑒</m:t>
                        </m:r>
                      </m:e>
                      <m:sup>
                        <m:f>
                          <m:fPr>
                            <m:type m:val="lin"/>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r>
                                  <a:rPr lang="en-US" b="0" i="1" smtClean="0">
                                    <a:latin typeface="Cambria Math" panose="02040503050406030204" pitchFamily="18" charset="0"/>
                                  </a:rPr>
                                  <m:t>𝑉</m:t>
                                </m:r>
                              </m:e>
                              <m:sub>
                                <m:r>
                                  <a:rPr lang="en-US" b="0" i="1" smtClean="0">
                                    <a:latin typeface="Cambria Math" panose="02040503050406030204" pitchFamily="18" charset="0"/>
                                  </a:rPr>
                                  <m:t>𝐼</m:t>
                                </m:r>
                              </m:sub>
                            </m:sSub>
                            <m:r>
                              <a:rPr lang="en-US" b="0" i="1" smtClean="0">
                                <a:latin typeface="Cambria Math" panose="02040503050406030204" pitchFamily="18" charset="0"/>
                              </a:rPr>
                              <m:t>+</m:t>
                            </m:r>
                            <m:r>
                              <m:rPr>
                                <m:sty m:val="p"/>
                              </m:rPr>
                              <a:rPr lang="en-US" b="0" i="0" smtClean="0">
                                <a:latin typeface="Cambria Math" panose="02040503050406030204" pitchFamily="18" charset="0"/>
                              </a:rPr>
                              <m:t>Δ</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𝐼</m:t>
                                </m:r>
                              </m:sub>
                            </m:sSub>
                            <m:r>
                              <a:rPr lang="en-US" b="0" i="1" smtClean="0">
                                <a:latin typeface="Cambria Math" panose="02040503050406030204" pitchFamily="18" charset="0"/>
                              </a:rPr>
                              <m:t>)</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𝑇𝐻</m:t>
                                </m:r>
                              </m:sub>
                            </m:sSub>
                          </m:den>
                        </m:f>
                      </m:sup>
                    </m:sSup>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m:t>
                    </m:r>
                  </m:oMath>
                </a14:m>
                <a:endParaRPr lang="en-US" b="0" dirty="0"/>
              </a:p>
              <a:p>
                <a:pPr marL="0" indent="0" algn="l" rtl="0">
                  <a:buNone/>
                </a:pPr>
                <a:endParaRPr lang="en-US" dirty="0"/>
              </a:p>
              <a:p>
                <a:pPr algn="l" rtl="0"/>
                <a:endParaRPr lang="fa-IR"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0">
                <a:blip r:embed="rId2"/>
                <a:stretch>
                  <a:fillRect r="-449"/>
                </a:stretch>
              </a:blipFill>
            </p:spPr>
            <p:txBody>
              <a:bodyPr/>
              <a:lstStyle/>
              <a:p>
                <a:r>
                  <a:rPr lang="fa-IR">
                    <a:noFill/>
                  </a:rPr>
                  <a:t> </a:t>
                </a:r>
              </a:p>
            </p:txBody>
          </p:sp>
        </mc:Fallback>
      </mc:AlternateContent>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12. ترانزیستور (ادامه)</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rtl="1">
              <a:defRPr/>
            </a:pPr>
            <a:fld id="{B5CFC3F8-B58D-40FA-AF21-F23E618E0688}" type="slidenum">
              <a:rPr lang="en-US" altLang="en-US" smtClean="0"/>
              <a:pPr rtl="1">
                <a:defRPr/>
              </a:pPr>
              <a:t>23</a:t>
            </a:fld>
            <a:endParaRPr lang="en-US" altLang="en-US" dirty="0"/>
          </a:p>
        </p:txBody>
      </p:sp>
      <p:pic>
        <p:nvPicPr>
          <p:cNvPr id="8" name="Picture 7"/>
          <p:cNvPicPr>
            <a:picLocks noChangeAspect="1"/>
          </p:cNvPicPr>
          <p:nvPr/>
        </p:nvPicPr>
        <p:blipFill>
          <a:blip r:embed="rId3"/>
          <a:stretch>
            <a:fillRect/>
          </a:stretch>
        </p:blipFill>
        <p:spPr>
          <a:xfrm>
            <a:off x="867007" y="1371600"/>
            <a:ext cx="6096000" cy="1955527"/>
          </a:xfrm>
          <a:prstGeom prst="rect">
            <a:avLst/>
          </a:prstGeom>
        </p:spPr>
      </p:pic>
    </p:spTree>
    <p:extLst>
      <p:ext uri="{BB962C8B-B14F-4D97-AF65-F5344CB8AC3E}">
        <p14:creationId xmlns:p14="http://schemas.microsoft.com/office/powerpoint/2010/main" val="1726912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رفتار غیرخطی دیود</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fa-IR" dirty="0"/>
                  <a:t>با استفاده از بسط تیلور حول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𝐼</m:t>
                        </m:r>
                      </m:sub>
                    </m:sSub>
                  </m:oMath>
                </a14:m>
                <a:r>
                  <a:rPr lang="fa-IR" dirty="0"/>
                  <a:t> داریم:</a:t>
                </a:r>
              </a:p>
              <a:p>
                <a:pPr algn="l" rtl="0"/>
                <a14:m>
                  <m:oMath xmlns:m="http://schemas.openxmlformats.org/officeDocument/2006/math">
                    <m:r>
                      <a:rPr lang="en-US" sz="2400" b="0" i="1" smtClean="0">
                        <a:latin typeface="Cambria Math" panose="02040503050406030204" pitchFamily="18" charset="0"/>
                      </a:rPr>
                      <m:t>𝑓</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e>
                    </m:d>
                    <m:r>
                      <a:rPr lang="en-US" sz="2400" b="0" i="1" smtClean="0">
                        <a:latin typeface="Cambria Math" panose="02040503050406030204" pitchFamily="18" charset="0"/>
                      </a:rPr>
                      <m:t>=</m:t>
                    </m:r>
                    <m:r>
                      <a:rPr lang="en-US" sz="2400" b="0" i="1" smtClean="0">
                        <a:latin typeface="Cambria Math" panose="02040503050406030204" pitchFamily="18" charset="0"/>
                      </a:rPr>
                      <m:t>𝑓</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𝑎</m:t>
                        </m:r>
                      </m:e>
                    </m:d>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𝑓</m:t>
                        </m:r>
                      </m:e>
                      <m:sup>
                        <m:r>
                          <a:rPr lang="en-US" sz="2400" b="0" i="1" smtClean="0">
                            <a:latin typeface="Cambria Math" panose="02040503050406030204" pitchFamily="18" charset="0"/>
                          </a:rPr>
                          <m:t>′</m:t>
                        </m:r>
                      </m:sup>
                    </m:sSup>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𝑎</m:t>
                        </m:r>
                      </m:e>
                    </m:d>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r>
                          <a:rPr lang="en-US" sz="2400" b="0" i="1" smtClean="0">
                            <a:latin typeface="Cambria Math" panose="02040503050406030204" pitchFamily="18" charset="0"/>
                          </a:rPr>
                          <m:t>−</m:t>
                        </m:r>
                        <m:r>
                          <a:rPr lang="en-US" sz="2400" b="0" i="1" smtClean="0">
                            <a:latin typeface="Cambria Math" panose="02040503050406030204" pitchFamily="18" charset="0"/>
                          </a:rPr>
                          <m:t>𝑎</m:t>
                        </m:r>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m:t>
                        </m:r>
                        <m:r>
                          <a:rPr lang="en-US" sz="2400" b="0" i="1" smtClean="0">
                            <a:latin typeface="Cambria Math" panose="02040503050406030204" pitchFamily="18" charset="0"/>
                          </a:rPr>
                          <m:t>!</m:t>
                        </m:r>
                      </m:den>
                    </m:f>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𝑓</m:t>
                        </m:r>
                      </m:e>
                      <m:sup>
                        <m:r>
                          <a:rPr lang="en-US" sz="2400" b="0" i="1" smtClean="0">
                            <a:latin typeface="Cambria Math" panose="02040503050406030204" pitchFamily="18" charset="0"/>
                          </a:rPr>
                          <m:t>′′</m:t>
                        </m:r>
                      </m:sup>
                    </m:sSup>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𝑎</m:t>
                        </m:r>
                      </m:e>
                    </m:d>
                    <m:sSup>
                      <m:sSupPr>
                        <m:ctrlPr>
                          <a:rPr lang="en-US" sz="2400" b="0" i="1" smtClean="0">
                            <a:latin typeface="Cambria Math" panose="02040503050406030204" pitchFamily="18" charset="0"/>
                          </a:rPr>
                        </m:ctrlPr>
                      </m:sSupPr>
                      <m:e>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r>
                              <a:rPr lang="en-US" sz="2400" b="0" i="1" smtClean="0">
                                <a:latin typeface="Cambria Math" panose="02040503050406030204" pitchFamily="18" charset="0"/>
                              </a:rPr>
                              <m:t>−</m:t>
                            </m:r>
                            <m:r>
                              <a:rPr lang="en-US" sz="2400" b="0" i="1" smtClean="0">
                                <a:latin typeface="Cambria Math" panose="02040503050406030204" pitchFamily="18" charset="0"/>
                              </a:rPr>
                              <m:t>𝑎</m:t>
                            </m:r>
                          </m:e>
                        </m:d>
                      </m:e>
                      <m:sup>
                        <m:r>
                          <a:rPr lang="en-US" sz="2400" b="0" i="1" smtClean="0">
                            <a:latin typeface="Cambria Math" panose="02040503050406030204" pitchFamily="18" charset="0"/>
                          </a:rPr>
                          <m:t>2</m:t>
                        </m:r>
                      </m:sup>
                    </m:sSup>
                    <m:r>
                      <a:rPr lang="en-US" sz="2400" b="0" i="1" smtClean="0">
                        <a:latin typeface="Cambria Math" panose="02040503050406030204" pitchFamily="18" charset="0"/>
                      </a:rPr>
                      <m:t>+…</m:t>
                    </m:r>
                  </m:oMath>
                </a14:m>
                <a:endParaRPr lang="en-US" sz="2400" dirty="0"/>
              </a:p>
              <a:p>
                <a:pPr lvl="1" algn="l" rtl="0"/>
                <a14:m>
                  <m:oMath xmlns:m="http://schemas.openxmlformats.org/officeDocument/2006/math">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𝑖</m:t>
                        </m:r>
                      </m:e>
                      <m:sub>
                        <m:r>
                          <a:rPr lang="en-US" sz="2100" b="0" i="1" smtClean="0">
                            <a:latin typeface="Cambria Math" panose="02040503050406030204" pitchFamily="18" charset="0"/>
                          </a:rPr>
                          <m:t>𝐷</m:t>
                        </m:r>
                      </m:sub>
                    </m:sSub>
                    <m:r>
                      <a:rPr lang="en-US" sz="2100" b="0" i="1" smtClean="0">
                        <a:latin typeface="Cambria Math" panose="02040503050406030204" pitchFamily="18" charset="0"/>
                      </a:rPr>
                      <m:t>=</m:t>
                    </m:r>
                    <m:r>
                      <a:rPr lang="en-US" sz="2100" b="0" i="1" smtClean="0">
                        <a:latin typeface="Cambria Math" panose="02040503050406030204" pitchFamily="18" charset="0"/>
                      </a:rPr>
                      <m:t>𝑓</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𝑥</m:t>
                        </m:r>
                      </m:e>
                    </m:d>
                    <m:r>
                      <a:rPr lang="en-US" sz="2100" b="0" i="1" smtClean="0">
                        <a:latin typeface="Cambria Math" panose="02040503050406030204" pitchFamily="18" charset="0"/>
                      </a:rPr>
                      <m:t>=</m:t>
                    </m:r>
                    <m:sSup>
                      <m:sSupPr>
                        <m:ctrlPr>
                          <a:rPr lang="en-US" sz="2100" i="1">
                            <a:latin typeface="Cambria Math" panose="02040503050406030204" pitchFamily="18" charset="0"/>
                          </a:rPr>
                        </m:ctrlPr>
                      </m:sSupPr>
                      <m:e>
                        <m:sSub>
                          <m:sSubPr>
                            <m:ctrlPr>
                              <a:rPr lang="en-US" sz="2100" i="1">
                                <a:latin typeface="Cambria Math" panose="02040503050406030204" pitchFamily="18" charset="0"/>
                              </a:rPr>
                            </m:ctrlPr>
                          </m:sSubPr>
                          <m:e>
                            <m:r>
                              <a:rPr lang="en-US" sz="2100" i="1">
                                <a:latin typeface="Cambria Math" panose="02040503050406030204" pitchFamily="18" charset="0"/>
                              </a:rPr>
                              <m:t>𝐼</m:t>
                            </m:r>
                          </m:e>
                          <m:sub>
                            <m:r>
                              <a:rPr lang="en-US" sz="2100" i="1">
                                <a:latin typeface="Cambria Math" panose="02040503050406030204" pitchFamily="18" charset="0"/>
                              </a:rPr>
                              <m:t>𝑠</m:t>
                            </m:r>
                          </m:sub>
                        </m:sSub>
                        <m:r>
                          <a:rPr lang="en-US" sz="2100" i="1">
                            <a:latin typeface="Cambria Math" panose="02040503050406030204" pitchFamily="18" charset="0"/>
                          </a:rPr>
                          <m:t>[</m:t>
                        </m:r>
                        <m:r>
                          <a:rPr lang="en-US" sz="2100" i="1">
                            <a:latin typeface="Cambria Math" panose="02040503050406030204" pitchFamily="18" charset="0"/>
                          </a:rPr>
                          <m:t>𝑒</m:t>
                        </m:r>
                      </m:e>
                      <m:sup>
                        <m:f>
                          <m:fPr>
                            <m:type m:val="lin"/>
                            <m:ctrlPr>
                              <a:rPr lang="en-US" sz="2100" i="1">
                                <a:latin typeface="Cambria Math" panose="02040503050406030204" pitchFamily="18" charset="0"/>
                              </a:rPr>
                            </m:ctrlPr>
                          </m:fPr>
                          <m:num>
                            <m:r>
                              <a:rPr lang="en-US" sz="2100" b="0" i="1" smtClean="0">
                                <a:latin typeface="Cambria Math" panose="02040503050406030204" pitchFamily="18" charset="0"/>
                              </a:rPr>
                              <m:t>𝑥</m:t>
                            </m:r>
                          </m:num>
                          <m:den>
                            <m:sSub>
                              <m:sSubPr>
                                <m:ctrlPr>
                                  <a:rPr lang="en-US" sz="2100" i="1">
                                    <a:latin typeface="Cambria Math" panose="02040503050406030204" pitchFamily="18" charset="0"/>
                                  </a:rPr>
                                </m:ctrlPr>
                              </m:sSubPr>
                              <m:e>
                                <m:r>
                                  <a:rPr lang="en-US" sz="2100" i="1">
                                    <a:latin typeface="Cambria Math" panose="02040503050406030204" pitchFamily="18" charset="0"/>
                                  </a:rPr>
                                  <m:t>𝑉</m:t>
                                </m:r>
                              </m:e>
                              <m:sub>
                                <m:r>
                                  <a:rPr lang="en-US" sz="2100" i="1">
                                    <a:latin typeface="Cambria Math" panose="02040503050406030204" pitchFamily="18" charset="0"/>
                                  </a:rPr>
                                  <m:t>𝑇𝐻</m:t>
                                </m:r>
                              </m:sub>
                            </m:sSub>
                          </m:den>
                        </m:f>
                      </m:sup>
                    </m:sSup>
                    <m:r>
                      <a:rPr lang="en-US" sz="2100" i="1">
                        <a:latin typeface="Cambria Math" panose="02040503050406030204" pitchFamily="18" charset="0"/>
                      </a:rPr>
                      <m:t>−</m:t>
                    </m:r>
                    <m:r>
                      <a:rPr lang="en-US" sz="2100" i="1">
                        <a:latin typeface="Cambria Math" panose="02040503050406030204" pitchFamily="18" charset="0"/>
                      </a:rPr>
                      <m:t>1</m:t>
                    </m:r>
                    <m:r>
                      <a:rPr lang="en-US" sz="2100" i="1">
                        <a:latin typeface="Cambria Math" panose="02040503050406030204" pitchFamily="18" charset="0"/>
                      </a:rPr>
                      <m:t>]</m:t>
                    </m:r>
                  </m:oMath>
                </a14:m>
                <a:endParaRPr lang="en-US" sz="2100" dirty="0"/>
              </a:p>
              <a:p>
                <a:pPr lvl="1" algn="l" rtl="0"/>
                <a14:m>
                  <m:oMath xmlns:m="http://schemas.openxmlformats.org/officeDocument/2006/math">
                    <m:r>
                      <a:rPr lang="en-US" sz="2100" b="0" i="1" smtClean="0">
                        <a:latin typeface="Cambria Math" panose="02040503050406030204" pitchFamily="18" charset="0"/>
                      </a:rPr>
                      <m:t>𝑥</m:t>
                    </m:r>
                    <m:r>
                      <a:rPr lang="en-US" sz="2100" b="0" i="1" smtClean="0">
                        <a:latin typeface="Cambria Math" panose="02040503050406030204" pitchFamily="18" charset="0"/>
                      </a:rPr>
                      <m:t>=</m:t>
                    </m:r>
                    <m:sSub>
                      <m:sSubPr>
                        <m:ctrlPr>
                          <a:rPr lang="en-US" sz="2100" i="1">
                            <a:latin typeface="Cambria Math" panose="02040503050406030204" pitchFamily="18" charset="0"/>
                          </a:rPr>
                        </m:ctrlPr>
                      </m:sSubPr>
                      <m:e>
                        <m:r>
                          <a:rPr lang="en-US" sz="2100" i="1">
                            <a:latin typeface="Cambria Math" panose="02040503050406030204" pitchFamily="18" charset="0"/>
                          </a:rPr>
                          <m:t>𝑉</m:t>
                        </m:r>
                      </m:e>
                      <m:sub>
                        <m:r>
                          <a:rPr lang="en-US" sz="2100" i="1">
                            <a:latin typeface="Cambria Math" panose="02040503050406030204" pitchFamily="18" charset="0"/>
                          </a:rPr>
                          <m:t>𝐼</m:t>
                        </m:r>
                      </m:sub>
                    </m:sSub>
                    <m:r>
                      <a:rPr lang="en-US" sz="2100" i="1">
                        <a:latin typeface="Cambria Math" panose="02040503050406030204" pitchFamily="18" charset="0"/>
                      </a:rPr>
                      <m:t>+</m:t>
                    </m:r>
                    <m:r>
                      <m:rPr>
                        <m:sty m:val="p"/>
                      </m:rPr>
                      <a:rPr lang="en-US" sz="2100">
                        <a:latin typeface="Cambria Math" panose="02040503050406030204" pitchFamily="18" charset="0"/>
                      </a:rPr>
                      <m:t>Δ</m:t>
                    </m:r>
                    <m:sSub>
                      <m:sSubPr>
                        <m:ctrlPr>
                          <a:rPr lang="en-US" sz="2100" i="1">
                            <a:latin typeface="Cambria Math" panose="02040503050406030204" pitchFamily="18" charset="0"/>
                          </a:rPr>
                        </m:ctrlPr>
                      </m:sSubPr>
                      <m:e>
                        <m:r>
                          <a:rPr lang="en-US" sz="2100" i="1">
                            <a:latin typeface="Cambria Math" panose="02040503050406030204" pitchFamily="18" charset="0"/>
                          </a:rPr>
                          <m:t>𝑣</m:t>
                        </m:r>
                      </m:e>
                      <m:sub>
                        <m:r>
                          <a:rPr lang="en-US" sz="2100" i="1">
                            <a:latin typeface="Cambria Math" panose="02040503050406030204" pitchFamily="18" charset="0"/>
                          </a:rPr>
                          <m:t>𝐼</m:t>
                        </m:r>
                      </m:sub>
                    </m:sSub>
                  </m:oMath>
                </a14:m>
                <a:endParaRPr lang="en-US" sz="2100" dirty="0"/>
              </a:p>
              <a:p>
                <a:pPr lvl="1" algn="l" rtl="0"/>
                <a14:m>
                  <m:oMath xmlns:m="http://schemas.openxmlformats.org/officeDocument/2006/math">
                    <m:r>
                      <a:rPr lang="en-US" sz="2100" b="0" i="1" smtClean="0">
                        <a:latin typeface="Cambria Math" panose="02040503050406030204" pitchFamily="18" charset="0"/>
                      </a:rPr>
                      <m:t>𝑎</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𝑉</m:t>
                        </m:r>
                      </m:e>
                      <m:sub>
                        <m:r>
                          <a:rPr lang="en-US" sz="2100" b="0" i="1" smtClean="0">
                            <a:latin typeface="Cambria Math" panose="02040503050406030204" pitchFamily="18" charset="0"/>
                          </a:rPr>
                          <m:t>𝐼</m:t>
                        </m:r>
                      </m:sub>
                    </m:sSub>
                  </m:oMath>
                </a14:m>
                <a:endParaRPr lang="fa-IR" sz="2100" dirty="0"/>
              </a:p>
              <a:p>
                <a:pPr algn="l" rtl="0"/>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𝑖</m:t>
                        </m:r>
                      </m:e>
                      <m:sub>
                        <m:r>
                          <a:rPr lang="en-US" sz="2400" b="0" i="1" smtClean="0">
                            <a:latin typeface="Cambria Math" panose="02040503050406030204" pitchFamily="18" charset="0"/>
                          </a:rPr>
                          <m:t>𝐷</m:t>
                        </m:r>
                      </m:sub>
                    </m:sSub>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𝐼</m:t>
                            </m:r>
                          </m:e>
                          <m:sub>
                            <m:r>
                              <a:rPr lang="en-US" sz="2400" b="0" i="1" smtClean="0">
                                <a:latin typeface="Cambria Math" panose="02040503050406030204" pitchFamily="18" charset="0"/>
                              </a:rPr>
                              <m:t>𝑠</m:t>
                            </m:r>
                          </m:sub>
                        </m:sSub>
                        <m:r>
                          <a:rPr lang="en-US" sz="2400" b="0" i="1" smtClean="0">
                            <a:latin typeface="Cambria Math" panose="02040503050406030204" pitchFamily="18" charset="0"/>
                          </a:rPr>
                          <m:t>[</m:t>
                        </m:r>
                        <m:r>
                          <a:rPr lang="en-US" sz="2400" b="0" i="1" smtClean="0">
                            <a:latin typeface="Cambria Math" panose="02040503050406030204" pitchFamily="18" charset="0"/>
                          </a:rPr>
                          <m:t>𝑒</m:t>
                        </m:r>
                      </m:e>
                      <m:sup>
                        <m:f>
                          <m:fPr>
                            <m:type m:val="lin"/>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m:t>
                                </m:r>
                                <m:r>
                                  <a:rPr lang="en-US" sz="2400" b="0" i="1" smtClean="0">
                                    <a:latin typeface="Cambria Math" panose="02040503050406030204" pitchFamily="18" charset="0"/>
                                  </a:rPr>
                                  <m:t>𝑉</m:t>
                                </m:r>
                              </m:e>
                              <m:sub>
                                <m:r>
                                  <a:rPr lang="en-US" sz="2400" b="0" i="1" smtClean="0">
                                    <a:latin typeface="Cambria Math" panose="02040503050406030204" pitchFamily="18" charset="0"/>
                                  </a:rPr>
                                  <m:t>𝐼</m:t>
                                </m:r>
                              </m:sub>
                            </m:sSub>
                            <m:r>
                              <a:rPr lang="en-US" sz="2400" b="0" i="1" smtClean="0">
                                <a:latin typeface="Cambria Math" panose="02040503050406030204" pitchFamily="18" charset="0"/>
                              </a:rPr>
                              <m:t>+</m:t>
                            </m:r>
                            <m:r>
                              <m:rPr>
                                <m:sty m:val="p"/>
                              </m:rPr>
                              <a:rPr lang="en-US" sz="2400" b="0" i="0" smtClean="0">
                                <a:latin typeface="Cambria Math" panose="02040503050406030204" pitchFamily="18" charset="0"/>
                              </a:rPr>
                              <m:t>Δ</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𝐼</m:t>
                                </m:r>
                              </m:sub>
                            </m:sSub>
                            <m:r>
                              <a:rPr lang="en-US" sz="2400" b="0" i="1" smtClean="0">
                                <a:latin typeface="Cambria Math" panose="02040503050406030204" pitchFamily="18" charset="0"/>
                              </a:rPr>
                              <m:t>)</m:t>
                            </m:r>
                          </m:num>
                          <m:den>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𝑇𝐻</m:t>
                                </m:r>
                              </m:sub>
                            </m:sSub>
                          </m:den>
                        </m:f>
                      </m:sup>
                    </m:sSup>
                    <m:r>
                      <a:rPr lang="en-US" sz="2400" b="0" i="1" smtClean="0">
                        <a:latin typeface="Cambria Math" panose="02040503050406030204" pitchFamily="18" charset="0"/>
                      </a:rPr>
                      <m:t>−</m:t>
                    </m:r>
                    <m:r>
                      <a:rPr lang="en-US" sz="2400" b="0" i="1" smtClean="0">
                        <a:latin typeface="Cambria Math" panose="02040503050406030204" pitchFamily="18" charset="0"/>
                      </a:rPr>
                      <m:t>1</m:t>
                    </m:r>
                    <m:r>
                      <a:rPr lang="en-US" sz="2400" b="0" i="1" smtClean="0">
                        <a:latin typeface="Cambria Math" panose="02040503050406030204" pitchFamily="18" charset="0"/>
                      </a:rPr>
                      <m:t>]</m:t>
                    </m:r>
                  </m:oMath>
                </a14:m>
                <a:endParaRPr lang="en-US" sz="2400" b="0" i="1" dirty="0">
                  <a:latin typeface="Cambria Math" panose="02040503050406030204" pitchFamily="18" charset="0"/>
                </a:endParaRPr>
              </a:p>
              <a:p>
                <a:pPr marL="0" indent="0" algn="l" rtl="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          =</m:t>
                      </m:r>
                      <m:sSup>
                        <m:sSupPr>
                          <m:ctrlPr>
                            <a:rPr lang="en-US" sz="2400" i="1">
                              <a:latin typeface="Cambria Math" panose="02040503050406030204" pitchFamily="18" charset="0"/>
                            </a:rPr>
                          </m:ctrlPr>
                        </m:sSupPr>
                        <m:e>
                          <m:sSub>
                            <m:sSubPr>
                              <m:ctrlPr>
                                <a:rPr lang="en-US" sz="2400" i="1">
                                  <a:latin typeface="Cambria Math" panose="02040503050406030204" pitchFamily="18" charset="0"/>
                                </a:rPr>
                              </m:ctrlPr>
                            </m:sSubPr>
                            <m:e>
                              <m:r>
                                <a:rPr lang="en-US" sz="2400" i="1">
                                  <a:latin typeface="Cambria Math" panose="02040503050406030204" pitchFamily="18" charset="0"/>
                                </a:rPr>
                                <m:t>𝐼</m:t>
                              </m:r>
                            </m:e>
                            <m:sub>
                              <m:r>
                                <a:rPr lang="en-US" sz="2400" i="1">
                                  <a:latin typeface="Cambria Math" panose="02040503050406030204" pitchFamily="18" charset="0"/>
                                </a:rPr>
                                <m:t>𝑠</m:t>
                              </m:r>
                            </m:sub>
                          </m:sSub>
                          <m:r>
                            <a:rPr lang="en-US" sz="2400" i="1">
                              <a:latin typeface="Cambria Math" panose="02040503050406030204" pitchFamily="18" charset="0"/>
                            </a:rPr>
                            <m:t>(</m:t>
                          </m:r>
                          <m:r>
                            <a:rPr lang="en-US" sz="2400" i="1">
                              <a:latin typeface="Cambria Math" panose="02040503050406030204" pitchFamily="18" charset="0"/>
                            </a:rPr>
                            <m:t>𝑒</m:t>
                          </m:r>
                        </m:e>
                        <m:sup>
                          <m:f>
                            <m:fPr>
                              <m:type m:val="lin"/>
                              <m:ctrlPr>
                                <a:rPr lang="en-US" sz="240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𝐼</m:t>
                                  </m:r>
                                </m:sub>
                              </m:sSub>
                            </m:num>
                            <m:den>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𝑇𝐻</m:t>
                                  </m:r>
                                </m:sub>
                              </m:sSub>
                            </m:den>
                          </m:f>
                        </m:sup>
                      </m:sSup>
                      <m:r>
                        <a:rPr lang="en-US" sz="2400" b="0" i="1" smtClean="0">
                          <a:latin typeface="Cambria Math" panose="02040503050406030204" pitchFamily="18" charset="0"/>
                        </a:rPr>
                        <m:t>−</m:t>
                      </m:r>
                      <m:r>
                        <a:rPr lang="en-US" sz="2400" b="0" i="1" smtClean="0">
                          <a:latin typeface="Cambria Math" panose="02040503050406030204" pitchFamily="18" charset="0"/>
                        </a:rPr>
                        <m:t>1</m:t>
                      </m:r>
                      <m:r>
                        <a:rPr lang="en-US" sz="2400" b="0" i="1" smtClean="0">
                          <a:latin typeface="Cambria Math" panose="02040503050406030204" pitchFamily="18" charset="0"/>
                        </a:rPr>
                        <m:t>)+</m:t>
                      </m:r>
                      <m:sSup>
                        <m:sSupPr>
                          <m:ctrlPr>
                            <a:rPr lang="en-US" sz="2400" i="1">
                              <a:latin typeface="Cambria Math" panose="02040503050406030204" pitchFamily="18" charset="0"/>
                            </a:rPr>
                          </m:ctrlPr>
                        </m:sSupPr>
                        <m:e>
                          <m:sSub>
                            <m:sSubPr>
                              <m:ctrlPr>
                                <a:rPr lang="en-US" sz="2400" i="1">
                                  <a:latin typeface="Cambria Math" panose="02040503050406030204" pitchFamily="18" charset="0"/>
                                </a:rPr>
                              </m:ctrlPr>
                            </m:sSubPr>
                            <m:e>
                              <m:r>
                                <a:rPr lang="en-US" sz="2400" i="1">
                                  <a:latin typeface="Cambria Math" panose="02040503050406030204" pitchFamily="18" charset="0"/>
                                </a:rPr>
                                <m:t>𝐼</m:t>
                              </m:r>
                            </m:e>
                            <m:sub>
                              <m:r>
                                <a:rPr lang="en-US" sz="2400" i="1">
                                  <a:latin typeface="Cambria Math" panose="02040503050406030204" pitchFamily="18" charset="0"/>
                                </a:rPr>
                                <m:t>𝑠</m:t>
                              </m:r>
                            </m:sub>
                          </m:sSub>
                          <m:r>
                            <a:rPr lang="en-US" sz="2400" i="1">
                              <a:latin typeface="Cambria Math" panose="02040503050406030204" pitchFamily="18" charset="0"/>
                            </a:rPr>
                            <m:t>𝑒</m:t>
                          </m:r>
                        </m:e>
                        <m:sup>
                          <m:f>
                            <m:fPr>
                              <m:type m:val="lin"/>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𝐼</m:t>
                                  </m:r>
                                </m:sub>
                              </m:sSub>
                            </m:num>
                            <m:den>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𝑇𝐻</m:t>
                                  </m:r>
                                </m:sub>
                              </m:sSub>
                            </m:den>
                          </m:f>
                        </m:sup>
                      </m:sSup>
                      <m:d>
                        <m:dPr>
                          <m:begChr m:val="["/>
                          <m:endChr m:val="]"/>
                          <m:ctrlPr>
                            <a:rPr lang="en-US" sz="2400" i="1" smtClean="0">
                              <a:latin typeface="Cambria Math" panose="02040503050406030204" pitchFamily="18" charset="0"/>
                            </a:rPr>
                          </m:ctrlPr>
                        </m:dPr>
                        <m:e>
                          <m:f>
                            <m:fPr>
                              <m:ctrlPr>
                                <a:rPr lang="en-US" sz="2400" i="1">
                                  <a:latin typeface="Cambria Math" panose="02040503050406030204" pitchFamily="18" charset="0"/>
                                </a:rPr>
                              </m:ctrlPr>
                            </m:fPr>
                            <m:num>
                              <m:r>
                                <m:rPr>
                                  <m:sty m:val="p"/>
                                </m:rPr>
                                <a:rPr lang="en-US" sz="2400">
                                  <a:latin typeface="Cambria Math" panose="02040503050406030204" pitchFamily="18" charset="0"/>
                                </a:rPr>
                                <m:t>Δ</m:t>
                              </m:r>
                              <m:sSub>
                                <m:sSubPr>
                                  <m:ctrlPr>
                                    <a:rPr lang="en-US" sz="2400" i="1">
                                      <a:latin typeface="Cambria Math" panose="02040503050406030204" pitchFamily="18" charset="0"/>
                                    </a:rPr>
                                  </m:ctrlPr>
                                </m:sSubPr>
                                <m:e>
                                  <m:r>
                                    <a:rPr lang="en-US" sz="2400" i="1">
                                      <a:latin typeface="Cambria Math" panose="02040503050406030204" pitchFamily="18" charset="0"/>
                                    </a:rPr>
                                    <m:t>𝑣</m:t>
                                  </m:r>
                                </m:e>
                                <m:sub>
                                  <m:r>
                                    <a:rPr lang="en-US" sz="2400" i="1">
                                      <a:latin typeface="Cambria Math" panose="02040503050406030204" pitchFamily="18" charset="0"/>
                                    </a:rPr>
                                    <m:t>𝐼</m:t>
                                  </m:r>
                                </m:sub>
                              </m:sSub>
                            </m:num>
                            <m:den>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𝑇𝐻</m:t>
                                  </m:r>
                                </m:sub>
                              </m:sSub>
                            </m:den>
                          </m:f>
                          <m:r>
                            <a:rPr lang="en-US" sz="2400" i="1">
                              <a:latin typeface="Cambria Math" panose="02040503050406030204" pitchFamily="18" charset="0"/>
                            </a:rPr>
                            <m:t> +</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m:t>
                              </m:r>
                            </m:den>
                          </m:f>
                          <m:sSup>
                            <m:sSupPr>
                              <m:ctrlPr>
                                <a:rPr lang="en-US" sz="2400" b="0" i="1" smtClean="0">
                                  <a:latin typeface="Cambria Math" panose="02040503050406030204" pitchFamily="18" charset="0"/>
                                </a:rPr>
                              </m:ctrlPr>
                            </m:sSupPr>
                            <m:e>
                              <m:d>
                                <m:dPr>
                                  <m:ctrlPr>
                                    <a:rPr lang="en-US" sz="2400" b="0" i="1" smtClean="0">
                                      <a:latin typeface="Cambria Math" panose="02040503050406030204" pitchFamily="18" charset="0"/>
                                    </a:rPr>
                                  </m:ctrlPr>
                                </m:dPr>
                                <m:e>
                                  <m:f>
                                    <m:fPr>
                                      <m:ctrlPr>
                                        <a:rPr lang="en-US" sz="2400" i="1">
                                          <a:latin typeface="Cambria Math" panose="02040503050406030204" pitchFamily="18" charset="0"/>
                                        </a:rPr>
                                      </m:ctrlPr>
                                    </m:fPr>
                                    <m:num>
                                      <m:r>
                                        <m:rPr>
                                          <m:sty m:val="p"/>
                                        </m:rPr>
                                        <a:rPr lang="en-US" sz="2400">
                                          <a:latin typeface="Cambria Math" panose="02040503050406030204" pitchFamily="18" charset="0"/>
                                        </a:rPr>
                                        <m:t>Δ</m:t>
                                      </m:r>
                                      <m:sSub>
                                        <m:sSubPr>
                                          <m:ctrlPr>
                                            <a:rPr lang="en-US" sz="2400" i="1">
                                              <a:latin typeface="Cambria Math" panose="02040503050406030204" pitchFamily="18" charset="0"/>
                                            </a:rPr>
                                          </m:ctrlPr>
                                        </m:sSubPr>
                                        <m:e>
                                          <m:r>
                                            <a:rPr lang="en-US" sz="2400" i="1">
                                              <a:latin typeface="Cambria Math" panose="02040503050406030204" pitchFamily="18" charset="0"/>
                                            </a:rPr>
                                            <m:t>𝑣</m:t>
                                          </m:r>
                                        </m:e>
                                        <m:sub>
                                          <m:r>
                                            <a:rPr lang="en-US" sz="2400" i="1">
                                              <a:latin typeface="Cambria Math" panose="02040503050406030204" pitchFamily="18" charset="0"/>
                                            </a:rPr>
                                            <m:t>𝐼</m:t>
                                          </m:r>
                                        </m:sub>
                                      </m:sSub>
                                    </m:num>
                                    <m:den>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𝑇𝐻</m:t>
                                          </m:r>
                                        </m:sub>
                                      </m:sSub>
                                    </m:den>
                                  </m:f>
                                </m:e>
                              </m:d>
                            </m:e>
                            <m:sup>
                              <m:r>
                                <a:rPr lang="en-US" sz="2400" b="0" i="1" smtClean="0">
                                  <a:latin typeface="Cambria Math" panose="02040503050406030204" pitchFamily="18" charset="0"/>
                                </a:rPr>
                                <m:t>2</m:t>
                              </m:r>
                            </m:sup>
                          </m:sSup>
                          <m:r>
                            <a:rPr lang="en-US" sz="2400" b="0" i="1" smtClean="0">
                              <a:latin typeface="Cambria Math" panose="02040503050406030204" pitchFamily="18" charset="0"/>
                            </a:rPr>
                            <m:t>+</m:t>
                          </m:r>
                          <m:r>
                            <a:rPr lang="en-US" sz="2400" i="1">
                              <a:latin typeface="Cambria Math" panose="02040503050406030204" pitchFamily="18" charset="0"/>
                            </a:rPr>
                            <m:t>…</m:t>
                          </m:r>
                          <m:r>
                            <m:rPr>
                              <m:nor/>
                            </m:rPr>
                            <a:rPr lang="en-US" sz="2400" dirty="0"/>
                            <m:t> </m:t>
                          </m:r>
                        </m:e>
                      </m:d>
                      <m:r>
                        <a:rPr lang="en-US" sz="2400" b="0" i="1" smtClean="0">
                          <a:latin typeface="Cambria Math" panose="02040503050406030204" pitchFamily="18" charset="0"/>
                        </a:rPr>
                        <m:t>     </m:t>
                      </m:r>
                    </m:oMath>
                  </m:oMathPara>
                </a14:m>
                <a:endParaRPr lang="en-US" sz="2400" b="0" i="1" dirty="0">
                  <a:latin typeface="Cambria Math" panose="02040503050406030204" pitchFamily="18" charset="0"/>
                </a:endParaRPr>
              </a:p>
              <a:p>
                <a:pPr marL="0" indent="0" algn="l" rtl="0">
                  <a:buNone/>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m:t>
                      </m:r>
                      <m:sSup>
                        <m:sSupPr>
                          <m:ctrlPr>
                            <a:rPr lang="en-US" sz="2400" i="1">
                              <a:latin typeface="Cambria Math" panose="02040503050406030204" pitchFamily="18" charset="0"/>
                            </a:rPr>
                          </m:ctrlPr>
                        </m:sSupPr>
                        <m:e>
                          <m:sSub>
                            <m:sSubPr>
                              <m:ctrlPr>
                                <a:rPr lang="en-US" sz="2400" i="1">
                                  <a:latin typeface="Cambria Math" panose="02040503050406030204" pitchFamily="18" charset="0"/>
                                </a:rPr>
                              </m:ctrlPr>
                            </m:sSubPr>
                            <m:e>
                              <m:r>
                                <a:rPr lang="en-US" sz="2400" i="1">
                                  <a:latin typeface="Cambria Math" panose="02040503050406030204" pitchFamily="18" charset="0"/>
                                </a:rPr>
                                <m:t>𝐼</m:t>
                              </m:r>
                            </m:e>
                            <m:sub>
                              <m:r>
                                <a:rPr lang="en-US" sz="2400" i="1">
                                  <a:latin typeface="Cambria Math" panose="02040503050406030204" pitchFamily="18" charset="0"/>
                                </a:rPr>
                                <m:t>𝑠</m:t>
                              </m:r>
                            </m:sub>
                          </m:sSub>
                          <m:r>
                            <a:rPr lang="en-US" sz="2400" i="1">
                              <a:latin typeface="Cambria Math" panose="02040503050406030204" pitchFamily="18" charset="0"/>
                            </a:rPr>
                            <m:t>(</m:t>
                          </m:r>
                          <m:r>
                            <a:rPr lang="en-US" sz="2400" i="1">
                              <a:latin typeface="Cambria Math" panose="02040503050406030204" pitchFamily="18" charset="0"/>
                            </a:rPr>
                            <m:t>𝑒</m:t>
                          </m:r>
                        </m:e>
                        <m:sup>
                          <m:f>
                            <m:fPr>
                              <m:type m:val="lin"/>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𝐼</m:t>
                                  </m:r>
                                </m:sub>
                              </m:sSub>
                            </m:num>
                            <m:den>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𝑇𝐻</m:t>
                                  </m:r>
                                </m:sub>
                              </m:sSub>
                            </m:den>
                          </m:f>
                        </m:sup>
                      </m:sSup>
                      <m:r>
                        <a:rPr lang="en-US" sz="2400" i="1">
                          <a:latin typeface="Cambria Math" panose="02040503050406030204" pitchFamily="18" charset="0"/>
                        </a:rPr>
                        <m:t>−</m:t>
                      </m:r>
                      <m:r>
                        <a:rPr lang="en-US" sz="2400" i="1">
                          <a:latin typeface="Cambria Math" panose="02040503050406030204" pitchFamily="18" charset="0"/>
                        </a:rPr>
                        <m:t>1</m:t>
                      </m:r>
                      <m:r>
                        <a:rPr lang="en-US" sz="2400" i="1">
                          <a:latin typeface="Cambria Math" panose="02040503050406030204" pitchFamily="18" charset="0"/>
                        </a:rPr>
                        <m:t>)+</m:t>
                      </m:r>
                      <m:f>
                        <m:fPr>
                          <m:ctrlPr>
                            <a:rPr lang="en-US" sz="2400" i="1">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𝐼</m:t>
                              </m:r>
                            </m:e>
                            <m:sub>
                              <m:r>
                                <a:rPr lang="en-US" sz="2400" b="0" i="1" smtClean="0">
                                  <a:latin typeface="Cambria Math" panose="02040503050406030204" pitchFamily="18" charset="0"/>
                                </a:rPr>
                                <m:t>𝐷</m:t>
                              </m:r>
                            </m:sub>
                          </m:sSub>
                        </m:num>
                        <m:den>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𝑇𝐻</m:t>
                              </m:r>
                            </m:sub>
                          </m:sSub>
                        </m:den>
                      </m:f>
                      <m:r>
                        <m:rPr>
                          <m:sty m:val="p"/>
                        </m:rPr>
                        <a:rPr lang="en-US" sz="2400" b="0" i="0" smtClean="0">
                          <a:latin typeface="Cambria Math" panose="02040503050406030204" pitchFamily="18" charset="0"/>
                        </a:rPr>
                        <m:t>Δ</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𝐼</m:t>
                          </m:r>
                        </m:sub>
                      </m:sSub>
                    </m:oMath>
                  </m:oMathPara>
                </a14:m>
                <a:endParaRPr lang="en-US" sz="2400" dirty="0"/>
              </a:p>
              <a:p>
                <a:pPr algn="l" rtl="0"/>
                <a:endParaRPr lang="fa-IR" sz="2400"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0">
                <a:blip r:embed="rId2"/>
                <a:stretch>
                  <a:fillRect t="-875" r="-449"/>
                </a:stretch>
              </a:blipFill>
            </p:spPr>
            <p:txBody>
              <a:bodyPr/>
              <a:lstStyle/>
              <a:p>
                <a:r>
                  <a:rPr lang="fa-IR">
                    <a:noFill/>
                  </a:rPr>
                  <a:t> </a:t>
                </a:r>
              </a:p>
            </p:txBody>
          </p:sp>
        </mc:Fallback>
      </mc:AlternateContent>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12. ترانزیستور (ادامه)</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rtl="1">
              <a:defRPr/>
            </a:pPr>
            <a:fld id="{B5CFC3F8-B58D-40FA-AF21-F23E618E0688}" type="slidenum">
              <a:rPr lang="en-US" altLang="en-US" smtClean="0"/>
              <a:pPr rtl="1">
                <a:defRPr/>
              </a:pPr>
              <a:t>24</a:t>
            </a:fld>
            <a:endParaRPr lang="en-US" altLang="en-US" dirty="0"/>
          </a:p>
        </p:txBody>
      </p:sp>
    </p:spTree>
    <p:extLst>
      <p:ext uri="{BB962C8B-B14F-4D97-AF65-F5344CB8AC3E}">
        <p14:creationId xmlns:p14="http://schemas.microsoft.com/office/powerpoint/2010/main" val="478259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مدل سیگنال کوچک و سیگنال بزرگ</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pPr algn="l" rtl="0"/>
                <a14:m>
                  <m:oMath xmlns:m="http://schemas.openxmlformats.org/officeDocument/2006/math">
                    <m:sSub>
                      <m:sSubPr>
                        <m:ctrlPr>
                          <a:rPr lang="en-US" sz="2800" b="0" i="1" smtClean="0">
                            <a:latin typeface="Cambria Math" panose="02040503050406030204" pitchFamily="18" charset="0"/>
                            <a:ea typeface="Cambria Math" panose="02040503050406030204" pitchFamily="18" charset="0"/>
                          </a:rPr>
                        </m:ctrlPr>
                      </m:sSubPr>
                      <m:e>
                        <m:r>
                          <a:rPr lang="en-US" sz="2800" b="0" i="1" smtClean="0">
                            <a:latin typeface="Cambria Math" panose="02040503050406030204" pitchFamily="18" charset="0"/>
                            <a:ea typeface="Cambria Math" panose="02040503050406030204" pitchFamily="18" charset="0"/>
                          </a:rPr>
                          <m:t>𝑖</m:t>
                        </m:r>
                      </m:e>
                      <m:sub>
                        <m:r>
                          <a:rPr lang="en-US" sz="2800" b="0" i="1" smtClean="0">
                            <a:latin typeface="Cambria Math" panose="02040503050406030204" pitchFamily="18" charset="0"/>
                            <a:ea typeface="Cambria Math" panose="02040503050406030204" pitchFamily="18" charset="0"/>
                          </a:rPr>
                          <m:t>𝐷</m:t>
                        </m:r>
                      </m:sub>
                    </m:sSub>
                    <m:r>
                      <a:rPr lang="en-US" sz="2800" i="1">
                        <a:latin typeface="Cambria Math" panose="02040503050406030204" pitchFamily="18" charset="0"/>
                        <a:ea typeface="Cambria Math" panose="02040503050406030204" pitchFamily="18" charset="0"/>
                      </a:rPr>
                      <m:t>≈</m:t>
                    </m:r>
                    <m:sSup>
                      <m:sSupPr>
                        <m:ctrlPr>
                          <a:rPr lang="en-US" sz="2800" i="1">
                            <a:latin typeface="Cambria Math" panose="02040503050406030204" pitchFamily="18" charset="0"/>
                          </a:rPr>
                        </m:ctrlPr>
                      </m:sSupPr>
                      <m:e>
                        <m:sSub>
                          <m:sSubPr>
                            <m:ctrlPr>
                              <a:rPr lang="en-US" sz="2800" i="1">
                                <a:latin typeface="Cambria Math" panose="02040503050406030204" pitchFamily="18" charset="0"/>
                              </a:rPr>
                            </m:ctrlPr>
                          </m:sSubPr>
                          <m:e>
                            <m:r>
                              <a:rPr lang="en-US" sz="2800" i="1">
                                <a:latin typeface="Cambria Math" panose="02040503050406030204" pitchFamily="18" charset="0"/>
                              </a:rPr>
                              <m:t>𝐼</m:t>
                            </m:r>
                          </m:e>
                          <m:sub>
                            <m:r>
                              <a:rPr lang="en-US" sz="2800" i="1">
                                <a:latin typeface="Cambria Math" panose="02040503050406030204" pitchFamily="18" charset="0"/>
                              </a:rPr>
                              <m:t>𝑠</m:t>
                            </m:r>
                          </m:sub>
                        </m:sSub>
                        <m:r>
                          <a:rPr lang="en-US" sz="2800" i="1">
                            <a:latin typeface="Cambria Math" panose="02040503050406030204" pitchFamily="18" charset="0"/>
                          </a:rPr>
                          <m:t>(</m:t>
                        </m:r>
                        <m:r>
                          <a:rPr lang="en-US" sz="2800" i="1">
                            <a:latin typeface="Cambria Math" panose="02040503050406030204" pitchFamily="18" charset="0"/>
                          </a:rPr>
                          <m:t>𝑒</m:t>
                        </m:r>
                      </m:e>
                      <m:sup>
                        <m:f>
                          <m:fPr>
                            <m:type m:val="lin"/>
                            <m:ctrlPr>
                              <a:rPr lang="en-US" sz="2800" i="1">
                                <a:latin typeface="Cambria Math" panose="02040503050406030204" pitchFamily="18" charset="0"/>
                              </a:rPr>
                            </m:ctrlPr>
                          </m:fPr>
                          <m:num>
                            <m:sSub>
                              <m:sSubPr>
                                <m:ctrlPr>
                                  <a:rPr lang="en-US" sz="2800" i="1">
                                    <a:latin typeface="Cambria Math" panose="02040503050406030204" pitchFamily="18" charset="0"/>
                                  </a:rPr>
                                </m:ctrlPr>
                              </m:sSubPr>
                              <m:e>
                                <m:r>
                                  <a:rPr lang="en-US" sz="2800" i="1">
                                    <a:latin typeface="Cambria Math" panose="02040503050406030204" pitchFamily="18" charset="0"/>
                                  </a:rPr>
                                  <m:t>𝑉</m:t>
                                </m:r>
                              </m:e>
                              <m:sub>
                                <m:r>
                                  <a:rPr lang="en-US" sz="2800" i="1">
                                    <a:latin typeface="Cambria Math" panose="02040503050406030204" pitchFamily="18" charset="0"/>
                                  </a:rPr>
                                  <m:t>𝐼</m:t>
                                </m:r>
                              </m:sub>
                            </m:sSub>
                          </m:num>
                          <m:den>
                            <m:sSub>
                              <m:sSubPr>
                                <m:ctrlPr>
                                  <a:rPr lang="en-US" sz="2800" i="1">
                                    <a:latin typeface="Cambria Math" panose="02040503050406030204" pitchFamily="18" charset="0"/>
                                  </a:rPr>
                                </m:ctrlPr>
                              </m:sSubPr>
                              <m:e>
                                <m:r>
                                  <a:rPr lang="en-US" sz="2800" i="1">
                                    <a:latin typeface="Cambria Math" panose="02040503050406030204" pitchFamily="18" charset="0"/>
                                  </a:rPr>
                                  <m:t>𝑉</m:t>
                                </m:r>
                              </m:e>
                              <m:sub>
                                <m:r>
                                  <a:rPr lang="en-US" sz="2800" i="1">
                                    <a:latin typeface="Cambria Math" panose="02040503050406030204" pitchFamily="18" charset="0"/>
                                  </a:rPr>
                                  <m:t>𝑇𝐻</m:t>
                                </m:r>
                              </m:sub>
                            </m:sSub>
                          </m:den>
                        </m:f>
                      </m:sup>
                    </m:sSup>
                    <m:r>
                      <a:rPr lang="en-US" sz="2800" i="1">
                        <a:latin typeface="Cambria Math" panose="02040503050406030204" pitchFamily="18" charset="0"/>
                      </a:rPr>
                      <m:t>−</m:t>
                    </m:r>
                    <m:r>
                      <a:rPr lang="en-US" sz="2800" i="1">
                        <a:latin typeface="Cambria Math" panose="02040503050406030204" pitchFamily="18" charset="0"/>
                      </a:rPr>
                      <m:t>1</m:t>
                    </m:r>
                    <m:r>
                      <a:rPr lang="en-US" sz="2800" i="1">
                        <a:latin typeface="Cambria Math" panose="02040503050406030204" pitchFamily="18" charset="0"/>
                      </a:rPr>
                      <m:t>)+</m:t>
                    </m:r>
                    <m:f>
                      <m:fPr>
                        <m:ctrlPr>
                          <a:rPr lang="en-US" sz="2800" i="1">
                            <a:latin typeface="Cambria Math" panose="02040503050406030204" pitchFamily="18" charset="0"/>
                          </a:rPr>
                        </m:ctrlPr>
                      </m:fPr>
                      <m:num>
                        <m:sSub>
                          <m:sSubPr>
                            <m:ctrlPr>
                              <a:rPr lang="en-US" sz="2800" i="1">
                                <a:latin typeface="Cambria Math" panose="02040503050406030204" pitchFamily="18" charset="0"/>
                              </a:rPr>
                            </m:ctrlPr>
                          </m:sSubPr>
                          <m:e>
                            <m:r>
                              <a:rPr lang="en-US" sz="2800" i="1">
                                <a:latin typeface="Cambria Math" panose="02040503050406030204" pitchFamily="18" charset="0"/>
                              </a:rPr>
                              <m:t>𝐼</m:t>
                            </m:r>
                          </m:e>
                          <m:sub>
                            <m:r>
                              <a:rPr lang="en-US" sz="2800" i="1">
                                <a:latin typeface="Cambria Math" panose="02040503050406030204" pitchFamily="18" charset="0"/>
                              </a:rPr>
                              <m:t>𝐷</m:t>
                            </m:r>
                          </m:sub>
                        </m:sSub>
                      </m:num>
                      <m:den>
                        <m:sSub>
                          <m:sSubPr>
                            <m:ctrlPr>
                              <a:rPr lang="en-US" sz="2800" i="1">
                                <a:latin typeface="Cambria Math" panose="02040503050406030204" pitchFamily="18" charset="0"/>
                              </a:rPr>
                            </m:ctrlPr>
                          </m:sSubPr>
                          <m:e>
                            <m:r>
                              <a:rPr lang="en-US" sz="2800" i="1">
                                <a:latin typeface="Cambria Math" panose="02040503050406030204" pitchFamily="18" charset="0"/>
                              </a:rPr>
                              <m:t>𝑉</m:t>
                            </m:r>
                          </m:e>
                          <m:sub>
                            <m:r>
                              <a:rPr lang="en-US" sz="2800" i="1">
                                <a:latin typeface="Cambria Math" panose="02040503050406030204" pitchFamily="18" charset="0"/>
                              </a:rPr>
                              <m:t>𝑇𝐻</m:t>
                            </m:r>
                          </m:sub>
                        </m:sSub>
                      </m:den>
                    </m:f>
                    <m:r>
                      <m:rPr>
                        <m:sty m:val="p"/>
                      </m:rPr>
                      <a:rPr lang="en-US" sz="2800">
                        <a:latin typeface="Cambria Math" panose="02040503050406030204" pitchFamily="18" charset="0"/>
                      </a:rPr>
                      <m:t>Δ</m:t>
                    </m:r>
                    <m:sSub>
                      <m:sSubPr>
                        <m:ctrlPr>
                          <a:rPr lang="en-US" sz="2800" i="1">
                            <a:latin typeface="Cambria Math" panose="02040503050406030204" pitchFamily="18" charset="0"/>
                          </a:rPr>
                        </m:ctrlPr>
                      </m:sSubPr>
                      <m:e>
                        <m:r>
                          <a:rPr lang="en-US" sz="2800" i="1">
                            <a:latin typeface="Cambria Math" panose="02040503050406030204" pitchFamily="18" charset="0"/>
                          </a:rPr>
                          <m:t>𝑣</m:t>
                        </m:r>
                      </m:e>
                      <m:sub>
                        <m:r>
                          <a:rPr lang="en-US" sz="2800" i="1">
                            <a:latin typeface="Cambria Math" panose="02040503050406030204" pitchFamily="18" charset="0"/>
                          </a:rPr>
                          <m:t>𝐼</m:t>
                        </m:r>
                      </m:sub>
                    </m:sSub>
                  </m:oMath>
                </a14:m>
                <a:endParaRPr lang="fa-IR" sz="2800"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0">
                <a:blip r:embed="rId3"/>
                <a:stretch>
                  <a:fillRect/>
                </a:stretch>
              </a:blipFill>
            </p:spPr>
            <p:txBody>
              <a:bodyPr/>
              <a:lstStyle/>
              <a:p>
                <a:r>
                  <a:rPr lang="fa-IR">
                    <a:noFill/>
                  </a:rPr>
                  <a:t> </a:t>
                </a:r>
              </a:p>
            </p:txBody>
          </p:sp>
        </mc:Fallback>
      </mc:AlternateContent>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12. ترانزیستور (ادامه)</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rtl="1">
              <a:defRPr/>
            </a:pPr>
            <a:fld id="{B5CFC3F8-B58D-40FA-AF21-F23E618E0688}" type="slidenum">
              <a:rPr lang="en-US" altLang="en-US" smtClean="0"/>
              <a:pPr rtl="1">
                <a:defRPr/>
              </a:pPr>
              <a:t>25</a:t>
            </a:fld>
            <a:endParaRPr lang="en-US" altLang="en-US" dirty="0"/>
          </a:p>
        </p:txBody>
      </p:sp>
      <p:pic>
        <p:nvPicPr>
          <p:cNvPr id="8" name="Picture 7"/>
          <p:cNvPicPr>
            <a:picLocks noChangeAspect="1"/>
          </p:cNvPicPr>
          <p:nvPr/>
        </p:nvPicPr>
        <p:blipFill>
          <a:blip r:embed="rId4"/>
          <a:stretch>
            <a:fillRect/>
          </a:stretch>
        </p:blipFill>
        <p:spPr>
          <a:xfrm>
            <a:off x="4191000" y="3388256"/>
            <a:ext cx="4114800" cy="2860143"/>
          </a:xfrm>
          <a:prstGeom prst="rect">
            <a:avLst/>
          </a:prstGeom>
        </p:spPr>
      </p:pic>
      <p:sp>
        <p:nvSpPr>
          <p:cNvPr id="9" name="TextBox 8"/>
          <p:cNvSpPr txBox="1"/>
          <p:nvPr/>
        </p:nvSpPr>
        <p:spPr>
          <a:xfrm>
            <a:off x="990600" y="2388275"/>
            <a:ext cx="2498598" cy="2031325"/>
          </a:xfrm>
          <a:prstGeom prst="rect">
            <a:avLst/>
          </a:prstGeom>
          <a:solidFill>
            <a:schemeClr val="accent1">
              <a:lumMod val="20000"/>
              <a:lumOff val="80000"/>
            </a:schemeClr>
          </a:solidFill>
        </p:spPr>
        <p:style>
          <a:lnRef idx="1">
            <a:schemeClr val="accent4"/>
          </a:lnRef>
          <a:fillRef idx="2">
            <a:schemeClr val="accent4"/>
          </a:fillRef>
          <a:effectRef idx="1">
            <a:schemeClr val="accent4"/>
          </a:effectRef>
          <a:fontRef idx="minor">
            <a:schemeClr val="dk1"/>
          </a:fontRef>
        </p:style>
        <p:txBody>
          <a:bodyPr wrap="square" rtlCol="1">
            <a:spAutoFit/>
          </a:bodyPr>
          <a:lstStyle/>
          <a:p>
            <a:pPr algn="r" rtl="1"/>
            <a:r>
              <a:rPr lang="fa-IR" dirty="0">
                <a:cs typeface="B Nazanin" panose="00000400000000000000" pitchFamily="2" charset="-78"/>
              </a:rPr>
              <a:t>بخش </a:t>
            </a:r>
            <a:r>
              <a:rPr lang="en-US" dirty="0">
                <a:cs typeface="B Nazanin" panose="00000400000000000000" pitchFamily="2" charset="-78"/>
              </a:rPr>
              <a:t>DC</a:t>
            </a:r>
            <a:r>
              <a:rPr lang="fa-IR" dirty="0">
                <a:cs typeface="B Nazanin" panose="00000400000000000000" pitchFamily="2" charset="-78"/>
              </a:rPr>
              <a:t> جریان دیود با بخش </a:t>
            </a:r>
            <a:r>
              <a:rPr lang="en-US" dirty="0">
                <a:cs typeface="B Nazanin" panose="00000400000000000000" pitchFamily="2" charset="-78"/>
              </a:rPr>
              <a:t>DC</a:t>
            </a:r>
            <a:r>
              <a:rPr lang="fa-IR" dirty="0">
                <a:cs typeface="B Nazanin" panose="00000400000000000000" pitchFamily="2" charset="-78"/>
              </a:rPr>
              <a:t> منبع رابطه غیرخطی دارد.</a:t>
            </a:r>
          </a:p>
          <a:p>
            <a:pPr algn="r" rtl="1"/>
            <a:r>
              <a:rPr lang="fa-IR" dirty="0">
                <a:cs typeface="B Nazanin" panose="00000400000000000000" pitchFamily="2" charset="-78"/>
              </a:rPr>
              <a:t>یعنی دیود در برابر یک سیگنال بزرگ رفتاری غیرخطی دارد.</a:t>
            </a:r>
          </a:p>
          <a:p>
            <a:pPr algn="r" rtl="1"/>
            <a:r>
              <a:rPr lang="fa-IR" dirty="0">
                <a:cs typeface="B Nazanin" panose="00000400000000000000" pitchFamily="2" charset="-78"/>
              </a:rPr>
              <a:t>به این مدل غیرخطی که قبلا نیز دیده بودیم، مدل </a:t>
            </a:r>
            <a:r>
              <a:rPr lang="fa-IR" dirty="0">
                <a:solidFill>
                  <a:srgbClr val="FF0000"/>
                </a:solidFill>
                <a:cs typeface="B Nazanin" panose="00000400000000000000" pitchFamily="2" charset="-78"/>
              </a:rPr>
              <a:t>سیگنال بزرگ </a:t>
            </a:r>
            <a:r>
              <a:rPr lang="fa-IR" dirty="0">
                <a:cs typeface="B Nazanin" panose="00000400000000000000" pitchFamily="2" charset="-78"/>
              </a:rPr>
              <a:t>گویند.</a:t>
            </a:r>
          </a:p>
        </p:txBody>
      </p:sp>
      <p:cxnSp>
        <p:nvCxnSpPr>
          <p:cNvPr id="11" name="Straight Arrow Connector 10"/>
          <p:cNvCxnSpPr>
            <a:stCxn id="9" idx="0"/>
          </p:cNvCxnSpPr>
          <p:nvPr/>
        </p:nvCxnSpPr>
        <p:spPr>
          <a:xfrm flipV="1">
            <a:off x="2239899" y="1828800"/>
            <a:ext cx="655701" cy="55947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p:cNvSpPr txBox="1"/>
              <p:nvPr/>
            </p:nvSpPr>
            <p:spPr>
              <a:xfrm>
                <a:off x="5891212" y="1219919"/>
                <a:ext cx="2498598" cy="2180469"/>
              </a:xfrm>
              <a:prstGeom prst="rect">
                <a:avLst/>
              </a:prstGeom>
              <a:solidFill>
                <a:schemeClr val="accent1">
                  <a:lumMod val="20000"/>
                  <a:lumOff val="80000"/>
                </a:schemeClr>
              </a:solidFill>
            </p:spPr>
            <p:style>
              <a:lnRef idx="1">
                <a:schemeClr val="accent4"/>
              </a:lnRef>
              <a:fillRef idx="2">
                <a:schemeClr val="accent4"/>
              </a:fillRef>
              <a:effectRef idx="1">
                <a:schemeClr val="accent4"/>
              </a:effectRef>
              <a:fontRef idx="minor">
                <a:schemeClr val="dk1"/>
              </a:fontRef>
            </p:style>
            <p:txBody>
              <a:bodyPr wrap="square" rtlCol="1">
                <a:spAutoFit/>
              </a:bodyPr>
              <a:lstStyle/>
              <a:p>
                <a:pPr algn="r" rtl="1"/>
                <a:r>
                  <a:rPr lang="fa-IR" dirty="0">
                    <a:cs typeface="B Nazanin" panose="00000400000000000000" pitchFamily="2" charset="-78"/>
                  </a:rPr>
                  <a:t>بخش </a:t>
                </a:r>
                <a:r>
                  <a:rPr lang="en-US" dirty="0">
                    <a:cs typeface="B Nazanin" panose="00000400000000000000" pitchFamily="2" charset="-78"/>
                  </a:rPr>
                  <a:t>AC</a:t>
                </a:r>
                <a:r>
                  <a:rPr lang="fa-IR" dirty="0">
                    <a:cs typeface="B Nazanin" panose="00000400000000000000" pitchFamily="2" charset="-78"/>
                  </a:rPr>
                  <a:t> جریان دیود با بخش </a:t>
                </a:r>
                <a:r>
                  <a:rPr lang="en-US" dirty="0">
                    <a:cs typeface="B Nazanin" panose="00000400000000000000" pitchFamily="2" charset="-78"/>
                  </a:rPr>
                  <a:t>AC</a:t>
                </a:r>
                <a:r>
                  <a:rPr lang="fa-IR" dirty="0">
                    <a:cs typeface="B Nazanin" panose="00000400000000000000" pitchFamily="2" charset="-78"/>
                  </a:rPr>
                  <a:t> منبع رابطه تقریباً خطی دارد.</a:t>
                </a:r>
              </a:p>
              <a:p>
                <a:pPr algn="r" rtl="1"/>
                <a:r>
                  <a:rPr lang="fa-IR" dirty="0">
                    <a:cs typeface="B Nazanin" panose="00000400000000000000" pitchFamily="2" charset="-78"/>
                  </a:rPr>
                  <a:t>یعنی دیود در برابر یک سیگنال کوچک رفتاری خطی دارد و مانند یک مقاومت با مقدار </a:t>
                </a:r>
                <a14:m>
                  <m:oMath xmlns:m="http://schemas.openxmlformats.org/officeDocument/2006/math">
                    <m:f>
                      <m:fPr>
                        <m:ctrlPr>
                          <a:rPr lang="en-US" b="0" i="1" smtClean="0">
                            <a:latin typeface="Cambria Math" panose="02040503050406030204" pitchFamily="18" charset="0"/>
                            <a:cs typeface="B Nazanin" panose="00000400000000000000" pitchFamily="2" charset="-78"/>
                          </a:rPr>
                        </m:ctrlPr>
                      </m:fPr>
                      <m:num>
                        <m:sSub>
                          <m:sSubPr>
                            <m:ctrlPr>
                              <a:rPr lang="en-US" b="0" i="1" smtClean="0">
                                <a:latin typeface="Cambria Math" panose="02040503050406030204" pitchFamily="18" charset="0"/>
                                <a:cs typeface="B Nazanin" panose="00000400000000000000" pitchFamily="2" charset="-78"/>
                              </a:rPr>
                            </m:ctrlPr>
                          </m:sSubPr>
                          <m:e>
                            <m:r>
                              <a:rPr lang="en-US" b="0" i="1" smtClean="0">
                                <a:latin typeface="Cambria Math" panose="02040503050406030204" pitchFamily="18" charset="0"/>
                                <a:cs typeface="B Nazanin" panose="00000400000000000000" pitchFamily="2" charset="-78"/>
                              </a:rPr>
                              <m:t>𝑉</m:t>
                            </m:r>
                          </m:e>
                          <m:sub>
                            <m:r>
                              <a:rPr lang="en-US" b="0" i="1" smtClean="0">
                                <a:latin typeface="Cambria Math" panose="02040503050406030204" pitchFamily="18" charset="0"/>
                                <a:cs typeface="B Nazanin" panose="00000400000000000000" pitchFamily="2" charset="-78"/>
                              </a:rPr>
                              <m:t>𝑇𝐻</m:t>
                            </m:r>
                          </m:sub>
                        </m:sSub>
                      </m:num>
                      <m:den>
                        <m:sSub>
                          <m:sSubPr>
                            <m:ctrlPr>
                              <a:rPr lang="en-US" b="0" i="1" smtClean="0">
                                <a:latin typeface="Cambria Math" panose="02040503050406030204" pitchFamily="18" charset="0"/>
                                <a:cs typeface="B Nazanin" panose="00000400000000000000" pitchFamily="2" charset="-78"/>
                              </a:rPr>
                            </m:ctrlPr>
                          </m:sSubPr>
                          <m:e>
                            <m:r>
                              <a:rPr lang="en-US" b="0" i="1" smtClean="0">
                                <a:latin typeface="Cambria Math" panose="02040503050406030204" pitchFamily="18" charset="0"/>
                                <a:cs typeface="B Nazanin" panose="00000400000000000000" pitchFamily="2" charset="-78"/>
                              </a:rPr>
                              <m:t>𝐼</m:t>
                            </m:r>
                          </m:e>
                          <m:sub>
                            <m:r>
                              <a:rPr lang="en-US" b="0" i="1" smtClean="0">
                                <a:latin typeface="Cambria Math" panose="02040503050406030204" pitchFamily="18" charset="0"/>
                                <a:cs typeface="B Nazanin" panose="00000400000000000000" pitchFamily="2" charset="-78"/>
                              </a:rPr>
                              <m:t>𝐷</m:t>
                            </m:r>
                          </m:sub>
                        </m:sSub>
                      </m:den>
                    </m:f>
                  </m:oMath>
                </a14:m>
                <a:r>
                  <a:rPr lang="fa-IR" dirty="0">
                    <a:cs typeface="B Nazanin" panose="00000400000000000000" pitchFamily="2" charset="-78"/>
                  </a:rPr>
                  <a:t> عمل می‌کند. به این مدل خطی، مدل </a:t>
                </a:r>
                <a:r>
                  <a:rPr lang="fa-IR" dirty="0">
                    <a:solidFill>
                      <a:srgbClr val="FF0000"/>
                    </a:solidFill>
                    <a:cs typeface="B Nazanin" panose="00000400000000000000" pitchFamily="2" charset="-78"/>
                  </a:rPr>
                  <a:t>سیگنال کوچک </a:t>
                </a:r>
                <a:r>
                  <a:rPr lang="fa-IR" dirty="0">
                    <a:cs typeface="B Nazanin" panose="00000400000000000000" pitchFamily="2" charset="-78"/>
                  </a:rPr>
                  <a:t>گویند.</a:t>
                </a:r>
              </a:p>
            </p:txBody>
          </p:sp>
        </mc:Choice>
        <mc:Fallback xmlns="">
          <p:sp>
            <p:nvSpPr>
              <p:cNvPr id="13" name="TextBox 12"/>
              <p:cNvSpPr txBox="1">
                <a:spLocks noRot="1" noChangeAspect="1" noMove="1" noResize="1" noEditPoints="1" noAdjustHandles="1" noChangeArrowheads="1" noChangeShapeType="1" noTextEdit="1"/>
              </p:cNvSpPr>
              <p:nvPr/>
            </p:nvSpPr>
            <p:spPr>
              <a:xfrm>
                <a:off x="5891212" y="1219919"/>
                <a:ext cx="2498598" cy="2180469"/>
              </a:xfrm>
              <a:prstGeom prst="rect">
                <a:avLst/>
              </a:prstGeom>
              <a:blipFill rotWithShape="0">
                <a:blip r:embed="rId5"/>
                <a:stretch>
                  <a:fillRect/>
                </a:stretch>
              </a:blipFill>
            </p:spPr>
            <p:txBody>
              <a:bodyPr/>
              <a:lstStyle/>
              <a:p>
                <a:r>
                  <a:rPr lang="fa-IR">
                    <a:noFill/>
                  </a:rPr>
                  <a:t> </a:t>
                </a:r>
              </a:p>
            </p:txBody>
          </p:sp>
        </mc:Fallback>
      </mc:AlternateContent>
      <p:cxnSp>
        <p:nvCxnSpPr>
          <p:cNvPr id="14" name="Straight Arrow Connector 13"/>
          <p:cNvCxnSpPr>
            <a:stCxn id="13" idx="1"/>
          </p:cNvCxnSpPr>
          <p:nvPr/>
        </p:nvCxnSpPr>
        <p:spPr>
          <a:xfrm flipH="1" flipV="1">
            <a:off x="5189411" y="2023992"/>
            <a:ext cx="701801" cy="28616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0097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fa-IR" altLang="en-US" dirty="0"/>
                  <a:t>مدل مرتبه اول شاکلی </a:t>
                </a:r>
                <a:r>
                  <a:rPr lang="en-US" altLang="en-US" dirty="0"/>
                  <a:t>Shockley</a:t>
                </a:r>
              </a:p>
              <a:p>
                <a:pPr marL="0" indent="0">
                  <a:buNone/>
                </a:pPr>
                <a:endParaRPr lang="en-US" dirty="0"/>
              </a:p>
              <a:p>
                <a:pPr marL="0" indent="0">
                  <a:buNone/>
                </a:pPr>
                <a:endParaRPr lang="en-US" dirty="0"/>
              </a:p>
              <a:p>
                <a:pPr marL="0" indent="0">
                  <a:buNone/>
                </a:pPr>
                <a:endParaRPr lang="en-US" sz="2200" b="0" i="1" dirty="0">
                  <a:latin typeface="Cambria Math" panose="02040503050406030204" pitchFamily="18" charset="0"/>
                </a:endParaRPr>
              </a:p>
              <a:p>
                <a:pPr marL="0" indent="0">
                  <a:buNone/>
                </a:pPr>
                <a:endParaRPr lang="en-US" sz="22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𝐼</m:t>
                          </m:r>
                        </m:e>
                        <m:sub>
                          <m:r>
                            <a:rPr lang="en-US" sz="2200" b="0" i="1" smtClean="0">
                              <a:latin typeface="Cambria Math" panose="02040503050406030204" pitchFamily="18" charset="0"/>
                            </a:rPr>
                            <m:t>𝑑𝑠</m:t>
                          </m:r>
                        </m:sub>
                      </m:sSub>
                      <m:r>
                        <a:rPr lang="en-US" sz="2200" b="0" i="1" smtClean="0">
                          <a:latin typeface="Cambria Math" panose="02040503050406030204" pitchFamily="18" charset="0"/>
                        </a:rPr>
                        <m:t>=</m:t>
                      </m:r>
                      <m:d>
                        <m:dPr>
                          <m:begChr m:val="{"/>
                          <m:endChr m:val="}"/>
                          <m:ctrlPr>
                            <a:rPr lang="en-US" sz="2200" b="0" i="1" smtClean="0">
                              <a:latin typeface="Cambria Math" panose="02040503050406030204" pitchFamily="18" charset="0"/>
                            </a:rPr>
                          </m:ctrlPr>
                        </m:dPr>
                        <m:e>
                          <m:m>
                            <m:mPr>
                              <m:mcs>
                                <m:mc>
                                  <m:mcPr>
                                    <m:count m:val="3"/>
                                    <m:mcJc m:val="center"/>
                                  </m:mcPr>
                                </m:mc>
                              </m:mcs>
                              <m:ctrlPr>
                                <a:rPr lang="en-US" sz="2200" b="0" i="1" smtClean="0">
                                  <a:latin typeface="Cambria Math" panose="02040503050406030204" pitchFamily="18" charset="0"/>
                                </a:rPr>
                              </m:ctrlPr>
                            </m:mPr>
                            <m:mr>
                              <m:e>
                                <m:r>
                                  <m:rPr>
                                    <m:brk m:alnAt="7"/>
                                  </m:rPr>
                                  <a:rPr lang="en-US" sz="2200" i="1">
                                    <a:latin typeface="Cambria Math" panose="02040503050406030204" pitchFamily="18" charset="0"/>
                                  </a:rPr>
                                  <m:t>0</m:t>
                                </m:r>
                              </m:e>
                              <m:e>
                                <m:sSub>
                                  <m:sSubPr>
                                    <m:ctrlPr>
                                      <a:rPr lang="en-US" sz="2200" i="1">
                                        <a:latin typeface="Cambria Math" panose="02040503050406030204" pitchFamily="18" charset="0"/>
                                      </a:rPr>
                                    </m:ctrlPr>
                                  </m:sSubPr>
                                  <m:e>
                                    <m:r>
                                      <m:rPr>
                                        <m:brk m:alnAt="7"/>
                                      </m:rPr>
                                      <a:rPr lang="en-US" sz="2200" i="1">
                                        <a:latin typeface="Cambria Math" panose="02040503050406030204" pitchFamily="18" charset="0"/>
                                      </a:rPr>
                                      <m:t>𝑉</m:t>
                                    </m:r>
                                  </m:e>
                                  <m:sub>
                                    <m:r>
                                      <m:rPr>
                                        <m:brk m:alnAt="7"/>
                                      </m:rPr>
                                      <a:rPr lang="en-US" sz="2200" i="1">
                                        <a:latin typeface="Cambria Math" panose="02040503050406030204" pitchFamily="18" charset="0"/>
                                      </a:rPr>
                                      <m:t>𝑔</m:t>
                                    </m:r>
                                    <m:r>
                                      <a:rPr lang="en-US" sz="2200" i="1">
                                        <a:latin typeface="Cambria Math" panose="02040503050406030204" pitchFamily="18" charset="0"/>
                                      </a:rPr>
                                      <m:t>𝑠</m:t>
                                    </m:r>
                                  </m:sub>
                                </m:sSub>
                                <m:r>
                                  <m:rPr>
                                    <m:brk m:alnAt="7"/>
                                  </m:rPr>
                                  <a:rPr lang="en-US" sz="2200" i="1">
                                    <a:latin typeface="Cambria Math" panose="02040503050406030204" pitchFamily="18" charset="0"/>
                                  </a:rPr>
                                  <m:t>&lt;</m:t>
                                </m:r>
                                <m:sSub>
                                  <m:sSubPr>
                                    <m:ctrlPr>
                                      <a:rPr lang="en-US" sz="2200" i="1">
                                        <a:latin typeface="Cambria Math" panose="02040503050406030204" pitchFamily="18" charset="0"/>
                                      </a:rPr>
                                    </m:ctrlPr>
                                  </m:sSubPr>
                                  <m:e>
                                    <m:r>
                                      <m:rPr>
                                        <m:brk m:alnAt="7"/>
                                      </m:rPr>
                                      <a:rPr lang="en-US" sz="2200" i="1">
                                        <a:latin typeface="Cambria Math" panose="02040503050406030204" pitchFamily="18" charset="0"/>
                                      </a:rPr>
                                      <m:t>𝑉</m:t>
                                    </m:r>
                                  </m:e>
                                  <m:sub>
                                    <m:r>
                                      <m:rPr>
                                        <m:brk m:alnAt="7"/>
                                      </m:rPr>
                                      <a:rPr lang="en-US" sz="2200" i="1">
                                        <a:latin typeface="Cambria Math" panose="02040503050406030204" pitchFamily="18" charset="0"/>
                                      </a:rPr>
                                      <m:t>𝑡</m:t>
                                    </m:r>
                                  </m:sub>
                                </m:sSub>
                              </m:e>
                              <m:e>
                                <m:r>
                                  <a:rPr lang="fa-IR" sz="2200" b="0" i="1" smtClean="0">
                                    <a:latin typeface="Cambria Math" panose="02040503050406030204" pitchFamily="18" charset="0"/>
                                  </a:rPr>
                                  <m:t>قطع</m:t>
                                </m:r>
                              </m:e>
                            </m:mr>
                            <m:mr>
                              <m:e>
                                <m:r>
                                  <a:rPr lang="en-US" sz="2200" b="0" i="1" smtClean="0">
                                    <a:latin typeface="Cambria Math" panose="02040503050406030204" pitchFamily="18" charset="0"/>
                                  </a:rPr>
                                  <m:t>𝐾</m:t>
                                </m:r>
                                <m:d>
                                  <m:dPr>
                                    <m:ctrlPr>
                                      <a:rPr lang="en-US" sz="2200" i="1">
                                        <a:latin typeface="Cambria Math" panose="02040503050406030204" pitchFamily="18" charset="0"/>
                                      </a:rPr>
                                    </m:ctrlPr>
                                  </m:dPr>
                                  <m:e>
                                    <m:sSub>
                                      <m:sSubPr>
                                        <m:ctrlPr>
                                          <a:rPr lang="en-US" sz="2200" i="1">
                                            <a:latin typeface="Cambria Math" panose="02040503050406030204" pitchFamily="18" charset="0"/>
                                          </a:rPr>
                                        </m:ctrlPr>
                                      </m:sSubPr>
                                      <m:e>
                                        <m:r>
                                          <a:rPr lang="en-US" sz="2200" i="1">
                                            <a:latin typeface="Cambria Math" panose="02040503050406030204" pitchFamily="18" charset="0"/>
                                          </a:rPr>
                                          <m:t>𝑉</m:t>
                                        </m:r>
                                      </m:e>
                                      <m:sub>
                                        <m:r>
                                          <a:rPr lang="en-US" sz="2200" i="1">
                                            <a:latin typeface="Cambria Math" panose="02040503050406030204" pitchFamily="18" charset="0"/>
                                          </a:rPr>
                                          <m:t>𝑔𝑠</m:t>
                                        </m:r>
                                      </m:sub>
                                    </m:sSub>
                                    <m:r>
                                      <a:rPr lang="en-US" sz="2200" i="1">
                                        <a:latin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𝑉</m:t>
                                        </m:r>
                                      </m:e>
                                      <m:sub>
                                        <m:r>
                                          <a:rPr lang="en-US" sz="2200" i="1">
                                            <a:latin typeface="Cambria Math" panose="02040503050406030204" pitchFamily="18" charset="0"/>
                                          </a:rPr>
                                          <m:t>𝑡</m:t>
                                        </m:r>
                                      </m:sub>
                                    </m:sSub>
                                    <m:r>
                                      <a:rPr lang="en-US" sz="2200" i="1">
                                        <a:latin typeface="Cambria Math" panose="02040503050406030204" pitchFamily="18" charset="0"/>
                                      </a:rPr>
                                      <m:t>−</m:t>
                                    </m:r>
                                    <m:f>
                                      <m:fPr>
                                        <m:ctrlPr>
                                          <a:rPr lang="en-US" sz="2200" i="1">
                                            <a:latin typeface="Cambria Math" panose="02040503050406030204" pitchFamily="18" charset="0"/>
                                          </a:rPr>
                                        </m:ctrlPr>
                                      </m:fPr>
                                      <m:num>
                                        <m:sSub>
                                          <m:sSubPr>
                                            <m:ctrlPr>
                                              <a:rPr lang="en-US" sz="2200" i="1">
                                                <a:latin typeface="Cambria Math" panose="02040503050406030204" pitchFamily="18" charset="0"/>
                                              </a:rPr>
                                            </m:ctrlPr>
                                          </m:sSubPr>
                                          <m:e>
                                            <m:r>
                                              <a:rPr lang="en-US" sz="2200" i="1">
                                                <a:latin typeface="Cambria Math" panose="02040503050406030204" pitchFamily="18" charset="0"/>
                                              </a:rPr>
                                              <m:t>𝑉</m:t>
                                            </m:r>
                                          </m:e>
                                          <m:sub>
                                            <m:r>
                                              <a:rPr lang="en-US" sz="2200" i="1">
                                                <a:latin typeface="Cambria Math" panose="02040503050406030204" pitchFamily="18" charset="0"/>
                                              </a:rPr>
                                              <m:t>𝑑𝑠</m:t>
                                            </m:r>
                                          </m:sub>
                                        </m:sSub>
                                      </m:num>
                                      <m:den>
                                        <m:r>
                                          <a:rPr lang="en-US" sz="2200" i="1">
                                            <a:latin typeface="Cambria Math" panose="02040503050406030204" pitchFamily="18" charset="0"/>
                                          </a:rPr>
                                          <m:t>2</m:t>
                                        </m:r>
                                      </m:den>
                                    </m:f>
                                  </m:e>
                                </m:d>
                                <m:sSub>
                                  <m:sSubPr>
                                    <m:ctrlPr>
                                      <a:rPr lang="en-US" sz="2200" i="1">
                                        <a:latin typeface="Cambria Math" panose="02040503050406030204" pitchFamily="18" charset="0"/>
                                      </a:rPr>
                                    </m:ctrlPr>
                                  </m:sSubPr>
                                  <m:e>
                                    <m:r>
                                      <a:rPr lang="en-US" sz="2200" i="1">
                                        <a:latin typeface="Cambria Math" panose="02040503050406030204" pitchFamily="18" charset="0"/>
                                      </a:rPr>
                                      <m:t>𝑉</m:t>
                                    </m:r>
                                  </m:e>
                                  <m:sub>
                                    <m:r>
                                      <a:rPr lang="en-US" sz="2200" i="1">
                                        <a:latin typeface="Cambria Math" panose="02040503050406030204" pitchFamily="18" charset="0"/>
                                      </a:rPr>
                                      <m:t>𝑑𝑠</m:t>
                                    </m:r>
                                  </m:sub>
                                </m:sSub>
                              </m:e>
                              <m:e>
                                <m:sSub>
                                  <m:sSubPr>
                                    <m:ctrlPr>
                                      <a:rPr lang="en-US" sz="2200" i="1">
                                        <a:latin typeface="Cambria Math" panose="02040503050406030204" pitchFamily="18" charset="0"/>
                                      </a:rPr>
                                    </m:ctrlPr>
                                  </m:sSubPr>
                                  <m:e>
                                    <m:r>
                                      <a:rPr lang="en-US" sz="2200" i="1">
                                        <a:latin typeface="Cambria Math" panose="02040503050406030204" pitchFamily="18" charset="0"/>
                                      </a:rPr>
                                      <m:t>𝑉</m:t>
                                    </m:r>
                                  </m:e>
                                  <m:sub>
                                    <m:r>
                                      <a:rPr lang="en-US" sz="2200" i="1">
                                        <a:latin typeface="Cambria Math" panose="02040503050406030204" pitchFamily="18" charset="0"/>
                                      </a:rPr>
                                      <m:t>𝑑𝑠</m:t>
                                    </m:r>
                                  </m:sub>
                                </m:sSub>
                                <m:r>
                                  <a:rPr lang="en-US" sz="2200" i="1">
                                    <a:latin typeface="Cambria Math" panose="02040503050406030204" pitchFamily="18" charset="0"/>
                                  </a:rPr>
                                  <m:t>&lt;</m:t>
                                </m:r>
                                <m:sSub>
                                  <m:sSubPr>
                                    <m:ctrlPr>
                                      <a:rPr lang="en-US" sz="2200" i="1">
                                        <a:latin typeface="Cambria Math" panose="02040503050406030204" pitchFamily="18" charset="0"/>
                                      </a:rPr>
                                    </m:ctrlPr>
                                  </m:sSubPr>
                                  <m:e>
                                    <m:r>
                                      <a:rPr lang="en-US" sz="2200" i="1">
                                        <a:latin typeface="Cambria Math" panose="02040503050406030204" pitchFamily="18" charset="0"/>
                                      </a:rPr>
                                      <m:t>𝑉</m:t>
                                    </m:r>
                                  </m:e>
                                  <m:sub>
                                    <m:r>
                                      <a:rPr lang="en-US" sz="2200" i="1">
                                        <a:latin typeface="Cambria Math" panose="02040503050406030204" pitchFamily="18" charset="0"/>
                                      </a:rPr>
                                      <m:t>𝑔𝑠</m:t>
                                    </m:r>
                                  </m:sub>
                                </m:sSub>
                                <m:r>
                                  <a:rPr lang="en-US" sz="2200" i="1">
                                    <a:latin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𝑉</m:t>
                                    </m:r>
                                  </m:e>
                                  <m:sub>
                                    <m:r>
                                      <a:rPr lang="en-US" sz="2200" i="1">
                                        <a:latin typeface="Cambria Math" panose="02040503050406030204" pitchFamily="18" charset="0"/>
                                      </a:rPr>
                                      <m:t>𝑡</m:t>
                                    </m:r>
                                  </m:sub>
                                </m:sSub>
                              </m:e>
                              <m:e>
                                <m:r>
                                  <a:rPr lang="fa-IR" sz="2200" b="0" i="1" smtClean="0">
                                    <a:latin typeface="Cambria Math" panose="02040503050406030204" pitchFamily="18" charset="0"/>
                                  </a:rPr>
                                  <m:t>خطی</m:t>
                                </m:r>
                              </m:e>
                            </m:mr>
                            <m:mr>
                              <m:e>
                                <m:f>
                                  <m:fPr>
                                    <m:ctrlPr>
                                      <a:rPr lang="en-US" sz="2200" i="1">
                                        <a:latin typeface="Cambria Math" panose="02040503050406030204" pitchFamily="18" charset="0"/>
                                      </a:rPr>
                                    </m:ctrlPr>
                                  </m:fPr>
                                  <m:num>
                                    <m:r>
                                      <a:rPr lang="en-US" sz="2200" b="0" i="1" smtClean="0">
                                        <a:latin typeface="Cambria Math" panose="02040503050406030204" pitchFamily="18" charset="0"/>
                                      </a:rPr>
                                      <m:t>𝐾</m:t>
                                    </m:r>
                                  </m:num>
                                  <m:den>
                                    <m:r>
                                      <a:rPr lang="en-US" sz="2200" i="1">
                                        <a:latin typeface="Cambria Math" panose="02040503050406030204" pitchFamily="18" charset="0"/>
                                      </a:rPr>
                                      <m:t>2</m:t>
                                    </m:r>
                                  </m:den>
                                </m:f>
                                <m:sSup>
                                  <m:sSupPr>
                                    <m:ctrlPr>
                                      <a:rPr lang="en-US" sz="2200" i="1">
                                        <a:latin typeface="Cambria Math" panose="02040503050406030204" pitchFamily="18" charset="0"/>
                                      </a:rPr>
                                    </m:ctrlPr>
                                  </m:sSupPr>
                                  <m:e>
                                    <m:d>
                                      <m:dPr>
                                        <m:ctrlPr>
                                          <a:rPr lang="en-US" sz="2200" i="1">
                                            <a:latin typeface="Cambria Math" panose="02040503050406030204" pitchFamily="18" charset="0"/>
                                          </a:rPr>
                                        </m:ctrlPr>
                                      </m:dPr>
                                      <m:e>
                                        <m:sSub>
                                          <m:sSubPr>
                                            <m:ctrlPr>
                                              <a:rPr lang="en-US" sz="2200" i="1">
                                                <a:latin typeface="Cambria Math" panose="02040503050406030204" pitchFamily="18" charset="0"/>
                                              </a:rPr>
                                            </m:ctrlPr>
                                          </m:sSubPr>
                                          <m:e>
                                            <m:r>
                                              <a:rPr lang="en-US" sz="2200" i="1">
                                                <a:latin typeface="Cambria Math" panose="02040503050406030204" pitchFamily="18" charset="0"/>
                                              </a:rPr>
                                              <m:t>𝑉</m:t>
                                            </m:r>
                                          </m:e>
                                          <m:sub>
                                            <m:r>
                                              <a:rPr lang="en-US" sz="2200" i="1">
                                                <a:latin typeface="Cambria Math" panose="02040503050406030204" pitchFamily="18" charset="0"/>
                                              </a:rPr>
                                              <m:t>𝑔𝑠</m:t>
                                            </m:r>
                                          </m:sub>
                                        </m:sSub>
                                        <m:r>
                                          <a:rPr lang="en-US" sz="2200" i="1">
                                            <a:latin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𝑉</m:t>
                                            </m:r>
                                          </m:e>
                                          <m:sub>
                                            <m:r>
                                              <a:rPr lang="en-US" sz="2200" i="1">
                                                <a:latin typeface="Cambria Math" panose="02040503050406030204" pitchFamily="18" charset="0"/>
                                              </a:rPr>
                                              <m:t>𝑡</m:t>
                                            </m:r>
                                          </m:sub>
                                        </m:sSub>
                                      </m:e>
                                    </m:d>
                                  </m:e>
                                  <m:sup>
                                    <m:r>
                                      <a:rPr lang="en-US" sz="2200" i="1">
                                        <a:latin typeface="Cambria Math" panose="02040503050406030204" pitchFamily="18" charset="0"/>
                                      </a:rPr>
                                      <m:t>2</m:t>
                                    </m:r>
                                  </m:sup>
                                </m:sSup>
                              </m:e>
                              <m:e>
                                <m:sSub>
                                  <m:sSubPr>
                                    <m:ctrlPr>
                                      <a:rPr lang="en-US" sz="2200" i="1">
                                        <a:latin typeface="Cambria Math" panose="02040503050406030204" pitchFamily="18" charset="0"/>
                                      </a:rPr>
                                    </m:ctrlPr>
                                  </m:sSubPr>
                                  <m:e>
                                    <m:r>
                                      <a:rPr lang="en-US" sz="2200" i="1">
                                        <a:latin typeface="Cambria Math" panose="02040503050406030204" pitchFamily="18" charset="0"/>
                                      </a:rPr>
                                      <m:t>𝑉</m:t>
                                    </m:r>
                                  </m:e>
                                  <m:sub>
                                    <m:r>
                                      <a:rPr lang="en-US" sz="2200" i="1">
                                        <a:latin typeface="Cambria Math" panose="02040503050406030204" pitchFamily="18" charset="0"/>
                                      </a:rPr>
                                      <m:t>𝑑𝑠</m:t>
                                    </m:r>
                                  </m:sub>
                                </m:sSub>
                                <m:r>
                                  <a:rPr lang="en-US" sz="2200" i="1">
                                    <a:latin typeface="Cambria Math" panose="02040503050406030204" pitchFamily="18" charset="0"/>
                                  </a:rPr>
                                  <m:t>&gt;</m:t>
                                </m:r>
                                <m:sSub>
                                  <m:sSubPr>
                                    <m:ctrlPr>
                                      <a:rPr lang="en-US" sz="2200" i="1">
                                        <a:latin typeface="Cambria Math" panose="02040503050406030204" pitchFamily="18" charset="0"/>
                                      </a:rPr>
                                    </m:ctrlPr>
                                  </m:sSubPr>
                                  <m:e>
                                    <m:r>
                                      <a:rPr lang="en-US" sz="2200" i="1">
                                        <a:latin typeface="Cambria Math" panose="02040503050406030204" pitchFamily="18" charset="0"/>
                                      </a:rPr>
                                      <m:t>𝑉</m:t>
                                    </m:r>
                                  </m:e>
                                  <m:sub>
                                    <m:r>
                                      <a:rPr lang="en-US" sz="2200" i="1">
                                        <a:latin typeface="Cambria Math" panose="02040503050406030204" pitchFamily="18" charset="0"/>
                                      </a:rPr>
                                      <m:t>𝑔𝑠</m:t>
                                    </m:r>
                                  </m:sub>
                                </m:sSub>
                                <m:r>
                                  <a:rPr lang="en-US" sz="2200" i="1">
                                    <a:latin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𝑉</m:t>
                                    </m:r>
                                  </m:e>
                                  <m:sub>
                                    <m:r>
                                      <a:rPr lang="en-US" sz="2200" i="1">
                                        <a:latin typeface="Cambria Math" panose="02040503050406030204" pitchFamily="18" charset="0"/>
                                      </a:rPr>
                                      <m:t>𝑡</m:t>
                                    </m:r>
                                  </m:sub>
                                </m:sSub>
                              </m:e>
                              <m:e>
                                <m:r>
                                  <a:rPr lang="fa-IR" sz="2200" b="0" i="1" smtClean="0">
                                    <a:latin typeface="Cambria Math" panose="02040503050406030204" pitchFamily="18" charset="0"/>
                                  </a:rPr>
                                  <m:t>اشباع</m:t>
                                </m:r>
                              </m:e>
                            </m:mr>
                          </m:m>
                        </m:e>
                      </m:d>
                    </m:oMath>
                  </m:oMathPara>
                </a14:m>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0">
                <a:blip r:embed="rId2"/>
                <a:stretch>
                  <a:fillRect t="-2125" r="-449"/>
                </a:stretch>
              </a:blipFill>
            </p:spPr>
            <p:txBody>
              <a:bodyPr/>
              <a:lstStyle/>
              <a:p>
                <a:r>
                  <a:rPr lang="fa-IR">
                    <a:noFill/>
                  </a:rPr>
                  <a:t> </a:t>
                </a:r>
              </a:p>
            </p:txBody>
          </p:sp>
        </mc:Fallback>
      </mc:AlternateContent>
      <p:sp>
        <p:nvSpPr>
          <p:cNvPr id="2" name="Title 1"/>
          <p:cNvSpPr>
            <a:spLocks noGrp="1"/>
          </p:cNvSpPr>
          <p:nvPr>
            <p:ph type="title"/>
          </p:nvPr>
        </p:nvSpPr>
        <p:spPr/>
        <p:txBody>
          <a:bodyPr/>
          <a:lstStyle/>
          <a:p>
            <a:r>
              <a:rPr lang="fa-IR" dirty="0"/>
              <a:t>مدل سیگنال بزرگ </a:t>
            </a:r>
            <a:r>
              <a:rPr lang="en-US" dirty="0"/>
              <a:t>MOSFET</a:t>
            </a:r>
          </a:p>
        </p:txBody>
      </p:sp>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12. ترانزیستور (ادامه)</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26</a:t>
            </a:fld>
            <a:endParaRPr lang="en-US" altLang="en-US" dirty="0"/>
          </a:p>
        </p:txBody>
      </p:sp>
      <p:pic>
        <p:nvPicPr>
          <p:cNvPr id="7" name="Picture 6"/>
          <p:cNvPicPr>
            <a:picLocks noChangeAspect="1"/>
          </p:cNvPicPr>
          <p:nvPr/>
        </p:nvPicPr>
        <p:blipFill>
          <a:blip r:embed="rId3"/>
          <a:stretch>
            <a:fillRect/>
          </a:stretch>
        </p:blipFill>
        <p:spPr>
          <a:xfrm>
            <a:off x="609600" y="1600200"/>
            <a:ext cx="4096502" cy="1752600"/>
          </a:xfrm>
          <a:prstGeom prst="rect">
            <a:avLst/>
          </a:prstGeom>
        </p:spPr>
      </p:pic>
    </p:spTree>
    <p:extLst>
      <p:ext uri="{BB962C8B-B14F-4D97-AF65-F5344CB8AC3E}">
        <p14:creationId xmlns:p14="http://schemas.microsoft.com/office/powerpoint/2010/main" val="35530631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مشخصه ولتاژ-جریان </a:t>
            </a:r>
            <a:r>
              <a:rPr lang="en-US" dirty="0"/>
              <a:t>MOSFET</a:t>
            </a:r>
            <a:endParaRPr lang="fa-IR" dirty="0"/>
          </a:p>
        </p:txBody>
      </p:sp>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12. ترانزیستور (ادامه)</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rtl="1">
              <a:defRPr/>
            </a:pPr>
            <a:fld id="{B5CFC3F8-B58D-40FA-AF21-F23E618E0688}" type="slidenum">
              <a:rPr lang="en-US" altLang="en-US" smtClean="0"/>
              <a:pPr rtl="1">
                <a:defRPr/>
              </a:pPr>
              <a:t>27</a:t>
            </a:fld>
            <a:endParaRPr lang="en-US" altLang="en-US" dirty="0"/>
          </a:p>
        </p:txBody>
      </p:sp>
      <p:pic>
        <p:nvPicPr>
          <p:cNvPr id="8" name="Picture 7"/>
          <p:cNvPicPr>
            <a:picLocks noChangeAspect="1"/>
          </p:cNvPicPr>
          <p:nvPr/>
        </p:nvPicPr>
        <p:blipFill>
          <a:blip r:embed="rId2"/>
          <a:stretch>
            <a:fillRect/>
          </a:stretch>
        </p:blipFill>
        <p:spPr>
          <a:xfrm>
            <a:off x="602166" y="1455982"/>
            <a:ext cx="6629400" cy="4607433"/>
          </a:xfrm>
          <a:prstGeom prst="rect">
            <a:avLst/>
          </a:prstGeom>
        </p:spPr>
      </p:pic>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fa-IR" dirty="0"/>
                  <a:t>رابطه جریان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𝑖</m:t>
                        </m:r>
                      </m:e>
                      <m:sub>
                        <m:r>
                          <a:rPr lang="en-US" b="0" i="1" dirty="0" smtClean="0">
                            <a:latin typeface="Cambria Math" panose="02040503050406030204" pitchFamily="18" charset="0"/>
                          </a:rPr>
                          <m:t>𝐷𝑆</m:t>
                        </m:r>
                      </m:sub>
                    </m:sSub>
                  </m:oMath>
                </a14:m>
                <a:r>
                  <a:rPr lang="fa-IR" dirty="0"/>
                  <a:t> با ولتاژ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𝐷𝑆</m:t>
                        </m:r>
                      </m:sub>
                    </m:sSub>
                  </m:oMath>
                </a14:m>
                <a:r>
                  <a:rPr lang="fa-IR" dirty="0"/>
                  <a:t> </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0">
                <a:blip r:embed="rId3"/>
                <a:stretch>
                  <a:fillRect t="-875" r="-449"/>
                </a:stretch>
              </a:blipFill>
            </p:spPr>
            <p:txBody>
              <a:bodyPr/>
              <a:lstStyle/>
              <a:p>
                <a:r>
                  <a:rPr lang="fa-IR">
                    <a:noFill/>
                  </a:rPr>
                  <a:t> </a:t>
                </a:r>
              </a:p>
            </p:txBody>
          </p:sp>
        </mc:Fallback>
      </mc:AlternateContent>
    </p:spTree>
    <p:extLst>
      <p:ext uri="{BB962C8B-B14F-4D97-AF65-F5344CB8AC3E}">
        <p14:creationId xmlns:p14="http://schemas.microsoft.com/office/powerpoint/2010/main" val="6817830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مشخصه ولتاژ-جریان </a:t>
            </a:r>
            <a:r>
              <a:rPr lang="en-US" dirty="0"/>
              <a:t>MOSFET</a:t>
            </a:r>
            <a:endParaRPr lang="fa-IR" dirty="0"/>
          </a:p>
        </p:txBody>
      </p:sp>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12. ترانزیستور (ادامه)</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rtl="1">
              <a:defRPr/>
            </a:pPr>
            <a:fld id="{B5CFC3F8-B58D-40FA-AF21-F23E618E0688}" type="slidenum">
              <a:rPr lang="en-US" altLang="en-US" smtClean="0"/>
              <a:pPr rtl="1">
                <a:defRPr/>
              </a:pPr>
              <a:t>28</a:t>
            </a:fld>
            <a:endParaRPr lang="en-US" alt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fa-IR" dirty="0"/>
                  <a:t>رابطه جریان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𝑖</m:t>
                        </m:r>
                      </m:e>
                      <m:sub>
                        <m:r>
                          <a:rPr lang="en-US" b="0" i="1" dirty="0" smtClean="0">
                            <a:latin typeface="Cambria Math" panose="02040503050406030204" pitchFamily="18" charset="0"/>
                          </a:rPr>
                          <m:t>𝐷𝑆</m:t>
                        </m:r>
                      </m:sub>
                    </m:sSub>
                  </m:oMath>
                </a14:m>
                <a:r>
                  <a:rPr lang="fa-IR" dirty="0"/>
                  <a:t> با ولتاژ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𝐺𝑆</m:t>
                        </m:r>
                      </m:sub>
                    </m:sSub>
                  </m:oMath>
                </a14:m>
                <a:r>
                  <a:rPr lang="fa-IR" dirty="0"/>
                  <a:t> </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0">
                <a:blip r:embed="rId2"/>
                <a:stretch>
                  <a:fillRect t="-875" r="-449"/>
                </a:stretch>
              </a:blipFill>
            </p:spPr>
            <p:txBody>
              <a:bodyPr/>
              <a:lstStyle/>
              <a:p>
                <a:r>
                  <a:rPr lang="fa-IR">
                    <a:noFill/>
                  </a:rPr>
                  <a:t> </a:t>
                </a:r>
              </a:p>
            </p:txBody>
          </p:sp>
        </mc:Fallback>
      </mc:AlternateContent>
      <p:pic>
        <p:nvPicPr>
          <p:cNvPr id="7" name="Picture 6"/>
          <p:cNvPicPr>
            <a:picLocks noChangeAspect="1"/>
          </p:cNvPicPr>
          <p:nvPr/>
        </p:nvPicPr>
        <p:blipFill>
          <a:blip r:embed="rId3"/>
          <a:stretch>
            <a:fillRect/>
          </a:stretch>
        </p:blipFill>
        <p:spPr>
          <a:xfrm>
            <a:off x="609600" y="1524000"/>
            <a:ext cx="3686175" cy="4411519"/>
          </a:xfrm>
          <a:prstGeom prst="rect">
            <a:avLst/>
          </a:prstGeom>
        </p:spPr>
      </p:pic>
    </p:spTree>
    <p:extLst>
      <p:ext uri="{BB962C8B-B14F-4D97-AF65-F5344CB8AC3E}">
        <p14:creationId xmlns:p14="http://schemas.microsoft.com/office/powerpoint/2010/main" val="17832467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fa-IR" sz="2400" dirty="0"/>
                  <a:t>روابط </a:t>
                </a:r>
                <a:r>
                  <a:rPr lang="en-US" sz="2400" dirty="0"/>
                  <a:t>KVL</a:t>
                </a:r>
                <a:r>
                  <a:rPr lang="fa-IR" sz="2400" dirty="0"/>
                  <a:t> دو طرف ترانزیستور را بنویسید.</a:t>
                </a:r>
                <a:endParaRPr lang="en-US" sz="2400" dirty="0"/>
              </a:p>
              <a:p>
                <a:r>
                  <a:rPr lang="fa-IR" sz="2400" dirty="0"/>
                  <a:t>با استفاده از این روابط، ولتاژ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𝑔𝑠</m:t>
                        </m:r>
                      </m:sub>
                    </m:sSub>
                  </m:oMath>
                </a14:m>
                <a:r>
                  <a:rPr lang="fa-IR" sz="2400" dirty="0"/>
                  <a:t> را به‌دست آورید. (جریان گیت همیشه صفر است).</a:t>
                </a:r>
                <a:endParaRPr lang="en-US" sz="2400" dirty="0"/>
              </a:p>
              <a:p>
                <a:r>
                  <a:rPr lang="fa-IR" sz="2400" dirty="0"/>
                  <a:t>اگر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b="0" i="1" smtClean="0">
                            <a:latin typeface="Cambria Math" panose="02040503050406030204" pitchFamily="18" charset="0"/>
                          </a:rPr>
                          <m:t>𝑔𝑠</m:t>
                        </m:r>
                      </m:sub>
                    </m:sSub>
                    <m:r>
                      <a:rPr lang="en-US" sz="2400" i="1">
                        <a:latin typeface="Cambria Math" panose="02040503050406030204" pitchFamily="18" charset="0"/>
                      </a:rPr>
                      <m:t>&lt;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𝑡</m:t>
                        </m:r>
                      </m:sub>
                    </m:sSub>
                  </m:oMath>
                </a14:m>
                <a:r>
                  <a:rPr lang="fa-IR" sz="2400" dirty="0"/>
                  <a:t> باشد، ترانزیستور قطع است:</a:t>
                </a:r>
                <a:r>
                  <a:rPr lang="en-US" sz="2400" dirty="0"/>
                  <a:t>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𝐼</m:t>
                        </m:r>
                      </m:e>
                      <m:sub>
                        <m:r>
                          <a:rPr lang="en-US" sz="2400" b="0" i="1" smtClean="0">
                            <a:latin typeface="Cambria Math" panose="02040503050406030204" pitchFamily="18" charset="0"/>
                          </a:rPr>
                          <m:t>𝑑𝑠</m:t>
                        </m:r>
                      </m:sub>
                    </m:sSub>
                    <m:r>
                      <a:rPr lang="en-US" sz="2400" b="0" i="1" smtClean="0">
                        <a:latin typeface="Cambria Math" panose="02040503050406030204" pitchFamily="18" charset="0"/>
                      </a:rPr>
                      <m:t>=</m:t>
                    </m:r>
                    <m:r>
                      <a:rPr lang="en-US" sz="2400" b="0" i="1" smtClean="0">
                        <a:latin typeface="Cambria Math" panose="02040503050406030204" pitchFamily="18" charset="0"/>
                      </a:rPr>
                      <m:t>0</m:t>
                    </m:r>
                    <m:r>
                      <a:rPr lang="en-US" sz="2400" b="0" i="1" smtClean="0">
                        <a:latin typeface="Cambria Math" panose="02040503050406030204" pitchFamily="18" charset="0"/>
                      </a:rPr>
                      <m:t> </m:t>
                    </m:r>
                  </m:oMath>
                </a14:m>
                <a:endParaRPr lang="en-US" sz="2400" b="0" dirty="0"/>
              </a:p>
              <a:p>
                <a:r>
                  <a:rPr lang="fa-IR" sz="2400" dirty="0"/>
                  <a:t>اگر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𝑔𝑠</m:t>
                        </m:r>
                      </m:sub>
                    </m:sSub>
                    <m:r>
                      <a:rPr lang="en-US" sz="2400" b="0" i="1" smtClean="0">
                        <a:latin typeface="Cambria Math" panose="02040503050406030204" pitchFamily="18" charset="0"/>
                      </a:rPr>
                      <m:t>&gt;</m:t>
                    </m:r>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𝑡</m:t>
                        </m:r>
                      </m:sub>
                    </m:sSub>
                  </m:oMath>
                </a14:m>
                <a:r>
                  <a:rPr lang="fa-IR" sz="2400" dirty="0"/>
                  <a:t> باشد، یا اشباع است یا خطی.</a:t>
                </a:r>
                <a:endParaRPr lang="en-US" sz="2400" dirty="0"/>
              </a:p>
              <a:p>
                <a:r>
                  <a:rPr lang="fa-IR" sz="2400" dirty="0"/>
                  <a:t>فرض می‌کنیم اشباع است: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𝐼</m:t>
                        </m:r>
                      </m:e>
                      <m:sub>
                        <m:r>
                          <a:rPr lang="en-US" sz="2400" b="0" i="1" smtClean="0">
                            <a:latin typeface="Cambria Math" panose="02040503050406030204" pitchFamily="18" charset="0"/>
                          </a:rPr>
                          <m:t>𝑑𝑠</m:t>
                        </m:r>
                      </m:sub>
                    </m:sSub>
                    <m:r>
                      <a:rPr lang="en-US" sz="2400" b="0" i="1" smtClean="0">
                        <a:latin typeface="Cambria Math" panose="02040503050406030204" pitchFamily="18" charset="0"/>
                      </a:rPr>
                      <m:t>=</m:t>
                    </m:r>
                    <m:f>
                      <m:fPr>
                        <m:ctrlPr>
                          <a:rPr lang="en-US" sz="2400" i="1">
                            <a:latin typeface="Cambria Math" panose="02040503050406030204" pitchFamily="18" charset="0"/>
                          </a:rPr>
                        </m:ctrlPr>
                      </m:fPr>
                      <m:num>
                        <m:r>
                          <a:rPr lang="en-US" sz="2400" b="0" i="1" smtClean="0">
                            <a:latin typeface="Cambria Math" panose="02040503050406030204" pitchFamily="18" charset="0"/>
                          </a:rPr>
                          <m:t>𝐾</m:t>
                        </m:r>
                      </m:num>
                      <m:den>
                        <m:r>
                          <a:rPr lang="en-US" sz="2400" i="1">
                            <a:latin typeface="Cambria Math" panose="02040503050406030204" pitchFamily="18" charset="0"/>
                          </a:rPr>
                          <m:t>2</m:t>
                        </m:r>
                      </m:den>
                    </m:f>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𝑔𝑠</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𝑡</m:t>
                                </m:r>
                              </m:sub>
                            </m:sSub>
                          </m:e>
                        </m:d>
                      </m:e>
                      <m:sup>
                        <m:r>
                          <a:rPr lang="en-US" sz="2400" i="1">
                            <a:latin typeface="Cambria Math" panose="02040503050406030204" pitchFamily="18" charset="0"/>
                          </a:rPr>
                          <m:t>2</m:t>
                        </m:r>
                      </m:sup>
                    </m:sSup>
                  </m:oMath>
                </a14:m>
                <a:endParaRPr lang="en-US" sz="2400" b="0" dirty="0"/>
              </a:p>
              <a:p>
                <a:r>
                  <a:rPr lang="fa-IR" sz="2400" dirty="0"/>
                  <a:t>ولتاژ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𝑑𝑠</m:t>
                        </m:r>
                      </m:sub>
                    </m:sSub>
                  </m:oMath>
                </a14:m>
                <a:r>
                  <a:rPr lang="fa-IR" sz="2400" dirty="0"/>
                  <a:t> را به‌دست آورده و شرط اشباع بودن را چک می‌کنیم: </a:t>
                </a:r>
              </a:p>
              <a:p>
                <a:pPr lvl="1"/>
                <a:r>
                  <a:rPr lang="en-US" sz="2400" dirty="0"/>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𝑑𝑠</m:t>
                        </m:r>
                      </m:sub>
                    </m:sSub>
                    <m:r>
                      <a:rPr lang="en-US" sz="2400" i="1">
                        <a:latin typeface="Cambria Math" panose="02040503050406030204" pitchFamily="18" charset="0"/>
                      </a:rPr>
                      <m:t>&gt;</m:t>
                    </m:r>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𝑔𝑠</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𝑡</m:t>
                        </m:r>
                      </m:sub>
                    </m:sSub>
                  </m:oMath>
                </a14:m>
                <a:endParaRPr lang="en-US" sz="2400" dirty="0"/>
              </a:p>
              <a:p>
                <a:r>
                  <a:rPr lang="fa-IR" sz="2400" i="0" dirty="0">
                    <a:latin typeface="+mj-lt"/>
                  </a:rPr>
                  <a:t>ا</a:t>
                </a:r>
                <a:r>
                  <a:rPr lang="fa-IR" sz="2400" b="0" i="0" dirty="0">
                    <a:latin typeface="+mj-lt"/>
                  </a:rPr>
                  <a:t>گر تناقض داشت خطی است: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𝐼</m:t>
                        </m:r>
                      </m:e>
                      <m:sub>
                        <m:r>
                          <a:rPr lang="en-US" sz="2400" b="0" i="1" smtClean="0">
                            <a:latin typeface="Cambria Math" panose="02040503050406030204" pitchFamily="18" charset="0"/>
                          </a:rPr>
                          <m:t>𝑑𝑠</m:t>
                        </m:r>
                      </m:sub>
                    </m:sSub>
                    <m:r>
                      <a:rPr lang="en-US" sz="2400" b="0" i="1" smtClean="0">
                        <a:latin typeface="Cambria Math" panose="02040503050406030204" pitchFamily="18" charset="0"/>
                      </a:rPr>
                      <m:t>=</m:t>
                    </m:r>
                    <m:r>
                      <a:rPr lang="en-US" sz="2400" b="0" i="1" smtClean="0">
                        <a:latin typeface="Cambria Math" panose="02040503050406030204" pitchFamily="18" charset="0"/>
                      </a:rPr>
                      <m:t>𝐾</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𝑔𝑠</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𝑡</m:t>
                            </m:r>
                          </m:sub>
                        </m:sSub>
                        <m:r>
                          <a:rPr lang="en-US" sz="2400" i="1">
                            <a:latin typeface="Cambria Math" panose="02040503050406030204" pitchFamily="18" charset="0"/>
                          </a:rPr>
                          <m:t>−</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𝑑𝑠</m:t>
                                </m:r>
                              </m:sub>
                            </m:sSub>
                          </m:num>
                          <m:den>
                            <m:r>
                              <a:rPr lang="en-US" sz="2400" i="1">
                                <a:latin typeface="Cambria Math" panose="02040503050406030204" pitchFamily="18" charset="0"/>
                              </a:rPr>
                              <m:t>2</m:t>
                            </m:r>
                          </m:den>
                        </m:f>
                      </m:e>
                    </m:d>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𝑑𝑠</m:t>
                        </m:r>
                      </m:sub>
                    </m:sSub>
                  </m:oMath>
                </a14:m>
                <a:endParaRPr lang="fa-IR" sz="2400"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0">
                <a:blip r:embed="rId2"/>
                <a:stretch>
                  <a:fillRect t="-1625" r="-150"/>
                </a:stretch>
              </a:blipFill>
            </p:spPr>
            <p:txBody>
              <a:bodyPr/>
              <a:lstStyle/>
              <a:p>
                <a:r>
                  <a:rPr lang="fa-IR">
                    <a:noFill/>
                  </a:rPr>
                  <a:t> </a:t>
                </a:r>
              </a:p>
            </p:txBody>
          </p:sp>
        </mc:Fallback>
      </mc:AlternateContent>
      <p:sp>
        <p:nvSpPr>
          <p:cNvPr id="2" name="Title 1"/>
          <p:cNvSpPr>
            <a:spLocks noGrp="1"/>
          </p:cNvSpPr>
          <p:nvPr>
            <p:ph type="title"/>
          </p:nvPr>
        </p:nvSpPr>
        <p:spPr/>
        <p:txBody>
          <a:bodyPr/>
          <a:lstStyle/>
          <a:p>
            <a:r>
              <a:rPr lang="fa-IR" dirty="0"/>
              <a:t>تحلیل </a:t>
            </a:r>
            <a:r>
              <a:rPr lang="en-US" dirty="0"/>
              <a:t>DC</a:t>
            </a:r>
            <a:r>
              <a:rPr lang="fa-IR" dirty="0"/>
              <a:t> ترانزیستور </a:t>
            </a:r>
            <a:r>
              <a:rPr lang="en-US" dirty="0"/>
              <a:t>MOSFET</a:t>
            </a:r>
            <a:endParaRPr lang="fa-IR" dirty="0"/>
          </a:p>
        </p:txBody>
      </p:sp>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12. ترانزیستور (ادامه)</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29</a:t>
            </a:fld>
            <a:endParaRPr lang="en-US" altLang="en-US" dirty="0"/>
          </a:p>
        </p:txBody>
      </p:sp>
    </p:spTree>
    <p:extLst>
      <p:ext uri="{BB962C8B-B14F-4D97-AF65-F5344CB8AC3E}">
        <p14:creationId xmlns:p14="http://schemas.microsoft.com/office/powerpoint/2010/main" val="412841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a:off x="697694" y="2247900"/>
            <a:ext cx="3112306" cy="3467100"/>
          </a:xfrm>
          <a:prstGeom prst="rect">
            <a:avLst/>
          </a:prstGeom>
        </p:spPr>
      </p:pic>
      <p:sp>
        <p:nvSpPr>
          <p:cNvPr id="2" name="Title 1"/>
          <p:cNvSpPr>
            <a:spLocks noGrp="1"/>
          </p:cNvSpPr>
          <p:nvPr>
            <p:ph type="title"/>
          </p:nvPr>
        </p:nvSpPr>
        <p:spPr/>
        <p:txBody>
          <a:bodyPr/>
          <a:lstStyle/>
          <a:p>
            <a:r>
              <a:rPr lang="fa-IR" dirty="0"/>
              <a:t>مثال</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fa-IR" dirty="0"/>
                  <a:t>ولتاژ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𝑜</m:t>
                        </m:r>
                      </m:sub>
                    </m:sSub>
                  </m:oMath>
                </a14:m>
                <a:r>
                  <a:rPr lang="fa-IR" dirty="0"/>
                  <a:t> را بیابید.</a:t>
                </a:r>
                <a:r>
                  <a:rPr lang="en-US" dirty="0"/>
                  <a:t>	(</a:t>
                </a:r>
                <a14:m>
                  <m:oMath xmlns:m="http://schemas.openxmlformats.org/officeDocument/2006/math">
                    <m:r>
                      <m:rPr>
                        <m:sty m:val="p"/>
                      </m:rPr>
                      <a:rPr lang="en-US" i="1" dirty="0" smtClean="0">
                        <a:latin typeface="Cambria Math" panose="02040503050406030204" pitchFamily="18" charset="0"/>
                      </a:rPr>
                      <m:t>K</m:t>
                    </m:r>
                    <m:r>
                      <a:rPr lang="en-US" b="0" i="1" smtClean="0">
                        <a:latin typeface="Cambria Math" panose="02040503050406030204" pitchFamily="18" charset="0"/>
                      </a:rPr>
                      <m:t>=</m:t>
                    </m:r>
                    <m:r>
                      <a:rPr lang="en-US" b="0" i="1" smtClean="0">
                        <a:latin typeface="Cambria Math" panose="02040503050406030204" pitchFamily="18" charset="0"/>
                      </a:rPr>
                      <m:t>0</m:t>
                    </m:r>
                    <m:r>
                      <a:rPr lang="en-US" b="0" i="1" smtClean="0">
                        <a:latin typeface="Cambria Math" panose="02040503050406030204" pitchFamily="18" charset="0"/>
                      </a:rPr>
                      <m:t>.</m:t>
                    </m:r>
                    <m:r>
                      <a:rPr lang="en-US" b="0" i="1" smtClean="0">
                        <a:latin typeface="Cambria Math" panose="02040503050406030204" pitchFamily="18" charset="0"/>
                      </a:rPr>
                      <m:t>5</m:t>
                    </m:r>
                    <m:f>
                      <m:fPr>
                        <m:ctrlPr>
                          <a:rPr lang="en-US" i="1">
                            <a:latin typeface="Cambria Math" panose="02040503050406030204" pitchFamily="18" charset="0"/>
                          </a:rPr>
                        </m:ctrlPr>
                      </m:fPr>
                      <m:num>
                        <m:r>
                          <a:rPr lang="en-US" i="1">
                            <a:latin typeface="Cambria Math" panose="02040503050406030204" pitchFamily="18" charset="0"/>
                          </a:rPr>
                          <m:t>𝑚𝐴</m:t>
                        </m:r>
                      </m:num>
                      <m:den>
                        <m:sSup>
                          <m:sSupPr>
                            <m:ctrlPr>
                              <a:rPr lang="en-US" i="1">
                                <a:latin typeface="Cambria Math" panose="02040503050406030204" pitchFamily="18" charset="0"/>
                              </a:rPr>
                            </m:ctrlPr>
                          </m:sSupPr>
                          <m:e>
                            <m:r>
                              <a:rPr lang="en-US" i="1">
                                <a:latin typeface="Cambria Math" panose="02040503050406030204" pitchFamily="18" charset="0"/>
                              </a:rPr>
                              <m:t>𝑉</m:t>
                            </m:r>
                          </m:e>
                          <m:sup>
                            <m:r>
                              <a:rPr lang="en-US" i="1">
                                <a:latin typeface="Cambria Math" panose="02040503050406030204" pitchFamily="18" charset="0"/>
                              </a:rPr>
                              <m:t>2</m:t>
                            </m:r>
                          </m:sup>
                        </m:sSup>
                      </m:den>
                    </m:f>
                  </m:oMath>
                </a14:m>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2</m:t>
                    </m:r>
                  </m:oMath>
                </a14:m>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0</m:t>
                    </m:r>
                  </m:oMath>
                </a14:m>
                <a:r>
                  <a:rPr lang="en-US" dirty="0"/>
                  <a:t>)</a:t>
                </a:r>
              </a:p>
              <a:p>
                <a:r>
                  <a:rPr lang="fa-IR" dirty="0"/>
                  <a:t>روابط </a:t>
                </a:r>
                <a:r>
                  <a:rPr lang="en-US" dirty="0"/>
                  <a:t>KVL</a:t>
                </a:r>
                <a:r>
                  <a:rPr lang="fa-IR" dirty="0"/>
                  <a:t> دو طرف:</a:t>
                </a:r>
                <a:endParaRPr lang="en-US" dirty="0"/>
              </a:p>
              <a:p>
                <a:pPr lvl="1"/>
                <a14:m>
                  <m:oMath xmlns:m="http://schemas.openxmlformats.org/officeDocument/2006/math">
                    <m:sSub>
                      <m:sSubPr>
                        <m:ctrlPr>
                          <a:rPr lang="en-US" b="0" i="1" smtClean="0">
                            <a:latin typeface="Cambria Math" panose="02040503050406030204" pitchFamily="18" charset="0"/>
                          </a:rPr>
                        </m:ctrlPr>
                      </m:sSub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𝑔𝑠</m:t>
                            </m:r>
                          </m:sub>
                        </m:sSub>
                        <m:r>
                          <a:rPr lang="en-US" b="0" i="1" smtClean="0">
                            <a:latin typeface="Cambria Math" panose="02040503050406030204" pitchFamily="18" charset="0"/>
                          </a:rPr>
                          <m:t>=</m:t>
                        </m:r>
                        <m:r>
                          <a:rPr lang="en-US" b="0" i="1" smtClean="0">
                            <a:latin typeface="Cambria Math" panose="02040503050406030204" pitchFamily="18" charset="0"/>
                          </a:rPr>
                          <m:t>𝑣</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0</m:t>
                    </m:r>
                  </m:oMath>
                </a14:m>
                <a:endParaRPr lang="en-US" b="0" i="1" dirty="0">
                  <a:latin typeface="Cambria Math" panose="02040503050406030204" pitchFamily="18" charset="0"/>
                </a:endParaRPr>
              </a:p>
              <a:p>
                <a:pPr lvl="1"/>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12</m:t>
                    </m:r>
                    <m:r>
                      <a:rPr lang="en-US" b="0" i="1" smtClean="0">
                        <a:latin typeface="Cambria Math" panose="02040503050406030204" pitchFamily="18" charset="0"/>
                      </a:rPr>
                      <m:t>+</m:t>
                    </m:r>
                    <m:r>
                      <a:rPr lang="en-US" b="0" i="1" smtClean="0">
                        <a:latin typeface="Cambria Math" panose="02040503050406030204" pitchFamily="18" charset="0"/>
                      </a:rPr>
                      <m:t>1000</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𝐷</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𝑑𝑠</m:t>
                        </m:r>
                      </m:sub>
                    </m:sSub>
                    <m:r>
                      <a:rPr lang="en-US" b="0" i="1" smtClean="0">
                        <a:latin typeface="Cambria Math" panose="02040503050406030204" pitchFamily="18" charset="0"/>
                      </a:rPr>
                      <m:t>=</m:t>
                    </m:r>
                    <m:r>
                      <a:rPr lang="en-US" b="0" i="1" smtClean="0">
                        <a:latin typeface="Cambria Math" panose="02040503050406030204" pitchFamily="18" charset="0"/>
                      </a:rPr>
                      <m:t>0</m:t>
                    </m:r>
                  </m:oMath>
                </a14:m>
                <a:endParaRPr lang="en-US" b="0" dirty="0"/>
              </a:p>
              <a:p>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i="1" dirty="0">
                            <a:latin typeface="Cambria Math" panose="02040503050406030204" pitchFamily="18" charset="0"/>
                          </a:rPr>
                          <m:t>𝑔𝑠</m:t>
                        </m:r>
                      </m:sub>
                    </m:sSub>
                    <m:r>
                      <a:rPr lang="en-US" i="1" dirty="0">
                        <a:latin typeface="Cambria Math" panose="02040503050406030204" pitchFamily="18" charset="0"/>
                      </a:rPr>
                      <m:t>&lt;</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i="1" dirty="0">
                            <a:latin typeface="Cambria Math" panose="02040503050406030204" pitchFamily="18" charset="0"/>
                          </a:rPr>
                          <m:t>𝑡</m:t>
                        </m:r>
                      </m:sub>
                    </m:sSub>
                  </m:oMath>
                </a14:m>
                <a:r>
                  <a:rPr lang="fa-IR" b="0" dirty="0"/>
                  <a:t> پس قطع است: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𝑖</m:t>
                        </m:r>
                      </m:e>
                      <m:sub>
                        <m:r>
                          <a:rPr lang="en-US" i="1">
                            <a:latin typeface="Cambria Math" panose="02040503050406030204" pitchFamily="18" charset="0"/>
                          </a:rPr>
                          <m:t>𝐷</m:t>
                        </m:r>
                      </m:sub>
                    </m:sSub>
                    <m:r>
                      <a:rPr lang="en-US" i="1">
                        <a:latin typeface="Cambria Math" panose="02040503050406030204" pitchFamily="18" charset="0"/>
                      </a:rPr>
                      <m:t>=</m:t>
                    </m:r>
                    <m:r>
                      <a:rPr lang="en-US" i="1">
                        <a:latin typeface="Cambria Math" panose="02040503050406030204" pitchFamily="18" charset="0"/>
                      </a:rPr>
                      <m:t>0</m:t>
                    </m:r>
                  </m:oMath>
                </a14:m>
                <a:endParaRPr lang="en-US" b="0" dirty="0"/>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𝑑𝑠</m:t>
                        </m:r>
                      </m:sub>
                    </m:sSub>
                    <m:r>
                      <a:rPr lang="en-US" b="0" i="1" smtClean="0">
                        <a:latin typeface="Cambria Math" panose="02040503050406030204" pitchFamily="18" charset="0"/>
                      </a:rPr>
                      <m:t>=</m:t>
                    </m:r>
                    <m:r>
                      <a:rPr lang="en-US" b="0" i="1" smtClean="0">
                        <a:latin typeface="Cambria Math" panose="02040503050406030204" pitchFamily="18" charset="0"/>
                      </a:rPr>
                      <m:t>12</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0">
                <a:blip r:embed="rId3"/>
                <a:stretch>
                  <a:fillRect r="-449"/>
                </a:stretch>
              </a:blipFill>
            </p:spPr>
            <p:txBody>
              <a:bodyPr/>
              <a:lstStyle/>
              <a:p>
                <a:r>
                  <a:rPr lang="fa-IR">
                    <a:noFill/>
                  </a:rPr>
                  <a:t> </a:t>
                </a:r>
              </a:p>
            </p:txBody>
          </p:sp>
        </mc:Fallback>
      </mc:AlternateContent>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12. ترانزیستور (ادامه)</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30</a:t>
            </a:fld>
            <a:endParaRPr lang="en-US" altLang="en-US" dirty="0"/>
          </a:p>
        </p:txBody>
      </p:sp>
    </p:spTree>
    <p:extLst>
      <p:ext uri="{BB962C8B-B14F-4D97-AF65-F5344CB8AC3E}">
        <p14:creationId xmlns:p14="http://schemas.microsoft.com/office/powerpoint/2010/main" val="2816052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a:off x="88094" y="1143000"/>
            <a:ext cx="3112306" cy="3467100"/>
          </a:xfrm>
          <a:prstGeom prst="rect">
            <a:avLst/>
          </a:prstGeom>
        </p:spPr>
      </p:pic>
      <p:sp>
        <p:nvSpPr>
          <p:cNvPr id="2" name="Title 1"/>
          <p:cNvSpPr>
            <a:spLocks noGrp="1"/>
          </p:cNvSpPr>
          <p:nvPr>
            <p:ph type="title"/>
          </p:nvPr>
        </p:nvSpPr>
        <p:spPr/>
        <p:txBody>
          <a:bodyPr/>
          <a:lstStyle/>
          <a:p>
            <a:r>
              <a:rPr lang="fa-IR" dirty="0"/>
              <a:t>مثال 2</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𝑜</m:t>
                        </m:r>
                      </m:sub>
                    </m:sSub>
                  </m:oMath>
                </a14:m>
                <a:r>
                  <a:rPr lang="fa-IR" dirty="0"/>
                  <a:t> را بیابید.</a:t>
                </a:r>
                <a:r>
                  <a:rPr lang="en-US" dirty="0"/>
                  <a:t> 	(</a:t>
                </a:r>
                <a14:m>
                  <m:oMath xmlns:m="http://schemas.openxmlformats.org/officeDocument/2006/math">
                    <m:r>
                      <a:rPr lang="en-US" b="0" i="1" smtClean="0">
                        <a:latin typeface="Cambria Math" panose="02040503050406030204" pitchFamily="18" charset="0"/>
                      </a:rPr>
                      <m:t>𝐾</m:t>
                    </m:r>
                    <m:r>
                      <a:rPr lang="en-US" i="1">
                        <a:latin typeface="Cambria Math" panose="02040503050406030204" pitchFamily="18" charset="0"/>
                      </a:rPr>
                      <m:t>=</m:t>
                    </m:r>
                    <m:r>
                      <a:rPr lang="en-US" i="1">
                        <a:latin typeface="Cambria Math" panose="02040503050406030204" pitchFamily="18" charset="0"/>
                      </a:rPr>
                      <m:t>0</m:t>
                    </m:r>
                    <m:r>
                      <a:rPr lang="en-US" i="1">
                        <a:latin typeface="Cambria Math" panose="02040503050406030204" pitchFamily="18" charset="0"/>
                      </a:rPr>
                      <m:t>.</m:t>
                    </m:r>
                    <m:r>
                      <a:rPr lang="en-US" i="1">
                        <a:latin typeface="Cambria Math" panose="02040503050406030204" pitchFamily="18" charset="0"/>
                      </a:rPr>
                      <m:t>5</m:t>
                    </m:r>
                    <m:f>
                      <m:fPr>
                        <m:ctrlPr>
                          <a:rPr lang="en-US" b="0" i="1" smtClean="0">
                            <a:latin typeface="Cambria Math" panose="02040503050406030204" pitchFamily="18" charset="0"/>
                          </a:rPr>
                        </m:ctrlPr>
                      </m:fPr>
                      <m:num>
                        <m:r>
                          <a:rPr lang="en-US" b="0" i="1" smtClean="0">
                            <a:latin typeface="Cambria Math" panose="02040503050406030204" pitchFamily="18" charset="0"/>
                          </a:rPr>
                          <m:t>𝑚𝐴</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2</m:t>
                            </m:r>
                          </m:sup>
                        </m:sSup>
                      </m:den>
                    </m:f>
                  </m:oMath>
                </a14:m>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2</m:t>
                    </m:r>
                  </m:oMath>
                </a14:m>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6</m:t>
                    </m:r>
                  </m:oMath>
                </a14:m>
                <a:r>
                  <a:rPr lang="en-US" dirty="0"/>
                  <a:t>)</a:t>
                </a:r>
              </a:p>
              <a:p>
                <a:r>
                  <a:rPr lang="fa-IR" dirty="0"/>
                  <a:t>روابط </a:t>
                </a:r>
                <a:r>
                  <a:rPr lang="en-US" dirty="0"/>
                  <a:t>KVL</a:t>
                </a:r>
                <a:r>
                  <a:rPr lang="fa-IR" dirty="0"/>
                  <a:t> دو طرف:</a:t>
                </a:r>
                <a:endParaRPr lang="en-US" dirty="0"/>
              </a:p>
              <a:p>
                <a:pPr lvl="1"/>
                <a14:m>
                  <m:oMath xmlns:m="http://schemas.openxmlformats.org/officeDocument/2006/math">
                    <m:sSub>
                      <m:sSubPr>
                        <m:ctrlPr>
                          <a:rPr lang="en-US" sz="2400" b="0" i="1" smtClean="0">
                            <a:latin typeface="Cambria Math" panose="02040503050406030204" pitchFamily="18" charset="0"/>
                          </a:rPr>
                        </m:ctrlPr>
                      </m:sSub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𝑔𝑠</m:t>
                            </m:r>
                          </m:sub>
                        </m:sSub>
                        <m:r>
                          <a:rPr lang="en-US" sz="2400" b="0" i="1" smtClean="0">
                            <a:latin typeface="Cambria Math" panose="02040503050406030204" pitchFamily="18" charset="0"/>
                          </a:rPr>
                          <m:t>=</m:t>
                        </m:r>
                        <m:r>
                          <a:rPr lang="en-US" sz="2400" b="0" i="1" smtClean="0">
                            <a:latin typeface="Cambria Math" panose="02040503050406030204" pitchFamily="18" charset="0"/>
                          </a:rPr>
                          <m:t>𝑣</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r>
                      <a:rPr lang="en-US" sz="2400" b="0" i="1" smtClean="0">
                        <a:latin typeface="Cambria Math" panose="02040503050406030204" pitchFamily="18" charset="0"/>
                      </a:rPr>
                      <m:t>6</m:t>
                    </m:r>
                  </m:oMath>
                </a14:m>
                <a:endParaRPr lang="en-US" sz="2400" b="0" i="1" dirty="0">
                  <a:latin typeface="Cambria Math" panose="02040503050406030204" pitchFamily="18" charset="0"/>
                </a:endParaRPr>
              </a:p>
              <a:p>
                <a:pPr lvl="1"/>
                <a14:m>
                  <m:oMath xmlns:m="http://schemas.openxmlformats.org/officeDocument/2006/math">
                    <m:r>
                      <a:rPr lang="en-US" sz="2400" b="0" i="1" smtClean="0">
                        <a:latin typeface="Cambria Math" panose="02040503050406030204" pitchFamily="18" charset="0"/>
                      </a:rPr>
                      <m:t>−</m:t>
                    </m:r>
                    <m:r>
                      <a:rPr lang="en-US" sz="2400" b="0" i="1" smtClean="0">
                        <a:latin typeface="Cambria Math" panose="02040503050406030204" pitchFamily="18" charset="0"/>
                      </a:rPr>
                      <m:t>12</m:t>
                    </m:r>
                    <m:r>
                      <a:rPr lang="en-US" sz="2400" b="0" i="1" smtClean="0">
                        <a:latin typeface="Cambria Math" panose="02040503050406030204" pitchFamily="18" charset="0"/>
                      </a:rPr>
                      <m:t>+</m:t>
                    </m:r>
                    <m:r>
                      <a:rPr lang="en-US" sz="2400" b="0" i="1" smtClean="0">
                        <a:latin typeface="Cambria Math" panose="02040503050406030204" pitchFamily="18" charset="0"/>
                      </a:rPr>
                      <m:t>1000</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𝑖</m:t>
                        </m:r>
                      </m:e>
                      <m:sub>
                        <m:r>
                          <a:rPr lang="en-US" sz="2400" b="0" i="1" smtClean="0">
                            <a:latin typeface="Cambria Math" panose="02040503050406030204" pitchFamily="18" charset="0"/>
                          </a:rPr>
                          <m:t>𝐷</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𝑑𝑠</m:t>
                        </m:r>
                      </m:sub>
                    </m:sSub>
                    <m:r>
                      <a:rPr lang="en-US" sz="2400" b="0" i="1" smtClean="0">
                        <a:latin typeface="Cambria Math" panose="02040503050406030204" pitchFamily="18" charset="0"/>
                      </a:rPr>
                      <m:t>=</m:t>
                    </m:r>
                    <m:r>
                      <a:rPr lang="en-US" sz="2400" b="0" i="1" smtClean="0">
                        <a:latin typeface="Cambria Math" panose="02040503050406030204" pitchFamily="18" charset="0"/>
                      </a:rPr>
                      <m:t>0</m:t>
                    </m:r>
                  </m:oMath>
                </a14:m>
                <a:endParaRPr lang="en-US" sz="2400" b="0" dirty="0"/>
              </a:p>
              <a:p>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𝑣</m:t>
                        </m:r>
                      </m:e>
                      <m:sub>
                        <m:r>
                          <a:rPr lang="en-US" b="0" i="1" dirty="0" smtClean="0">
                            <a:latin typeface="Cambria Math" panose="02040503050406030204" pitchFamily="18" charset="0"/>
                          </a:rPr>
                          <m:t>𝑔𝑠</m:t>
                        </m:r>
                      </m:sub>
                    </m:sSub>
                    <m:r>
                      <a:rPr lang="en-US" b="0" i="1" dirty="0" smtClean="0">
                        <a:latin typeface="Cambria Math" panose="02040503050406030204" pitchFamily="18" charset="0"/>
                      </a:rPr>
                      <m:t>&gt;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𝑉</m:t>
                        </m:r>
                      </m:e>
                      <m:sub>
                        <m:r>
                          <a:rPr lang="en-US" b="0" i="1" dirty="0" smtClean="0">
                            <a:latin typeface="Cambria Math" panose="02040503050406030204" pitchFamily="18" charset="0"/>
                          </a:rPr>
                          <m:t>𝑡</m:t>
                        </m:r>
                      </m:sub>
                    </m:sSub>
                  </m:oMath>
                </a14:m>
                <a:r>
                  <a:rPr lang="fa-IR" dirty="0"/>
                  <a:t> پس یا خطی است یا اشباع</a:t>
                </a:r>
                <a:endParaRPr lang="en-US" dirty="0"/>
              </a:p>
              <a:p>
                <a:r>
                  <a:rPr lang="fa-IR" b="0" dirty="0"/>
                  <a:t>فرض می‌کنیم اشباع است:</a:t>
                </a:r>
                <a:endParaRPr lang="en-US" b="0" dirty="0"/>
              </a:p>
              <a:p>
                <a:pPr lvl="1"/>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𝑖</m:t>
                        </m:r>
                      </m:e>
                      <m:sub>
                        <m:r>
                          <a:rPr lang="en-US" sz="2400" b="0" i="1" smtClean="0">
                            <a:latin typeface="Cambria Math" panose="02040503050406030204" pitchFamily="18" charset="0"/>
                          </a:rPr>
                          <m:t>𝐷</m:t>
                        </m:r>
                      </m:sub>
                    </m:sSub>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b="0" i="1" smtClean="0">
                            <a:latin typeface="Cambria Math" panose="02040503050406030204" pitchFamily="18" charset="0"/>
                          </a:rPr>
                          <m:t>𝐾</m:t>
                        </m:r>
                      </m:num>
                      <m:den>
                        <m:r>
                          <a:rPr lang="en-US" sz="2400" i="1">
                            <a:latin typeface="Cambria Math" panose="02040503050406030204" pitchFamily="18" charset="0"/>
                          </a:rPr>
                          <m:t>2</m:t>
                        </m:r>
                      </m:den>
                    </m:f>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b="0" i="1" smtClean="0">
                                    <a:latin typeface="Cambria Math" panose="02040503050406030204" pitchFamily="18" charset="0"/>
                                  </a:rPr>
                                  <m:t>𝑣</m:t>
                                </m:r>
                              </m:e>
                              <m:sub>
                                <m:r>
                                  <a:rPr lang="en-US" sz="2400" i="1">
                                    <a:latin typeface="Cambria Math" panose="02040503050406030204" pitchFamily="18" charset="0"/>
                                  </a:rPr>
                                  <m:t>𝑔𝑠</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𝑡</m:t>
                                </m:r>
                              </m:sub>
                            </m:sSub>
                          </m:e>
                        </m:d>
                      </m:e>
                      <m:sup>
                        <m:r>
                          <a:rPr lang="en-US" sz="2400" i="1">
                            <a:latin typeface="Cambria Math" panose="02040503050406030204" pitchFamily="18" charset="0"/>
                          </a:rPr>
                          <m:t>2</m:t>
                        </m:r>
                      </m:sup>
                    </m:sSup>
                    <m:r>
                      <a:rPr lang="en-US" sz="2400" b="0" i="1" smtClean="0">
                        <a:latin typeface="Cambria Math" panose="02040503050406030204" pitchFamily="18" charset="0"/>
                      </a:rPr>
                      <m:t>=</m:t>
                    </m:r>
                    <m:r>
                      <a:rPr lang="en-US" sz="2400" b="0" i="1" smtClean="0">
                        <a:latin typeface="Cambria Math" panose="02040503050406030204" pitchFamily="18" charset="0"/>
                      </a:rPr>
                      <m:t>4</m:t>
                    </m:r>
                    <m:r>
                      <a:rPr lang="en-US" sz="2400" b="0" i="1" smtClean="0">
                        <a:latin typeface="Cambria Math" panose="02040503050406030204" pitchFamily="18" charset="0"/>
                      </a:rPr>
                      <m:t>𝑚𝐴</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𝑑𝑠</m:t>
                        </m:r>
                      </m:sub>
                    </m:sSub>
                    <m:r>
                      <a:rPr lang="en-US" sz="2400" b="0" i="1" smtClean="0">
                        <a:latin typeface="Cambria Math" panose="02040503050406030204" pitchFamily="18" charset="0"/>
                      </a:rPr>
                      <m:t>=</m:t>
                    </m:r>
                    <m:r>
                      <a:rPr lang="en-US" sz="2400" b="0" i="1" smtClean="0">
                        <a:latin typeface="Cambria Math" panose="02040503050406030204" pitchFamily="18" charset="0"/>
                      </a:rPr>
                      <m:t>12</m:t>
                    </m:r>
                    <m:r>
                      <a:rPr lang="en-US" sz="2400" b="0" i="1" smtClean="0">
                        <a:latin typeface="Cambria Math" panose="02040503050406030204" pitchFamily="18" charset="0"/>
                      </a:rPr>
                      <m:t>−</m:t>
                    </m:r>
                    <m:r>
                      <a:rPr lang="en-US" sz="2400" b="0" i="1" smtClean="0">
                        <a:latin typeface="Cambria Math" panose="02040503050406030204" pitchFamily="18" charset="0"/>
                      </a:rPr>
                      <m:t>4</m:t>
                    </m:r>
                    <m:r>
                      <a:rPr lang="en-US" sz="2400" b="0" i="1" smtClean="0">
                        <a:latin typeface="Cambria Math" panose="02040503050406030204" pitchFamily="18" charset="0"/>
                      </a:rPr>
                      <m:t>=</m:t>
                    </m:r>
                    <m:r>
                      <a:rPr lang="en-US" sz="2400" b="0" i="1" smtClean="0">
                        <a:latin typeface="Cambria Math" panose="02040503050406030204" pitchFamily="18" charset="0"/>
                      </a:rPr>
                      <m:t>8</m:t>
                    </m:r>
                  </m:oMath>
                </a14:m>
                <a:endParaRPr lang="en-US" sz="2400" b="0"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𝑑𝑠</m:t>
                        </m:r>
                      </m:sub>
                    </m:sSub>
                    <m:r>
                      <a:rPr lang="en-US" b="0" i="1" smtClean="0">
                        <a:solidFill>
                          <a:srgbClr val="008000"/>
                        </a:solidFill>
                        <a:latin typeface="Cambria Math" panose="02040503050406030204" pitchFamily="18" charset="0"/>
                      </a:rPr>
                      <m:t>&gt;</m:t>
                    </m:r>
                    <m:sSub>
                      <m:sSubPr>
                        <m:ctrlPr>
                          <a:rPr lang="en-US" b="0" i="1" smtClean="0">
                            <a:solidFill>
                              <a:srgbClr val="008000"/>
                            </a:solidFill>
                            <a:latin typeface="Cambria Math" panose="02040503050406030204" pitchFamily="18" charset="0"/>
                          </a:rPr>
                        </m:ctrlPr>
                      </m:sSubPr>
                      <m:e>
                        <m:r>
                          <a:rPr lang="en-US" b="0" i="1" smtClean="0">
                            <a:solidFill>
                              <a:srgbClr val="008000"/>
                            </a:solidFill>
                            <a:latin typeface="Cambria Math" panose="02040503050406030204" pitchFamily="18" charset="0"/>
                          </a:rPr>
                          <m:t>𝑣</m:t>
                        </m:r>
                      </m:e>
                      <m:sub>
                        <m:r>
                          <a:rPr lang="en-US" b="0" i="1" smtClean="0">
                            <a:solidFill>
                              <a:srgbClr val="008000"/>
                            </a:solidFill>
                            <a:latin typeface="Cambria Math" panose="02040503050406030204" pitchFamily="18" charset="0"/>
                          </a:rPr>
                          <m:t>𝑔𝑠</m:t>
                        </m:r>
                      </m:sub>
                    </m:sSub>
                    <m:r>
                      <a:rPr lang="en-US" b="0" i="1" smtClean="0">
                        <a:solidFill>
                          <a:srgbClr val="008000"/>
                        </a:solidFill>
                        <a:latin typeface="Cambria Math" panose="02040503050406030204" pitchFamily="18" charset="0"/>
                      </a:rPr>
                      <m:t>−</m:t>
                    </m:r>
                    <m:sSub>
                      <m:sSubPr>
                        <m:ctrlPr>
                          <a:rPr lang="en-US" b="0" i="1" smtClean="0">
                            <a:solidFill>
                              <a:srgbClr val="008000"/>
                            </a:solidFill>
                            <a:latin typeface="Cambria Math" panose="02040503050406030204" pitchFamily="18" charset="0"/>
                          </a:rPr>
                        </m:ctrlPr>
                      </m:sSubPr>
                      <m:e>
                        <m:r>
                          <a:rPr lang="en-US" b="0" i="1" smtClean="0">
                            <a:solidFill>
                              <a:srgbClr val="008000"/>
                            </a:solidFill>
                            <a:latin typeface="Cambria Math" panose="02040503050406030204" pitchFamily="18" charset="0"/>
                          </a:rPr>
                          <m:t>𝑉</m:t>
                        </m:r>
                      </m:e>
                      <m:sub>
                        <m:r>
                          <a:rPr lang="en-US" b="0" i="1" smtClean="0">
                            <a:solidFill>
                              <a:srgbClr val="008000"/>
                            </a:solidFill>
                            <a:latin typeface="Cambria Math" panose="02040503050406030204" pitchFamily="18" charset="0"/>
                          </a:rPr>
                          <m:t>𝑡</m:t>
                        </m:r>
                      </m:sub>
                    </m:sSub>
                    <m:r>
                      <a:rPr lang="en-US" b="0" i="1" smtClean="0">
                        <a:solidFill>
                          <a:srgbClr val="008000"/>
                        </a:solidFill>
                        <a:latin typeface="Cambria Math" panose="02040503050406030204" pitchFamily="18" charset="0"/>
                      </a:rPr>
                      <m:t>=</m:t>
                    </m:r>
                    <m:r>
                      <a:rPr lang="en-US" b="0" i="1" smtClean="0">
                        <a:solidFill>
                          <a:srgbClr val="008000"/>
                        </a:solidFill>
                        <a:latin typeface="Cambria Math" panose="02040503050406030204" pitchFamily="18" charset="0"/>
                      </a:rPr>
                      <m:t>4</m:t>
                    </m:r>
                  </m:oMath>
                </a14:m>
                <a:endParaRPr lang="en-US" dirty="0">
                  <a:solidFill>
                    <a:srgbClr val="00800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0">
                <a:blip r:embed="rId3"/>
                <a:stretch>
                  <a:fillRect r="-449"/>
                </a:stretch>
              </a:blipFill>
            </p:spPr>
            <p:txBody>
              <a:bodyPr/>
              <a:lstStyle/>
              <a:p>
                <a:r>
                  <a:rPr lang="fa-IR">
                    <a:noFill/>
                  </a:rPr>
                  <a:t> </a:t>
                </a:r>
              </a:p>
            </p:txBody>
          </p:sp>
        </mc:Fallback>
      </mc:AlternateContent>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12. ترانزیستور (ادامه)</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31</a:t>
            </a:fld>
            <a:endParaRPr lang="en-US" altLang="en-US" dirty="0"/>
          </a:p>
        </p:txBody>
      </p:sp>
    </p:spTree>
    <p:extLst>
      <p:ext uri="{BB962C8B-B14F-4D97-AF65-F5344CB8AC3E}">
        <p14:creationId xmlns:p14="http://schemas.microsoft.com/office/powerpoint/2010/main" val="753302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a:off x="304800" y="1143000"/>
            <a:ext cx="3112306" cy="3467100"/>
          </a:xfrm>
          <a:prstGeom prst="rect">
            <a:avLst/>
          </a:prstGeom>
        </p:spPr>
      </p:pic>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a:xfrm>
                <a:off x="612648" y="1143000"/>
                <a:ext cx="8153400" cy="4876800"/>
              </a:xfrm>
            </p:spPr>
            <p:txBody>
              <a:bodyPr/>
              <a:lstStyle/>
              <a:p>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𝑜</m:t>
                        </m:r>
                      </m:sub>
                    </m:sSub>
                  </m:oMath>
                </a14:m>
                <a:r>
                  <a:rPr lang="fa-IR" sz="2400" dirty="0"/>
                  <a:t> را بیابید.</a:t>
                </a:r>
                <a:r>
                  <a:rPr lang="en-US" sz="2400" dirty="0"/>
                  <a:t> 	(</a:t>
                </a:r>
                <a14:m>
                  <m:oMath xmlns:m="http://schemas.openxmlformats.org/officeDocument/2006/math">
                    <m:r>
                      <a:rPr lang="en-US" sz="2400" b="0" i="1" smtClean="0">
                        <a:latin typeface="Cambria Math" panose="02040503050406030204" pitchFamily="18" charset="0"/>
                      </a:rPr>
                      <m:t>𝐾</m:t>
                    </m:r>
                    <m:r>
                      <a:rPr lang="en-US" sz="2400" i="1">
                        <a:latin typeface="Cambria Math" panose="02040503050406030204" pitchFamily="18" charset="0"/>
                      </a:rPr>
                      <m:t>=</m:t>
                    </m:r>
                    <m:r>
                      <a:rPr lang="en-US" sz="2400" i="1">
                        <a:latin typeface="Cambria Math" panose="02040503050406030204" pitchFamily="18" charset="0"/>
                      </a:rPr>
                      <m:t>0</m:t>
                    </m:r>
                    <m:r>
                      <a:rPr lang="en-US" sz="2400" i="1">
                        <a:latin typeface="Cambria Math" panose="02040503050406030204" pitchFamily="18" charset="0"/>
                      </a:rPr>
                      <m:t>.</m:t>
                    </m:r>
                    <m:r>
                      <a:rPr lang="en-US" sz="2400" i="1">
                        <a:latin typeface="Cambria Math" panose="02040503050406030204" pitchFamily="18" charset="0"/>
                      </a:rPr>
                      <m:t>5</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𝑚𝐴</m:t>
                        </m:r>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𝑉</m:t>
                            </m:r>
                          </m:e>
                          <m:sup>
                            <m:r>
                              <a:rPr lang="en-US" sz="2400" b="0" i="1" smtClean="0">
                                <a:latin typeface="Cambria Math" panose="02040503050406030204" pitchFamily="18" charset="0"/>
                              </a:rPr>
                              <m:t>2</m:t>
                            </m:r>
                          </m:sup>
                        </m:sSup>
                      </m:den>
                    </m:f>
                  </m:oMath>
                </a14:m>
                <a:r>
                  <a:rPr lang="en-US" sz="2400" dirty="0"/>
                  <a:t>,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𝑡</m:t>
                        </m:r>
                      </m:sub>
                    </m:sSub>
                    <m:r>
                      <a:rPr lang="en-US" sz="2400" b="0" i="1" smtClean="0">
                        <a:latin typeface="Cambria Math" panose="02040503050406030204" pitchFamily="18" charset="0"/>
                      </a:rPr>
                      <m:t>=</m:t>
                    </m:r>
                    <m:r>
                      <a:rPr lang="en-US" sz="2400" b="0" i="1" smtClean="0">
                        <a:latin typeface="Cambria Math" panose="02040503050406030204" pitchFamily="18" charset="0"/>
                      </a:rPr>
                      <m:t>2</m:t>
                    </m:r>
                  </m:oMath>
                </a14:m>
                <a:r>
                  <a:rPr lang="en-US" sz="2400" dirty="0"/>
                  <a:t>,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r>
                      <a:rPr lang="en-US" sz="2400" b="0" i="1" smtClean="0">
                        <a:latin typeface="Cambria Math" panose="02040503050406030204" pitchFamily="18" charset="0"/>
                      </a:rPr>
                      <m:t>12</m:t>
                    </m:r>
                  </m:oMath>
                </a14:m>
                <a:r>
                  <a:rPr lang="en-US" sz="2400" dirty="0"/>
                  <a:t>)</a:t>
                </a:r>
              </a:p>
              <a:p>
                <a:r>
                  <a:rPr lang="fa-IR" sz="2400" dirty="0"/>
                  <a:t>روابط </a:t>
                </a:r>
                <a:r>
                  <a:rPr lang="en-US" sz="2400" dirty="0"/>
                  <a:t>KVL</a:t>
                </a:r>
                <a:r>
                  <a:rPr lang="fa-IR" sz="2400" dirty="0"/>
                  <a:t> دو طرف:</a:t>
                </a:r>
                <a:endParaRPr lang="en-US" sz="2400" dirty="0"/>
              </a:p>
              <a:p>
                <a:pPr lvl="1"/>
                <a14:m>
                  <m:oMath xmlns:m="http://schemas.openxmlformats.org/officeDocument/2006/math">
                    <m:sSub>
                      <m:sSubPr>
                        <m:ctrlPr>
                          <a:rPr lang="en-US" sz="2000" b="0" i="1" smtClean="0">
                            <a:latin typeface="Cambria Math" panose="02040503050406030204" pitchFamily="18" charset="0"/>
                          </a:rPr>
                        </m:ctrlPr>
                      </m:sSub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𝑔𝑠</m:t>
                            </m:r>
                          </m:sub>
                        </m:sSub>
                        <m:r>
                          <a:rPr lang="en-US" sz="2000" b="0" i="1" smtClean="0">
                            <a:latin typeface="Cambria Math" panose="02040503050406030204" pitchFamily="18" charset="0"/>
                          </a:rPr>
                          <m:t>=</m:t>
                        </m:r>
                        <m:r>
                          <a:rPr lang="en-US" sz="2000" b="0" i="1" smtClean="0">
                            <a:latin typeface="Cambria Math" panose="02040503050406030204" pitchFamily="18" charset="0"/>
                          </a:rPr>
                          <m:t>𝑣</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r>
                      <a:rPr lang="en-US" sz="2000" b="0" i="1" smtClean="0">
                        <a:latin typeface="Cambria Math" panose="02040503050406030204" pitchFamily="18" charset="0"/>
                      </a:rPr>
                      <m:t>12</m:t>
                    </m:r>
                  </m:oMath>
                </a14:m>
                <a:endParaRPr lang="en-US" sz="2000" b="0" i="1" dirty="0">
                  <a:latin typeface="Cambria Math" panose="02040503050406030204" pitchFamily="18" charset="0"/>
                </a:endParaRPr>
              </a:p>
              <a:p>
                <a:pPr lvl="1"/>
                <a14:m>
                  <m:oMath xmlns:m="http://schemas.openxmlformats.org/officeDocument/2006/math">
                    <m:r>
                      <a:rPr lang="en-US" sz="2000" b="0" i="1" smtClean="0">
                        <a:latin typeface="Cambria Math" panose="02040503050406030204" pitchFamily="18" charset="0"/>
                      </a:rPr>
                      <m:t>−</m:t>
                    </m:r>
                    <m:r>
                      <a:rPr lang="en-US" sz="2000" b="0" i="1" smtClean="0">
                        <a:latin typeface="Cambria Math" panose="02040503050406030204" pitchFamily="18" charset="0"/>
                      </a:rPr>
                      <m:t>12</m:t>
                    </m:r>
                    <m:r>
                      <a:rPr lang="en-US" sz="2000" b="0" i="1" smtClean="0">
                        <a:latin typeface="Cambria Math" panose="02040503050406030204" pitchFamily="18" charset="0"/>
                      </a:rPr>
                      <m:t>+</m:t>
                    </m:r>
                    <m:r>
                      <a:rPr lang="en-US" sz="2000" b="0" i="1" smtClean="0">
                        <a:latin typeface="Cambria Math" panose="02040503050406030204" pitchFamily="18" charset="0"/>
                      </a:rPr>
                      <m:t>1000</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𝑖</m:t>
                        </m:r>
                      </m:e>
                      <m:sub>
                        <m:r>
                          <a:rPr lang="en-US" sz="2000" b="0" i="1" smtClean="0">
                            <a:latin typeface="Cambria Math" panose="02040503050406030204" pitchFamily="18" charset="0"/>
                          </a:rPr>
                          <m:t>𝐷</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𝑑𝑠</m:t>
                        </m:r>
                      </m:sub>
                    </m:sSub>
                    <m:r>
                      <a:rPr lang="en-US" sz="2000" b="0" i="1" smtClean="0">
                        <a:latin typeface="Cambria Math" panose="02040503050406030204" pitchFamily="18" charset="0"/>
                      </a:rPr>
                      <m:t>=</m:t>
                    </m:r>
                    <m:r>
                      <a:rPr lang="en-US" sz="2000" b="0" i="1" smtClean="0">
                        <a:latin typeface="Cambria Math" panose="02040503050406030204" pitchFamily="18" charset="0"/>
                      </a:rPr>
                      <m:t>0</m:t>
                    </m:r>
                  </m:oMath>
                </a14:m>
                <a:endParaRPr lang="en-US" sz="2000" b="0" dirty="0"/>
              </a:p>
              <a:p>
                <a14:m>
                  <m:oMath xmlns:m="http://schemas.openxmlformats.org/officeDocument/2006/math">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𝑣</m:t>
                        </m:r>
                      </m:e>
                      <m:sub>
                        <m:r>
                          <a:rPr lang="en-US" sz="2400" b="0" i="1" dirty="0" smtClean="0">
                            <a:latin typeface="Cambria Math" panose="02040503050406030204" pitchFamily="18" charset="0"/>
                          </a:rPr>
                          <m:t>𝑔𝑠</m:t>
                        </m:r>
                      </m:sub>
                    </m:sSub>
                    <m:r>
                      <a:rPr lang="en-US" sz="2400" b="0" i="1" dirty="0" smtClean="0">
                        <a:latin typeface="Cambria Math" panose="02040503050406030204" pitchFamily="18" charset="0"/>
                      </a:rPr>
                      <m:t>&gt;</m:t>
                    </m:r>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𝑉</m:t>
                        </m:r>
                      </m:e>
                      <m:sub>
                        <m:r>
                          <a:rPr lang="en-US" sz="2400" b="0" i="1" dirty="0" smtClean="0">
                            <a:latin typeface="Cambria Math" panose="02040503050406030204" pitchFamily="18" charset="0"/>
                          </a:rPr>
                          <m:t>𝑡</m:t>
                        </m:r>
                      </m:sub>
                    </m:sSub>
                  </m:oMath>
                </a14:m>
                <a:r>
                  <a:rPr lang="fa-IR" sz="2400" dirty="0"/>
                  <a:t> یا اشباع است یا خطی</a:t>
                </a:r>
                <a:endParaRPr lang="en-US" sz="2400" dirty="0"/>
              </a:p>
              <a:p>
                <a:r>
                  <a:rPr lang="fa-IR" sz="2400" dirty="0"/>
                  <a:t>فرض اشباع:</a:t>
                </a:r>
                <a:endParaRPr lang="en-US" sz="2400" b="0" dirty="0"/>
              </a:p>
              <a:p>
                <a:pPr lvl="1"/>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𝑖</m:t>
                        </m:r>
                      </m:e>
                      <m:sub>
                        <m:r>
                          <a:rPr lang="en-US" sz="1800" b="0" i="1" smtClean="0">
                            <a:latin typeface="Cambria Math" panose="02040503050406030204" pitchFamily="18" charset="0"/>
                          </a:rPr>
                          <m:t>𝐷</m:t>
                        </m:r>
                      </m:sub>
                    </m:sSub>
                    <m:r>
                      <a:rPr lang="en-US" sz="1800" i="1">
                        <a:latin typeface="Cambria Math" panose="02040503050406030204" pitchFamily="18" charset="0"/>
                      </a:rPr>
                      <m:t>=</m:t>
                    </m:r>
                    <m:f>
                      <m:fPr>
                        <m:ctrlPr>
                          <a:rPr lang="en-US" sz="1800" i="1">
                            <a:latin typeface="Cambria Math" panose="02040503050406030204" pitchFamily="18" charset="0"/>
                          </a:rPr>
                        </m:ctrlPr>
                      </m:fPr>
                      <m:num>
                        <m:r>
                          <a:rPr lang="en-US" sz="1800" b="0" i="1" smtClean="0">
                            <a:latin typeface="Cambria Math" panose="02040503050406030204" pitchFamily="18" charset="0"/>
                          </a:rPr>
                          <m:t>𝐾</m:t>
                        </m:r>
                      </m:num>
                      <m:den>
                        <m:r>
                          <a:rPr lang="en-US" sz="1800" i="1">
                            <a:latin typeface="Cambria Math" panose="02040503050406030204" pitchFamily="18" charset="0"/>
                          </a:rPr>
                          <m:t>2</m:t>
                        </m:r>
                      </m:den>
                    </m:f>
                    <m:sSup>
                      <m:sSupPr>
                        <m:ctrlPr>
                          <a:rPr lang="en-US" sz="1800" i="1">
                            <a:latin typeface="Cambria Math" panose="02040503050406030204" pitchFamily="18" charset="0"/>
                          </a:rPr>
                        </m:ctrlPr>
                      </m:sSupPr>
                      <m:e>
                        <m:d>
                          <m:dPr>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en-US" sz="1800" b="0" i="1" smtClean="0">
                                    <a:latin typeface="Cambria Math" panose="02040503050406030204" pitchFamily="18" charset="0"/>
                                  </a:rPr>
                                  <m:t>𝑣</m:t>
                                </m:r>
                              </m:e>
                              <m:sub>
                                <m:r>
                                  <a:rPr lang="en-US" sz="1800" i="1">
                                    <a:latin typeface="Cambria Math" panose="02040503050406030204" pitchFamily="18" charset="0"/>
                                  </a:rPr>
                                  <m:t>𝑔𝑠</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𝑉</m:t>
                                </m:r>
                              </m:e>
                              <m:sub>
                                <m:r>
                                  <a:rPr lang="en-US" sz="1800" i="1">
                                    <a:latin typeface="Cambria Math" panose="02040503050406030204" pitchFamily="18" charset="0"/>
                                  </a:rPr>
                                  <m:t>𝑡</m:t>
                                </m:r>
                              </m:sub>
                            </m:sSub>
                          </m:e>
                        </m:d>
                      </m:e>
                      <m:sup>
                        <m:r>
                          <a:rPr lang="en-US" sz="1800" i="1">
                            <a:latin typeface="Cambria Math" panose="02040503050406030204" pitchFamily="18" charset="0"/>
                          </a:rPr>
                          <m:t>2</m:t>
                        </m:r>
                      </m:sup>
                    </m:sSup>
                    <m:r>
                      <a:rPr lang="en-US" sz="1800" b="0" i="1" smtClean="0">
                        <a:latin typeface="Cambria Math" panose="02040503050406030204" pitchFamily="18" charset="0"/>
                      </a:rPr>
                      <m:t>=</m:t>
                    </m:r>
                    <m:r>
                      <a:rPr lang="en-US" sz="1800" b="0" i="1" smtClean="0">
                        <a:latin typeface="Cambria Math" panose="02040503050406030204" pitchFamily="18" charset="0"/>
                      </a:rPr>
                      <m:t>25</m:t>
                    </m:r>
                    <m:r>
                      <a:rPr lang="en-US" sz="1800" b="0" i="1" smtClean="0">
                        <a:latin typeface="Cambria Math" panose="02040503050406030204" pitchFamily="18" charset="0"/>
                      </a:rPr>
                      <m:t>𝑚𝐴</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𝑣</m:t>
                        </m:r>
                      </m:e>
                      <m:sub>
                        <m:r>
                          <a:rPr lang="en-US" sz="1800" b="0" i="1" smtClean="0">
                            <a:latin typeface="Cambria Math" panose="02040503050406030204" pitchFamily="18" charset="0"/>
                          </a:rPr>
                          <m:t>𝑑𝑠</m:t>
                        </m:r>
                      </m:sub>
                    </m:sSub>
                    <m:r>
                      <a:rPr lang="en-US" sz="1800" b="0" i="1" smtClean="0">
                        <a:latin typeface="Cambria Math" panose="02040503050406030204" pitchFamily="18" charset="0"/>
                      </a:rPr>
                      <m:t>=</m:t>
                    </m:r>
                    <m:r>
                      <a:rPr lang="en-US" sz="1800" b="0" i="1" smtClean="0">
                        <a:latin typeface="Cambria Math" panose="02040503050406030204" pitchFamily="18" charset="0"/>
                      </a:rPr>
                      <m:t>12</m:t>
                    </m:r>
                    <m:r>
                      <a:rPr lang="en-US" sz="1800" b="0" i="1" smtClean="0">
                        <a:latin typeface="Cambria Math" panose="02040503050406030204" pitchFamily="18" charset="0"/>
                      </a:rPr>
                      <m:t>−</m:t>
                    </m:r>
                    <m:r>
                      <a:rPr lang="en-US" sz="1800" b="0" i="1" smtClean="0">
                        <a:latin typeface="Cambria Math" panose="02040503050406030204" pitchFamily="18" charset="0"/>
                      </a:rPr>
                      <m:t>25</m:t>
                    </m:r>
                    <m:r>
                      <a:rPr lang="en-US" sz="1800" b="0" i="1" smtClean="0">
                        <a:latin typeface="Cambria Math" panose="02040503050406030204" pitchFamily="18" charset="0"/>
                      </a:rPr>
                      <m:t>=−</m:t>
                    </m:r>
                    <m:r>
                      <a:rPr lang="en-US" sz="1800" b="0" i="1" smtClean="0">
                        <a:latin typeface="Cambria Math" panose="02040503050406030204" pitchFamily="18" charset="0"/>
                      </a:rPr>
                      <m:t>13</m:t>
                    </m:r>
                  </m:oMath>
                </a14:m>
                <a:endParaRPr lang="en-US" sz="1800" b="0" dirty="0"/>
              </a:p>
              <a:p>
                <a:pPr lvl="1"/>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𝑑𝑠</m:t>
                        </m:r>
                      </m:sub>
                    </m:sSub>
                    <m:r>
                      <a:rPr lang="en-US" sz="2000" b="0" i="1" smtClean="0">
                        <a:solidFill>
                          <a:srgbClr val="FF0000"/>
                        </a:solidFill>
                        <a:latin typeface="Cambria Math" panose="02040503050406030204" pitchFamily="18" charset="0"/>
                      </a:rPr>
                      <m:t>&lt;</m:t>
                    </m:r>
                    <m:sSub>
                      <m:sSubPr>
                        <m:ctrlPr>
                          <a:rPr lang="en-US" sz="2000" b="0" i="1" smtClean="0">
                            <a:solidFill>
                              <a:srgbClr val="FF0000"/>
                            </a:solidFill>
                            <a:latin typeface="Cambria Math" panose="02040503050406030204" pitchFamily="18" charset="0"/>
                          </a:rPr>
                        </m:ctrlPr>
                      </m:sSubPr>
                      <m:e>
                        <m:r>
                          <a:rPr lang="en-US" sz="2000" b="0" i="1" smtClean="0">
                            <a:solidFill>
                              <a:srgbClr val="FF0000"/>
                            </a:solidFill>
                            <a:latin typeface="Cambria Math" panose="02040503050406030204" pitchFamily="18" charset="0"/>
                          </a:rPr>
                          <m:t>𝑣</m:t>
                        </m:r>
                      </m:e>
                      <m:sub>
                        <m:r>
                          <a:rPr lang="en-US" sz="2000" b="0" i="1" smtClean="0">
                            <a:solidFill>
                              <a:srgbClr val="FF0000"/>
                            </a:solidFill>
                            <a:latin typeface="Cambria Math" panose="02040503050406030204" pitchFamily="18" charset="0"/>
                          </a:rPr>
                          <m:t>𝑔𝑠</m:t>
                        </m:r>
                      </m:sub>
                    </m:sSub>
                    <m:r>
                      <a:rPr lang="en-US" sz="2000" b="0" i="1" smtClean="0">
                        <a:solidFill>
                          <a:srgbClr val="FF0000"/>
                        </a:solidFill>
                        <a:latin typeface="Cambria Math" panose="02040503050406030204" pitchFamily="18" charset="0"/>
                      </a:rPr>
                      <m:t>−</m:t>
                    </m:r>
                    <m:sSub>
                      <m:sSubPr>
                        <m:ctrlPr>
                          <a:rPr lang="en-US" sz="2000" b="0" i="1" smtClean="0">
                            <a:solidFill>
                              <a:srgbClr val="FF0000"/>
                            </a:solidFill>
                            <a:latin typeface="Cambria Math" panose="02040503050406030204" pitchFamily="18" charset="0"/>
                          </a:rPr>
                        </m:ctrlPr>
                      </m:sSubPr>
                      <m:e>
                        <m:r>
                          <a:rPr lang="en-US" sz="2000" b="0" i="1" smtClean="0">
                            <a:solidFill>
                              <a:srgbClr val="FF0000"/>
                            </a:solidFill>
                            <a:latin typeface="Cambria Math" panose="02040503050406030204" pitchFamily="18" charset="0"/>
                          </a:rPr>
                          <m:t>𝑉</m:t>
                        </m:r>
                      </m:e>
                      <m:sub>
                        <m:r>
                          <a:rPr lang="en-US" sz="2000" b="0" i="1" smtClean="0">
                            <a:solidFill>
                              <a:srgbClr val="FF0000"/>
                            </a:solidFill>
                            <a:latin typeface="Cambria Math" panose="02040503050406030204" pitchFamily="18" charset="0"/>
                          </a:rPr>
                          <m:t>𝑡</m:t>
                        </m:r>
                      </m:sub>
                    </m:sSub>
                    <m:r>
                      <a:rPr lang="en-US" sz="2000" b="0" i="1" smtClean="0">
                        <a:solidFill>
                          <a:srgbClr val="FF0000"/>
                        </a:solidFill>
                        <a:latin typeface="Cambria Math" panose="02040503050406030204" pitchFamily="18" charset="0"/>
                      </a:rPr>
                      <m:t>=</m:t>
                    </m:r>
                    <m:r>
                      <a:rPr lang="en-US" sz="2000" b="0" i="1" smtClean="0">
                        <a:solidFill>
                          <a:srgbClr val="FF0000"/>
                        </a:solidFill>
                        <a:latin typeface="Cambria Math" panose="02040503050406030204" pitchFamily="18" charset="0"/>
                      </a:rPr>
                      <m:t>10</m:t>
                    </m:r>
                  </m:oMath>
                </a14:m>
                <a:endParaRPr lang="en-US" sz="2000" dirty="0">
                  <a:solidFill>
                    <a:srgbClr val="008000"/>
                  </a:solidFill>
                </a:endParaRPr>
              </a:p>
              <a:p>
                <a:r>
                  <a:rPr lang="fa-IR" sz="2400" dirty="0"/>
                  <a:t>فرض خطی:</a:t>
                </a:r>
                <a:endParaRPr lang="en-US" sz="2400" dirty="0"/>
              </a:p>
              <a:p>
                <a:pPr lvl="1"/>
                <a14:m>
                  <m:oMath xmlns:m="http://schemas.openxmlformats.org/officeDocument/2006/math">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𝑖</m:t>
                        </m:r>
                      </m:e>
                      <m:sub>
                        <m:r>
                          <a:rPr lang="en-US" sz="2100" b="0" i="1" smtClean="0">
                            <a:latin typeface="Cambria Math" panose="02040503050406030204" pitchFamily="18" charset="0"/>
                          </a:rPr>
                          <m:t>𝐷</m:t>
                        </m:r>
                      </m:sub>
                    </m:sSub>
                    <m:r>
                      <a:rPr lang="en-US" sz="2100" b="0" i="1" smtClean="0">
                        <a:latin typeface="Cambria Math" panose="02040503050406030204" pitchFamily="18" charset="0"/>
                      </a:rPr>
                      <m:t>=</m:t>
                    </m:r>
                    <m:r>
                      <a:rPr lang="en-US" sz="2100" b="0" i="1" smtClean="0">
                        <a:latin typeface="Cambria Math" panose="02040503050406030204" pitchFamily="18" charset="0"/>
                      </a:rPr>
                      <m:t>𝐾</m:t>
                    </m:r>
                    <m:d>
                      <m:dPr>
                        <m:ctrlPr>
                          <a:rPr lang="en-US" sz="2100" i="1">
                            <a:latin typeface="Cambria Math" panose="02040503050406030204" pitchFamily="18" charset="0"/>
                          </a:rPr>
                        </m:ctrlPr>
                      </m:dPr>
                      <m:e>
                        <m:sSub>
                          <m:sSubPr>
                            <m:ctrlPr>
                              <a:rPr lang="en-US" sz="2100" i="1">
                                <a:latin typeface="Cambria Math" panose="02040503050406030204" pitchFamily="18" charset="0"/>
                              </a:rPr>
                            </m:ctrlPr>
                          </m:sSubPr>
                          <m:e>
                            <m:r>
                              <a:rPr lang="en-US" sz="2100" b="0" i="1" smtClean="0">
                                <a:latin typeface="Cambria Math" panose="02040503050406030204" pitchFamily="18" charset="0"/>
                              </a:rPr>
                              <m:t>𝑣</m:t>
                            </m:r>
                          </m:e>
                          <m:sub>
                            <m:r>
                              <a:rPr lang="en-US" sz="2100" i="1">
                                <a:latin typeface="Cambria Math" panose="02040503050406030204" pitchFamily="18" charset="0"/>
                              </a:rPr>
                              <m:t>𝑔𝑠</m:t>
                            </m:r>
                          </m:sub>
                        </m:sSub>
                        <m:r>
                          <a:rPr lang="en-US" sz="2100" i="1">
                            <a:latin typeface="Cambria Math" panose="02040503050406030204" pitchFamily="18" charset="0"/>
                          </a:rPr>
                          <m:t>−</m:t>
                        </m:r>
                        <m:sSub>
                          <m:sSubPr>
                            <m:ctrlPr>
                              <a:rPr lang="en-US" sz="2100" i="1">
                                <a:latin typeface="Cambria Math" panose="02040503050406030204" pitchFamily="18" charset="0"/>
                              </a:rPr>
                            </m:ctrlPr>
                          </m:sSubPr>
                          <m:e>
                            <m:r>
                              <a:rPr lang="en-US" sz="2100" i="1">
                                <a:latin typeface="Cambria Math" panose="02040503050406030204" pitchFamily="18" charset="0"/>
                              </a:rPr>
                              <m:t>𝑉</m:t>
                            </m:r>
                          </m:e>
                          <m:sub>
                            <m:r>
                              <a:rPr lang="en-US" sz="2100" i="1">
                                <a:latin typeface="Cambria Math" panose="02040503050406030204" pitchFamily="18" charset="0"/>
                              </a:rPr>
                              <m:t>𝑡</m:t>
                            </m:r>
                          </m:sub>
                        </m:sSub>
                        <m:r>
                          <a:rPr lang="en-US" sz="2100" i="1">
                            <a:latin typeface="Cambria Math" panose="02040503050406030204" pitchFamily="18" charset="0"/>
                          </a:rPr>
                          <m:t>−</m:t>
                        </m:r>
                        <m:f>
                          <m:fPr>
                            <m:ctrlPr>
                              <a:rPr lang="en-US" sz="2100" i="1">
                                <a:latin typeface="Cambria Math" panose="02040503050406030204" pitchFamily="18" charset="0"/>
                              </a:rPr>
                            </m:ctrlPr>
                          </m:fPr>
                          <m:num>
                            <m:sSub>
                              <m:sSubPr>
                                <m:ctrlPr>
                                  <a:rPr lang="en-US" sz="2100" i="1">
                                    <a:latin typeface="Cambria Math" panose="02040503050406030204" pitchFamily="18" charset="0"/>
                                  </a:rPr>
                                </m:ctrlPr>
                              </m:sSubPr>
                              <m:e>
                                <m:r>
                                  <a:rPr lang="en-US" sz="2100" b="0" i="1" smtClean="0">
                                    <a:latin typeface="Cambria Math" panose="02040503050406030204" pitchFamily="18" charset="0"/>
                                  </a:rPr>
                                  <m:t>𝑣</m:t>
                                </m:r>
                              </m:e>
                              <m:sub>
                                <m:r>
                                  <a:rPr lang="en-US" sz="2100" i="1">
                                    <a:latin typeface="Cambria Math" panose="02040503050406030204" pitchFamily="18" charset="0"/>
                                  </a:rPr>
                                  <m:t>𝑑𝑠</m:t>
                                </m:r>
                              </m:sub>
                            </m:sSub>
                          </m:num>
                          <m:den>
                            <m:r>
                              <a:rPr lang="en-US" sz="2100" i="1">
                                <a:latin typeface="Cambria Math" panose="02040503050406030204" pitchFamily="18" charset="0"/>
                              </a:rPr>
                              <m:t>2</m:t>
                            </m:r>
                          </m:den>
                        </m:f>
                      </m:e>
                    </m:d>
                    <m:sSub>
                      <m:sSubPr>
                        <m:ctrlPr>
                          <a:rPr lang="en-US" sz="2100" i="1">
                            <a:latin typeface="Cambria Math" panose="02040503050406030204" pitchFamily="18" charset="0"/>
                          </a:rPr>
                        </m:ctrlPr>
                      </m:sSubPr>
                      <m:e>
                        <m:r>
                          <a:rPr lang="en-US" sz="2100" b="0" i="1" smtClean="0">
                            <a:latin typeface="Cambria Math" panose="02040503050406030204" pitchFamily="18" charset="0"/>
                          </a:rPr>
                          <m:t>𝑣</m:t>
                        </m:r>
                      </m:e>
                      <m:sub>
                        <m:r>
                          <a:rPr lang="en-US" sz="2100" i="1">
                            <a:latin typeface="Cambria Math" panose="02040503050406030204" pitchFamily="18" charset="0"/>
                          </a:rPr>
                          <m:t>𝑑𝑠</m:t>
                        </m:r>
                      </m:sub>
                    </m:sSub>
                    <m:r>
                      <a:rPr lang="en-US" sz="2100" b="0" i="1" smtClean="0">
                        <a:latin typeface="Cambria Math" panose="02040503050406030204" pitchFamily="18" charset="0"/>
                      </a:rPr>
                      <m:t>=</m:t>
                    </m:r>
                    <m:r>
                      <a:rPr lang="en-US" sz="2100" b="0" i="1" smtClean="0">
                        <a:latin typeface="Cambria Math" panose="02040503050406030204" pitchFamily="18" charset="0"/>
                      </a:rPr>
                      <m:t>0</m:t>
                    </m:r>
                    <m:r>
                      <a:rPr lang="en-US" sz="2100" b="0" i="1" smtClean="0">
                        <a:latin typeface="Cambria Math" panose="02040503050406030204" pitchFamily="18" charset="0"/>
                      </a:rPr>
                      <m:t>.</m:t>
                    </m:r>
                    <m:r>
                      <a:rPr lang="en-US" sz="2100" b="0" i="1" smtClean="0">
                        <a:latin typeface="Cambria Math" panose="02040503050406030204" pitchFamily="18" charset="0"/>
                      </a:rPr>
                      <m:t>25</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20</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𝑣</m:t>
                            </m:r>
                          </m:e>
                          <m:sub>
                            <m:r>
                              <a:rPr lang="en-US" sz="2100" b="0" i="1" smtClean="0">
                                <a:latin typeface="Cambria Math" panose="02040503050406030204" pitchFamily="18" charset="0"/>
                              </a:rPr>
                              <m:t>𝑑𝑠</m:t>
                            </m:r>
                          </m:sub>
                        </m:sSub>
                        <m:r>
                          <a:rPr lang="en-US" sz="2100" b="0" i="1" smtClean="0">
                            <a:latin typeface="Cambria Math" panose="02040503050406030204" pitchFamily="18" charset="0"/>
                          </a:rPr>
                          <m:t>−</m:t>
                        </m:r>
                        <m:sSubSup>
                          <m:sSubSupPr>
                            <m:ctrlPr>
                              <a:rPr lang="en-US" sz="2100" b="0" i="1" smtClean="0">
                                <a:latin typeface="Cambria Math" panose="02040503050406030204" pitchFamily="18" charset="0"/>
                              </a:rPr>
                            </m:ctrlPr>
                          </m:sSubSupPr>
                          <m:e>
                            <m:r>
                              <a:rPr lang="en-US" sz="2100" b="0" i="1" smtClean="0">
                                <a:latin typeface="Cambria Math" panose="02040503050406030204" pitchFamily="18" charset="0"/>
                              </a:rPr>
                              <m:t>𝑣</m:t>
                            </m:r>
                          </m:e>
                          <m:sub>
                            <m:r>
                              <a:rPr lang="en-US" sz="2100" b="0" i="1" smtClean="0">
                                <a:latin typeface="Cambria Math" panose="02040503050406030204" pitchFamily="18" charset="0"/>
                              </a:rPr>
                              <m:t>𝑑𝑠</m:t>
                            </m:r>
                          </m:sub>
                          <m:sup>
                            <m:r>
                              <a:rPr lang="en-US" sz="2100" b="0" i="1" smtClean="0">
                                <a:latin typeface="Cambria Math" panose="02040503050406030204" pitchFamily="18" charset="0"/>
                              </a:rPr>
                              <m:t>2</m:t>
                            </m:r>
                          </m:sup>
                        </m:sSubSup>
                      </m:e>
                    </m:d>
                    <m:groupChr>
                      <m:groupChrPr>
                        <m:chr m:val="→"/>
                        <m:vertJc m:val="bot"/>
                        <m:ctrlPr>
                          <a:rPr lang="en-US" sz="2100" b="0" i="1" smtClean="0">
                            <a:latin typeface="Cambria Math" panose="02040503050406030204" pitchFamily="18" charset="0"/>
                          </a:rPr>
                        </m:ctrlPr>
                      </m:groupChrPr>
                      <m:e>
                        <m:r>
                          <m:rPr>
                            <m:brk m:alnAt="2"/>
                          </m:rPr>
                          <a:rPr lang="en-US" sz="2100" b="0" i="1" smtClean="0">
                            <a:latin typeface="Cambria Math" panose="02040503050406030204" pitchFamily="18" charset="0"/>
                          </a:rPr>
                          <m:t>𝑢</m:t>
                        </m:r>
                        <m:r>
                          <a:rPr lang="en-US" sz="2100" b="0" i="1" smtClean="0">
                            <a:latin typeface="Cambria Math" panose="02040503050406030204" pitchFamily="18" charset="0"/>
                          </a:rPr>
                          <m:t>𝑠𝑒</m:t>
                        </m:r>
                        <m:r>
                          <a:rPr lang="en-US" sz="2100" b="0" i="1" smtClean="0">
                            <a:latin typeface="Cambria Math" panose="02040503050406030204" pitchFamily="18" charset="0"/>
                          </a:rPr>
                          <m:t> </m:t>
                        </m:r>
                        <m:r>
                          <a:rPr lang="en-US" sz="2100" b="0" i="1" smtClean="0">
                            <a:latin typeface="Cambria Math" panose="02040503050406030204" pitchFamily="18" charset="0"/>
                          </a:rPr>
                          <m:t>𝐷𝑆</m:t>
                        </m:r>
                        <m:r>
                          <a:rPr lang="en-US" sz="2100" b="0" i="1" smtClean="0">
                            <a:latin typeface="Cambria Math" panose="02040503050406030204" pitchFamily="18" charset="0"/>
                          </a:rPr>
                          <m:t> </m:t>
                        </m:r>
                        <m:r>
                          <a:rPr lang="en-US" sz="2100" b="0" i="1" smtClean="0">
                            <a:latin typeface="Cambria Math" panose="02040503050406030204" pitchFamily="18" charset="0"/>
                          </a:rPr>
                          <m:t>𝐾𝑉𝐿</m:t>
                        </m:r>
                      </m:e>
                    </m:groupChr>
                  </m:oMath>
                </a14:m>
                <a:endParaRPr lang="en-US" sz="2100" b="0" dirty="0"/>
              </a:p>
              <a:p>
                <a:pPr lvl="1"/>
                <a14:m>
                  <m:oMath xmlns:m="http://schemas.openxmlformats.org/officeDocument/2006/math">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𝑣</m:t>
                        </m:r>
                      </m:e>
                      <m:sub>
                        <m:r>
                          <a:rPr lang="en-US" sz="2100" b="0" i="1" smtClean="0">
                            <a:latin typeface="Cambria Math" panose="02040503050406030204" pitchFamily="18" charset="0"/>
                          </a:rPr>
                          <m:t>𝑑𝑠</m:t>
                        </m:r>
                      </m:sub>
                    </m:sSub>
                    <m:r>
                      <a:rPr lang="en-US" sz="2100" b="0" i="1" smtClean="0">
                        <a:latin typeface="Cambria Math" panose="02040503050406030204" pitchFamily="18" charset="0"/>
                      </a:rPr>
                      <m:t>=</m:t>
                    </m:r>
                    <m:r>
                      <a:rPr lang="en-US" sz="2100" b="0" i="1" smtClean="0">
                        <a:solidFill>
                          <a:srgbClr val="FF0000"/>
                        </a:solidFill>
                        <a:latin typeface="Cambria Math" panose="02040503050406030204" pitchFamily="18" charset="0"/>
                      </a:rPr>
                      <m:t>21</m:t>
                    </m:r>
                    <m:r>
                      <a:rPr lang="en-US" sz="2100" b="0" i="1" smtClean="0">
                        <a:solidFill>
                          <a:srgbClr val="FF0000"/>
                        </a:solidFill>
                        <a:latin typeface="Cambria Math" panose="02040503050406030204" pitchFamily="18" charset="0"/>
                      </a:rPr>
                      <m:t>.</m:t>
                    </m:r>
                    <m:r>
                      <a:rPr lang="en-US" sz="2100" b="0" i="1" smtClean="0">
                        <a:solidFill>
                          <a:srgbClr val="FF0000"/>
                        </a:solidFill>
                        <a:latin typeface="Cambria Math" panose="02040503050406030204" pitchFamily="18" charset="0"/>
                      </a:rPr>
                      <m:t>8</m:t>
                    </m:r>
                    <m:r>
                      <a:rPr lang="en-US" sz="2100" b="0" i="1" smtClean="0">
                        <a:latin typeface="Cambria Math" panose="02040503050406030204" pitchFamily="18" charset="0"/>
                      </a:rPr>
                      <m:t> </m:t>
                    </m:r>
                    <m:r>
                      <a:rPr lang="en-US" sz="2100" b="0" i="1" smtClean="0">
                        <a:solidFill>
                          <a:srgbClr val="FF0000"/>
                        </a:solidFill>
                        <a:latin typeface="Cambria Math" panose="02040503050406030204" pitchFamily="18" charset="0"/>
                        <a:ea typeface="Cambria Math" panose="02040503050406030204" pitchFamily="18" charset="0"/>
                      </a:rPr>
                      <m:t>×</m:t>
                    </m:r>
                    <m:r>
                      <a:rPr lang="en-US" sz="2100" b="0" i="1" smtClean="0">
                        <a:latin typeface="Cambria Math" panose="02040503050406030204" pitchFamily="18" charset="0"/>
                      </a:rPr>
                      <m:t>           </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𝑣</m:t>
                        </m:r>
                      </m:e>
                      <m:sub>
                        <m:r>
                          <a:rPr lang="en-US" sz="2100" b="0" i="1" smtClean="0">
                            <a:latin typeface="Cambria Math" panose="02040503050406030204" pitchFamily="18" charset="0"/>
                          </a:rPr>
                          <m:t>𝑑𝑠</m:t>
                        </m:r>
                      </m:sub>
                    </m:sSub>
                    <m:r>
                      <a:rPr lang="en-US" sz="2100" b="0" i="1" smtClean="0">
                        <a:latin typeface="Cambria Math" panose="02040503050406030204" pitchFamily="18" charset="0"/>
                      </a:rPr>
                      <m:t>=</m:t>
                    </m:r>
                    <m:r>
                      <a:rPr lang="en-US" sz="2100" b="0" i="1" smtClean="0">
                        <a:solidFill>
                          <a:srgbClr val="008000"/>
                        </a:solidFill>
                        <a:latin typeface="Cambria Math" panose="02040503050406030204" pitchFamily="18" charset="0"/>
                      </a:rPr>
                      <m:t>2</m:t>
                    </m:r>
                    <m:r>
                      <a:rPr lang="en-US" sz="2100" b="0" i="1" smtClean="0">
                        <a:solidFill>
                          <a:srgbClr val="008000"/>
                        </a:solidFill>
                        <a:latin typeface="Cambria Math" panose="02040503050406030204" pitchFamily="18" charset="0"/>
                      </a:rPr>
                      <m:t>.</m:t>
                    </m:r>
                    <m:r>
                      <a:rPr lang="en-US" sz="2100" b="0" i="1" smtClean="0">
                        <a:solidFill>
                          <a:srgbClr val="008000"/>
                        </a:solidFill>
                        <a:latin typeface="Cambria Math" panose="02040503050406030204" pitchFamily="18" charset="0"/>
                      </a:rPr>
                      <m:t>2</m:t>
                    </m:r>
                    <m:r>
                      <a:rPr lang="en-US" sz="2100" b="0" i="1" smtClean="0">
                        <a:solidFill>
                          <a:srgbClr val="008000"/>
                        </a:solidFill>
                        <a:latin typeface="Cambria Math" panose="02040503050406030204" pitchFamily="18" charset="0"/>
                      </a:rPr>
                      <m:t>&lt;</m:t>
                    </m:r>
                    <m:r>
                      <a:rPr lang="en-US" sz="2100" b="0" i="1" smtClean="0">
                        <a:solidFill>
                          <a:srgbClr val="008000"/>
                        </a:solidFill>
                        <a:latin typeface="Cambria Math" panose="02040503050406030204" pitchFamily="18" charset="0"/>
                      </a:rPr>
                      <m:t>10</m:t>
                    </m:r>
                  </m:oMath>
                </a14:m>
                <a:r>
                  <a:rPr lang="en-US" sz="2100" dirty="0"/>
                  <a:t> </a:t>
                </a:r>
                <a:r>
                  <a:rPr lang="en-US" sz="2100" dirty="0">
                    <a:sym typeface="Wingdings" panose="05000000000000000000" pitchFamily="2" charset="2"/>
                  </a:rPr>
                  <a:t></a:t>
                </a:r>
                <a:endParaRPr lang="en-US" sz="2100"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xfrm>
                <a:off x="612648" y="1143000"/>
                <a:ext cx="8153400" cy="4876800"/>
              </a:xfrm>
              <a:blipFill rotWithShape="0">
                <a:blip r:embed="rId3"/>
                <a:stretch>
                  <a:fillRect r="-150" b="-7250"/>
                </a:stretch>
              </a:blipFill>
            </p:spPr>
            <p:txBody>
              <a:bodyPr/>
              <a:lstStyle/>
              <a:p>
                <a:r>
                  <a:rPr lang="fa-IR">
                    <a:noFill/>
                  </a:rPr>
                  <a:t> </a:t>
                </a:r>
              </a:p>
            </p:txBody>
          </p:sp>
        </mc:Fallback>
      </mc:AlternateContent>
      <p:sp>
        <p:nvSpPr>
          <p:cNvPr id="2" name="Title 1"/>
          <p:cNvSpPr>
            <a:spLocks noGrp="1"/>
          </p:cNvSpPr>
          <p:nvPr>
            <p:ph type="title"/>
          </p:nvPr>
        </p:nvSpPr>
        <p:spPr/>
        <p:txBody>
          <a:bodyPr/>
          <a:lstStyle/>
          <a:p>
            <a:r>
              <a:rPr lang="fa-IR" dirty="0"/>
              <a:t>مثال 3</a:t>
            </a:r>
            <a:endParaRPr lang="en-US" dirty="0"/>
          </a:p>
        </p:txBody>
      </p:sp>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12. ترانزیستور (ادامه)</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32</a:t>
            </a:fld>
            <a:endParaRPr lang="en-US" altLang="en-US" dirty="0"/>
          </a:p>
        </p:txBody>
      </p:sp>
    </p:spTree>
    <p:extLst>
      <p:ext uri="{BB962C8B-B14F-4D97-AF65-F5344CB8AC3E}">
        <p14:creationId xmlns:p14="http://schemas.microsoft.com/office/powerpoint/2010/main" val="1672104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lstStyle/>
          <a:p>
            <a:endParaRPr lang="en-US" sz="2400" b="0" i="1" dirty="0">
              <a:latin typeface="Cambria Math" panose="02040503050406030204" pitchFamily="18" charset="0"/>
            </a:endParaRPr>
          </a:p>
          <a:p>
            <a:endParaRPr lang="en-US" sz="2400" i="1" dirty="0">
              <a:latin typeface="Cambria Math" panose="02040503050406030204" pitchFamily="18" charset="0"/>
            </a:endParaRPr>
          </a:p>
          <a:p>
            <a:endParaRPr lang="en-US" sz="2400" b="0" i="1" dirty="0">
              <a:latin typeface="Cambria Math" panose="02040503050406030204" pitchFamily="18" charset="0"/>
            </a:endParaRPr>
          </a:p>
          <a:p>
            <a:endParaRPr lang="en-US" sz="2400" i="1" dirty="0">
              <a:latin typeface="Cambria Math" panose="02040503050406030204" pitchFamily="18" charset="0"/>
            </a:endParaRPr>
          </a:p>
          <a:p>
            <a:endParaRPr lang="en-US" sz="2400" b="0" i="1" dirty="0">
              <a:latin typeface="Cambria Math" panose="02040503050406030204" pitchFamily="18" charset="0"/>
            </a:endParaRPr>
          </a:p>
          <a:p>
            <a:endParaRPr lang="en-US" sz="2400" i="1" dirty="0">
              <a:latin typeface="Cambria Math" panose="02040503050406030204" pitchFamily="18" charset="0"/>
            </a:endParaRPr>
          </a:p>
          <a:p>
            <a:endParaRPr lang="en-US" sz="2400" b="0" i="1" dirty="0">
              <a:latin typeface="Cambria Math" panose="02040503050406030204" pitchFamily="18" charset="0"/>
            </a:endParaRPr>
          </a:p>
          <a:p>
            <a:endParaRPr lang="en-US" sz="2400" dirty="0"/>
          </a:p>
          <a:p>
            <a:endParaRPr lang="en-US" sz="2400" dirty="0"/>
          </a:p>
          <a:p>
            <a:pPr marL="0" indent="0">
              <a:buNone/>
            </a:pPr>
            <a:r>
              <a:rPr lang="en-US" sz="2400" dirty="0"/>
              <a:t>				</a:t>
            </a:r>
          </a:p>
        </p:txBody>
      </p:sp>
      <p:pic>
        <p:nvPicPr>
          <p:cNvPr id="9" name="Picture 8"/>
          <p:cNvPicPr>
            <a:picLocks noChangeAspect="1"/>
          </p:cNvPicPr>
          <p:nvPr/>
        </p:nvPicPr>
        <p:blipFill>
          <a:blip r:embed="rId3"/>
          <a:stretch>
            <a:fillRect/>
          </a:stretch>
        </p:blipFill>
        <p:spPr>
          <a:xfrm>
            <a:off x="1529139" y="4125953"/>
            <a:ext cx="2907212" cy="2085892"/>
          </a:xfrm>
          <a:prstGeom prst="rect">
            <a:avLst/>
          </a:prstGeom>
        </p:spPr>
      </p:pic>
      <p:pic>
        <p:nvPicPr>
          <p:cNvPr id="8" name="Picture 7"/>
          <p:cNvPicPr>
            <a:picLocks noChangeAspect="1"/>
          </p:cNvPicPr>
          <p:nvPr/>
        </p:nvPicPr>
        <p:blipFill>
          <a:blip r:embed="rId4">
            <a:biLevel thresh="75000"/>
          </a:blip>
          <a:stretch>
            <a:fillRect/>
          </a:stretch>
        </p:blipFill>
        <p:spPr>
          <a:xfrm>
            <a:off x="762000" y="1219200"/>
            <a:ext cx="2286000" cy="2913845"/>
          </a:xfrm>
          <a:prstGeom prst="rect">
            <a:avLst/>
          </a:prstGeom>
        </p:spPr>
      </p:pic>
      <p:sp>
        <p:nvSpPr>
          <p:cNvPr id="2" name="Title 1"/>
          <p:cNvSpPr>
            <a:spLocks noGrp="1"/>
          </p:cNvSpPr>
          <p:nvPr>
            <p:ph type="title"/>
          </p:nvPr>
        </p:nvSpPr>
        <p:spPr/>
        <p:txBody>
          <a:bodyPr/>
          <a:lstStyle/>
          <a:p>
            <a:r>
              <a:rPr lang="fa-IR" altLang="en-US" dirty="0"/>
              <a:t>مدل سیگنال کوچک </a:t>
            </a:r>
            <a:r>
              <a:rPr lang="en-US" altLang="en-US" dirty="0"/>
              <a:t>MOSFET</a:t>
            </a:r>
            <a:endParaRPr lang="en-US" dirty="0"/>
          </a:p>
        </p:txBody>
      </p:sp>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12. ترانزیستور (ادامه)</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33</a:t>
            </a:fld>
            <a:endParaRPr lang="en-US" altLang="en-US" dirty="0"/>
          </a:p>
        </p:txBody>
      </p:sp>
      <mc:AlternateContent xmlns:mc="http://schemas.openxmlformats.org/markup-compatibility/2006" xmlns:a14="http://schemas.microsoft.com/office/drawing/2010/main">
        <mc:Choice Requires="a14">
          <p:sp>
            <p:nvSpPr>
              <p:cNvPr id="10" name="TextBox 9"/>
              <p:cNvSpPr txBox="1"/>
              <p:nvPr/>
            </p:nvSpPr>
            <p:spPr>
              <a:xfrm>
                <a:off x="4632815" y="5219470"/>
                <a:ext cx="3804631" cy="943143"/>
              </a:xfrm>
              <a:prstGeom prst="rect">
                <a:avLst/>
              </a:prstGeom>
              <a:noFill/>
              <a:ln>
                <a:solidFill>
                  <a:schemeClr val="tx1"/>
                </a:solidFill>
              </a:ln>
            </p:spPr>
            <p:txBody>
              <a:bodyPr wrap="none" rtlCol="0">
                <a:spAutoFit/>
              </a:bodyPr>
              <a:lstStyle/>
              <a:p>
                <a:pPr algn="r" rtl="1"/>
                <a:r>
                  <a:rPr lang="fa-IR" dirty="0">
                    <a:ln>
                      <a:noFill/>
                    </a:ln>
                    <a:cs typeface="B Nazanin" panose="00000400000000000000" pitchFamily="2" charset="-78"/>
                  </a:rPr>
                  <a:t>در اشباع:</a:t>
                </a:r>
                <a:endParaRPr lang="en-US" dirty="0">
                  <a:ln>
                    <a:noFill/>
                  </a:ln>
                  <a:cs typeface="B Nazanin" panose="00000400000000000000" pitchFamily="2" charset="-78"/>
                </a:endParaRPr>
              </a:p>
              <a:p>
                <a:pPr/>
                <a14:m>
                  <m:oMathPara xmlns:m="http://schemas.openxmlformats.org/officeDocument/2006/math">
                    <m:oMathParaPr>
                      <m:jc m:val="centerGroup"/>
                    </m:oMathParaPr>
                    <m:oMath xmlns:m="http://schemas.openxmlformats.org/officeDocument/2006/math">
                      <m:sSub>
                        <m:sSubPr>
                          <m:ctrlPr>
                            <a:rPr lang="en-US" i="1" smtClean="0">
                              <a:ln>
                                <a:noFill/>
                              </a:ln>
                              <a:latin typeface="Cambria Math" panose="02040503050406030204" pitchFamily="18" charset="0"/>
                            </a:rPr>
                          </m:ctrlPr>
                        </m:sSubPr>
                        <m:e>
                          <m:r>
                            <a:rPr lang="en-US" i="1">
                              <a:ln>
                                <a:noFill/>
                              </a:ln>
                              <a:latin typeface="Cambria Math" panose="02040503050406030204" pitchFamily="18" charset="0"/>
                            </a:rPr>
                            <m:t>𝑔</m:t>
                          </m:r>
                        </m:e>
                        <m:sub>
                          <m:r>
                            <a:rPr lang="en-US" i="1">
                              <a:ln>
                                <a:noFill/>
                              </a:ln>
                              <a:latin typeface="Cambria Math" panose="02040503050406030204" pitchFamily="18" charset="0"/>
                            </a:rPr>
                            <m:t>𝑚</m:t>
                          </m:r>
                        </m:sub>
                      </m:sSub>
                      <m:r>
                        <a:rPr lang="en-US" i="1">
                          <a:ln>
                            <a:noFill/>
                          </a:ln>
                          <a:latin typeface="Cambria Math" panose="02040503050406030204" pitchFamily="18" charset="0"/>
                        </a:rPr>
                        <m:t>=</m:t>
                      </m:r>
                      <m:sSub>
                        <m:sSubPr>
                          <m:ctrlPr>
                            <a:rPr lang="en-US" i="1">
                              <a:ln>
                                <a:noFill/>
                              </a:ln>
                              <a:latin typeface="Cambria Math" panose="02040503050406030204" pitchFamily="18" charset="0"/>
                            </a:rPr>
                          </m:ctrlPr>
                        </m:sSubPr>
                        <m:e>
                          <m:f>
                            <m:fPr>
                              <m:ctrlPr>
                                <a:rPr lang="en-US" i="1">
                                  <a:ln>
                                    <a:noFill/>
                                  </a:ln>
                                  <a:latin typeface="Cambria Math" panose="02040503050406030204" pitchFamily="18" charset="0"/>
                                </a:rPr>
                              </m:ctrlPr>
                            </m:fPr>
                            <m:num>
                              <m:r>
                                <a:rPr lang="en-US" i="1">
                                  <a:ln>
                                    <a:noFill/>
                                  </a:ln>
                                  <a:latin typeface="Cambria Math" panose="02040503050406030204" pitchFamily="18" charset="0"/>
                                </a:rPr>
                                <m:t>𝜕</m:t>
                              </m:r>
                              <m:sSub>
                                <m:sSubPr>
                                  <m:ctrlPr>
                                    <a:rPr lang="en-US" i="1">
                                      <a:ln>
                                        <a:noFill/>
                                      </a:ln>
                                      <a:latin typeface="Cambria Math" panose="02040503050406030204" pitchFamily="18" charset="0"/>
                                    </a:rPr>
                                  </m:ctrlPr>
                                </m:sSubPr>
                                <m:e>
                                  <m:r>
                                    <a:rPr lang="en-US" i="1">
                                      <a:ln>
                                        <a:noFill/>
                                      </a:ln>
                                      <a:latin typeface="Cambria Math" panose="02040503050406030204" pitchFamily="18" charset="0"/>
                                    </a:rPr>
                                    <m:t>𝑖</m:t>
                                  </m:r>
                                </m:e>
                                <m:sub>
                                  <m:r>
                                    <a:rPr lang="en-US" i="1">
                                      <a:ln>
                                        <a:noFill/>
                                      </a:ln>
                                      <a:latin typeface="Cambria Math" panose="02040503050406030204" pitchFamily="18" charset="0"/>
                                    </a:rPr>
                                    <m:t>𝐷</m:t>
                                  </m:r>
                                </m:sub>
                              </m:sSub>
                            </m:num>
                            <m:den>
                              <m:r>
                                <a:rPr lang="en-US" i="1">
                                  <a:ln>
                                    <a:noFill/>
                                  </a:ln>
                                  <a:latin typeface="Cambria Math" panose="02040503050406030204" pitchFamily="18" charset="0"/>
                                </a:rPr>
                                <m:t>𝜕</m:t>
                              </m:r>
                              <m:sSub>
                                <m:sSubPr>
                                  <m:ctrlPr>
                                    <a:rPr lang="en-US" i="1">
                                      <a:ln>
                                        <a:noFill/>
                                      </a:ln>
                                      <a:latin typeface="Cambria Math" panose="02040503050406030204" pitchFamily="18" charset="0"/>
                                    </a:rPr>
                                  </m:ctrlPr>
                                </m:sSubPr>
                                <m:e>
                                  <m:r>
                                    <a:rPr lang="en-US" i="1">
                                      <a:ln>
                                        <a:noFill/>
                                      </a:ln>
                                      <a:latin typeface="Cambria Math" panose="02040503050406030204" pitchFamily="18" charset="0"/>
                                    </a:rPr>
                                    <m:t>𝑣</m:t>
                                  </m:r>
                                </m:e>
                                <m:sub>
                                  <m:r>
                                    <a:rPr lang="en-US" i="1">
                                      <a:ln>
                                        <a:noFill/>
                                      </a:ln>
                                      <a:latin typeface="Cambria Math" panose="02040503050406030204" pitchFamily="18" charset="0"/>
                                    </a:rPr>
                                    <m:t>𝐺𝑆</m:t>
                                  </m:r>
                                </m:sub>
                              </m:sSub>
                            </m:den>
                          </m:f>
                          <m:r>
                            <a:rPr lang="en-US" i="1">
                              <a:ln>
                                <a:noFill/>
                              </a:ln>
                              <a:latin typeface="Cambria Math" panose="02040503050406030204" pitchFamily="18" charset="0"/>
                            </a:rPr>
                            <m:t>|</m:t>
                          </m:r>
                        </m:e>
                        <m:sub>
                          <m:sSub>
                            <m:sSubPr>
                              <m:ctrlPr>
                                <a:rPr lang="en-US" i="1">
                                  <a:ln>
                                    <a:noFill/>
                                  </a:ln>
                                  <a:latin typeface="Cambria Math" panose="02040503050406030204" pitchFamily="18" charset="0"/>
                                </a:rPr>
                              </m:ctrlPr>
                            </m:sSubPr>
                            <m:e>
                              <m:r>
                                <a:rPr lang="en-US" i="1">
                                  <a:ln>
                                    <a:noFill/>
                                  </a:ln>
                                  <a:latin typeface="Cambria Math" panose="02040503050406030204" pitchFamily="18" charset="0"/>
                                </a:rPr>
                                <m:t>𝑣</m:t>
                              </m:r>
                            </m:e>
                            <m:sub>
                              <m:r>
                                <a:rPr lang="en-US" i="1">
                                  <a:ln>
                                    <a:noFill/>
                                  </a:ln>
                                  <a:latin typeface="Cambria Math" panose="02040503050406030204" pitchFamily="18" charset="0"/>
                                </a:rPr>
                                <m:t>𝐺𝑆</m:t>
                              </m:r>
                            </m:sub>
                          </m:sSub>
                          <m:r>
                            <a:rPr lang="en-US" i="1">
                              <a:ln>
                                <a:noFill/>
                              </a:ln>
                              <a:latin typeface="Cambria Math" panose="02040503050406030204" pitchFamily="18" charset="0"/>
                            </a:rPr>
                            <m:t>=</m:t>
                          </m:r>
                          <m:sSub>
                            <m:sSubPr>
                              <m:ctrlPr>
                                <a:rPr lang="en-US" i="1">
                                  <a:ln>
                                    <a:noFill/>
                                  </a:ln>
                                  <a:latin typeface="Cambria Math" panose="02040503050406030204" pitchFamily="18" charset="0"/>
                                </a:rPr>
                              </m:ctrlPr>
                            </m:sSubPr>
                            <m:e>
                              <m:r>
                                <a:rPr lang="en-US" i="1">
                                  <a:ln>
                                    <a:noFill/>
                                  </a:ln>
                                  <a:latin typeface="Cambria Math" panose="02040503050406030204" pitchFamily="18" charset="0"/>
                                </a:rPr>
                                <m:t>𝑉</m:t>
                              </m:r>
                            </m:e>
                            <m:sub>
                              <m:r>
                                <a:rPr lang="en-US" i="1">
                                  <a:ln>
                                    <a:noFill/>
                                  </a:ln>
                                  <a:latin typeface="Cambria Math" panose="02040503050406030204" pitchFamily="18" charset="0"/>
                                </a:rPr>
                                <m:t>𝐺𝑆</m:t>
                              </m:r>
                            </m:sub>
                          </m:sSub>
                        </m:sub>
                      </m:sSub>
                      <m:r>
                        <a:rPr lang="en-US" b="0" i="1" smtClean="0">
                          <a:ln>
                            <a:noFill/>
                          </a:ln>
                          <a:latin typeface="Cambria Math" panose="02040503050406030204" pitchFamily="18" charset="0"/>
                        </a:rPr>
                        <m:t>=</m:t>
                      </m:r>
                      <m:r>
                        <a:rPr lang="en-US" b="0" i="1" smtClean="0">
                          <a:ln>
                            <a:noFill/>
                          </a:ln>
                          <a:latin typeface="Cambria Math" panose="02040503050406030204" pitchFamily="18" charset="0"/>
                        </a:rPr>
                        <m:t>𝐾</m:t>
                      </m:r>
                      <m:r>
                        <a:rPr lang="en-US" b="0" i="1" smtClean="0">
                          <a:ln>
                            <a:noFill/>
                          </a:ln>
                          <a:latin typeface="Cambria Math" panose="02040503050406030204" pitchFamily="18" charset="0"/>
                        </a:rPr>
                        <m:t>(</m:t>
                      </m:r>
                      <m:sSub>
                        <m:sSubPr>
                          <m:ctrlPr>
                            <a:rPr lang="en-US" b="0" i="1" smtClean="0">
                              <a:ln>
                                <a:noFill/>
                              </a:ln>
                              <a:latin typeface="Cambria Math" panose="02040503050406030204" pitchFamily="18" charset="0"/>
                            </a:rPr>
                          </m:ctrlPr>
                        </m:sSubPr>
                        <m:e>
                          <m:r>
                            <a:rPr lang="en-US" b="0" i="1" smtClean="0">
                              <a:ln>
                                <a:noFill/>
                              </a:ln>
                              <a:latin typeface="Cambria Math" panose="02040503050406030204" pitchFamily="18" charset="0"/>
                            </a:rPr>
                            <m:t>𝑉</m:t>
                          </m:r>
                        </m:e>
                        <m:sub>
                          <m:r>
                            <a:rPr lang="en-US" b="0" i="1" smtClean="0">
                              <a:ln>
                                <a:noFill/>
                              </a:ln>
                              <a:latin typeface="Cambria Math" panose="02040503050406030204" pitchFamily="18" charset="0"/>
                            </a:rPr>
                            <m:t>𝐺𝑆</m:t>
                          </m:r>
                        </m:sub>
                      </m:sSub>
                      <m:r>
                        <a:rPr lang="en-US" b="0" i="1" smtClean="0">
                          <a:ln>
                            <a:noFill/>
                          </a:ln>
                          <a:latin typeface="Cambria Math" panose="02040503050406030204" pitchFamily="18" charset="0"/>
                        </a:rPr>
                        <m:t>−</m:t>
                      </m:r>
                      <m:sSub>
                        <m:sSubPr>
                          <m:ctrlPr>
                            <a:rPr lang="en-US" b="0" i="1" smtClean="0">
                              <a:ln>
                                <a:noFill/>
                              </a:ln>
                              <a:latin typeface="Cambria Math" panose="02040503050406030204" pitchFamily="18" charset="0"/>
                            </a:rPr>
                          </m:ctrlPr>
                        </m:sSubPr>
                        <m:e>
                          <m:r>
                            <a:rPr lang="en-US" b="0" i="1" smtClean="0">
                              <a:ln>
                                <a:noFill/>
                              </a:ln>
                              <a:latin typeface="Cambria Math" panose="02040503050406030204" pitchFamily="18" charset="0"/>
                            </a:rPr>
                            <m:t>𝑉</m:t>
                          </m:r>
                        </m:e>
                        <m:sub>
                          <m:r>
                            <a:rPr lang="en-US" b="0" i="1" smtClean="0">
                              <a:ln>
                                <a:noFill/>
                              </a:ln>
                              <a:latin typeface="Cambria Math" panose="02040503050406030204" pitchFamily="18" charset="0"/>
                            </a:rPr>
                            <m:t>𝑡</m:t>
                          </m:r>
                        </m:sub>
                      </m:sSub>
                      <m:r>
                        <a:rPr lang="en-US" b="0" i="1" smtClean="0">
                          <a:ln>
                            <a:noFill/>
                          </a:ln>
                          <a:latin typeface="Cambria Math" panose="02040503050406030204" pitchFamily="18" charset="0"/>
                        </a:rPr>
                        <m:t>)</m:t>
                      </m:r>
                    </m:oMath>
                  </m:oMathPara>
                </a14:m>
                <a:endParaRPr lang="en-US" dirty="0">
                  <a:ln>
                    <a:noFill/>
                  </a:ln>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4632815" y="5219470"/>
                <a:ext cx="3804631" cy="943143"/>
              </a:xfrm>
              <a:prstGeom prst="rect">
                <a:avLst/>
              </a:prstGeom>
              <a:blipFill rotWithShape="0">
                <a:blip r:embed="rId5"/>
                <a:stretch>
                  <a:fillRect t="-637" r="-1118"/>
                </a:stretch>
              </a:blipFill>
              <a:ln>
                <a:solidFill>
                  <a:schemeClr val="tx1"/>
                </a:solidFill>
              </a:ln>
            </p:spPr>
            <p:txBody>
              <a:bodyPr/>
              <a:lstStyle/>
              <a:p>
                <a:r>
                  <a:rPr lang="fa-IR">
                    <a:noFill/>
                  </a:rPr>
                  <a:t> </a:t>
                </a:r>
              </a:p>
            </p:txBody>
          </p:sp>
        </mc:Fallback>
      </mc:AlternateContent>
      <p:sp>
        <p:nvSpPr>
          <p:cNvPr id="11" name="TextBox 10"/>
          <p:cNvSpPr txBox="1"/>
          <p:nvPr/>
        </p:nvSpPr>
        <p:spPr>
          <a:xfrm>
            <a:off x="685844" y="4765189"/>
            <a:ext cx="1260281" cy="646331"/>
          </a:xfrm>
          <a:prstGeom prst="rect">
            <a:avLst/>
          </a:prstGeom>
          <a:noFill/>
        </p:spPr>
        <p:txBody>
          <a:bodyPr wrap="none" rtlCol="0">
            <a:spAutoFit/>
          </a:bodyPr>
          <a:lstStyle/>
          <a:p>
            <a:pPr algn="ctr"/>
            <a:r>
              <a:rPr lang="fa-IR" dirty="0">
                <a:cs typeface="B Nazanin" panose="00000400000000000000" pitchFamily="2" charset="-78"/>
              </a:rPr>
              <a:t>مدل </a:t>
            </a:r>
          </a:p>
          <a:p>
            <a:pPr algn="ctr"/>
            <a:r>
              <a:rPr lang="fa-IR" dirty="0">
                <a:cs typeface="B Nazanin" panose="00000400000000000000" pitchFamily="2" charset="-78"/>
              </a:rPr>
              <a:t>سیگنال کوچک</a:t>
            </a:r>
            <a:endParaRPr lang="en-US" dirty="0">
              <a:cs typeface="B Nazanin" panose="00000400000000000000" pitchFamily="2" charset="-78"/>
            </a:endParaRPr>
          </a:p>
        </p:txBody>
      </p:sp>
      <p:pic>
        <p:nvPicPr>
          <p:cNvPr id="12" name="Picture 11"/>
          <p:cNvPicPr>
            <a:picLocks noChangeAspect="1"/>
          </p:cNvPicPr>
          <p:nvPr/>
        </p:nvPicPr>
        <p:blipFill>
          <a:blip r:embed="rId6"/>
          <a:stretch>
            <a:fillRect/>
          </a:stretch>
        </p:blipFill>
        <p:spPr>
          <a:xfrm>
            <a:off x="4530096" y="1481366"/>
            <a:ext cx="4267200" cy="3479656"/>
          </a:xfrm>
          <a:prstGeom prst="rect">
            <a:avLst/>
          </a:prstGeom>
        </p:spPr>
      </p:pic>
    </p:spTree>
    <p:extLst>
      <p:ext uri="{BB962C8B-B14F-4D97-AF65-F5344CB8AC3E}">
        <p14:creationId xmlns:p14="http://schemas.microsoft.com/office/powerpoint/2010/main" val="21283834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biLevel thresh="75000"/>
          </a:blip>
          <a:stretch>
            <a:fillRect/>
          </a:stretch>
        </p:blipFill>
        <p:spPr>
          <a:xfrm>
            <a:off x="685800" y="1230086"/>
            <a:ext cx="2412074" cy="3074545"/>
          </a:xfrm>
          <a:prstGeom prst="rect">
            <a:avLst/>
          </a:prstGeom>
        </p:spPr>
      </p:pic>
      <p:sp>
        <p:nvSpPr>
          <p:cNvPr id="2" name="Title 1"/>
          <p:cNvSpPr>
            <a:spLocks noGrp="1"/>
          </p:cNvSpPr>
          <p:nvPr>
            <p:ph type="title"/>
          </p:nvPr>
        </p:nvSpPr>
        <p:spPr/>
        <p:txBody>
          <a:bodyPr/>
          <a:lstStyle/>
          <a:p>
            <a:r>
              <a:rPr lang="fa-IR" dirty="0"/>
              <a:t>جداسازی تحلیل </a:t>
            </a:r>
            <a:r>
              <a:rPr lang="en-US" dirty="0"/>
              <a:t>DC</a:t>
            </a:r>
            <a:r>
              <a:rPr lang="fa-IR" dirty="0"/>
              <a:t> از </a:t>
            </a:r>
            <a:r>
              <a:rPr lang="en-US" dirty="0"/>
              <a:t>AC</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14:m>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𝑣</m:t>
                        </m:r>
                      </m:e>
                      <m:sub>
                        <m:r>
                          <a:rPr lang="en-US" sz="2800" b="0" i="1" smtClean="0">
                            <a:latin typeface="Cambria Math" panose="02040503050406030204" pitchFamily="18" charset="0"/>
                          </a:rPr>
                          <m:t>𝐷𝑆</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𝑉</m:t>
                        </m:r>
                      </m:e>
                      <m:sub>
                        <m:r>
                          <a:rPr lang="en-US" sz="2800" b="0" i="1" smtClean="0">
                            <a:latin typeface="Cambria Math" panose="02040503050406030204" pitchFamily="18" charset="0"/>
                          </a:rPr>
                          <m:t>𝐷𝐷</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𝑖</m:t>
                        </m:r>
                      </m:e>
                      <m:sub>
                        <m:r>
                          <a:rPr lang="en-US" sz="2800" b="0" i="1" smtClean="0">
                            <a:latin typeface="Cambria Math" panose="02040503050406030204" pitchFamily="18" charset="0"/>
                          </a:rPr>
                          <m:t>𝐷</m:t>
                        </m:r>
                      </m:sub>
                    </m:sSub>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𝑅</m:t>
                        </m:r>
                      </m:e>
                      <m:sub>
                        <m:r>
                          <a:rPr lang="en-US" sz="2800" b="0" i="1" smtClean="0">
                            <a:latin typeface="Cambria Math" panose="02040503050406030204" pitchFamily="18" charset="0"/>
                          </a:rPr>
                          <m:t>𝐷</m:t>
                        </m:r>
                      </m:sub>
                    </m:sSub>
                  </m:oMath>
                </a14:m>
                <a:endParaRPr lang="en-US" sz="2800" b="0" dirty="0"/>
              </a:p>
              <a:p>
                <a14:m>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𝑖</m:t>
                        </m:r>
                      </m:e>
                      <m:sub>
                        <m:r>
                          <a:rPr lang="en-US" sz="2800" b="0" i="1" smtClean="0">
                            <a:latin typeface="Cambria Math" panose="02040503050406030204" pitchFamily="18" charset="0"/>
                          </a:rPr>
                          <m:t>𝐷</m:t>
                        </m:r>
                      </m:sub>
                    </m:sSub>
                    <m:r>
                      <a:rPr lang="en-US" sz="2800" b="0" i="1" smtClean="0">
                        <a:latin typeface="Cambria Math" panose="02040503050406030204" pitchFamily="18" charset="0"/>
                      </a:rPr>
                      <m:t>=</m:t>
                    </m:r>
                    <m:groupChr>
                      <m:groupChrPr>
                        <m:chr m:val="⏟"/>
                        <m:ctrlPr>
                          <a:rPr lang="en-US" sz="2800" b="0" i="1" smtClean="0">
                            <a:latin typeface="Cambria Math" panose="02040503050406030204" pitchFamily="18" charset="0"/>
                          </a:rPr>
                        </m:ctrlPr>
                      </m:groupChrPr>
                      <m:e>
                        <m:sSub>
                          <m:sSubPr>
                            <m:ctrlPr>
                              <a:rPr lang="en-US" sz="2800" i="1">
                                <a:latin typeface="Cambria Math" panose="02040503050406030204" pitchFamily="18" charset="0"/>
                              </a:rPr>
                            </m:ctrlPr>
                          </m:sSubPr>
                          <m:e>
                            <m:r>
                              <a:rPr lang="en-US" sz="2800" b="0" i="1" smtClean="0">
                                <a:latin typeface="Cambria Math" panose="02040503050406030204" pitchFamily="18" charset="0"/>
                              </a:rPr>
                              <m:t> </m:t>
                            </m:r>
                            <m:r>
                              <a:rPr lang="en-US" sz="2800" i="1">
                                <a:latin typeface="Cambria Math" panose="02040503050406030204" pitchFamily="18" charset="0"/>
                              </a:rPr>
                              <m:t>𝐼</m:t>
                            </m:r>
                          </m:e>
                          <m:sub>
                            <m:r>
                              <a:rPr lang="en-US" sz="2800" i="1">
                                <a:latin typeface="Cambria Math" panose="02040503050406030204" pitchFamily="18" charset="0"/>
                              </a:rPr>
                              <m:t>𝐷</m:t>
                            </m:r>
                            <m:r>
                              <a:rPr lang="en-US" sz="2800" b="0" i="1" smtClean="0">
                                <a:latin typeface="Cambria Math" panose="02040503050406030204" pitchFamily="18" charset="0"/>
                              </a:rPr>
                              <m:t> </m:t>
                            </m:r>
                          </m:sub>
                        </m:sSub>
                      </m:e>
                    </m:groupChr>
                    <m:r>
                      <a:rPr lang="en-US" sz="2800" b="0" i="1" smtClean="0">
                        <a:latin typeface="Cambria Math" panose="02040503050406030204" pitchFamily="18" charset="0"/>
                      </a:rPr>
                      <m:t> +</m:t>
                    </m:r>
                    <m:groupChr>
                      <m:groupChrPr>
                        <m:chr m:val="⏟"/>
                        <m:ctrlPr>
                          <a:rPr lang="en-US" sz="2800" i="1">
                            <a:latin typeface="Cambria Math" panose="02040503050406030204" pitchFamily="18" charset="0"/>
                          </a:rPr>
                        </m:ctrlPr>
                      </m:groupChrPr>
                      <m:e>
                        <m:sSub>
                          <m:sSubPr>
                            <m:ctrlPr>
                              <a:rPr lang="en-US" sz="2800" i="1">
                                <a:latin typeface="Cambria Math" panose="02040503050406030204" pitchFamily="18" charset="0"/>
                              </a:rPr>
                            </m:ctrlPr>
                          </m:sSubPr>
                          <m:e>
                            <m:r>
                              <a:rPr lang="en-US" sz="2800" b="0" i="1" smtClean="0">
                                <a:latin typeface="Cambria Math" panose="02040503050406030204" pitchFamily="18" charset="0"/>
                              </a:rPr>
                              <m:t> </m:t>
                            </m:r>
                            <m:r>
                              <a:rPr lang="en-US" sz="2800" i="1">
                                <a:latin typeface="Cambria Math" panose="02040503050406030204" pitchFamily="18" charset="0"/>
                              </a:rPr>
                              <m:t>𝑖</m:t>
                            </m:r>
                          </m:e>
                          <m:sub>
                            <m:r>
                              <a:rPr lang="en-US" sz="2800" i="1">
                                <a:latin typeface="Cambria Math" panose="02040503050406030204" pitchFamily="18" charset="0"/>
                              </a:rPr>
                              <m:t>𝑑</m:t>
                            </m:r>
                            <m:r>
                              <a:rPr lang="en-US" sz="2800" b="0" i="1" smtClean="0">
                                <a:latin typeface="Cambria Math" panose="02040503050406030204" pitchFamily="18" charset="0"/>
                              </a:rPr>
                              <m:t> </m:t>
                            </m:r>
                          </m:sub>
                        </m:sSub>
                      </m:e>
                    </m:groupChr>
                  </m:oMath>
                </a14:m>
                <a:r>
                  <a:rPr lang="en-US" sz="2800" dirty="0"/>
                  <a:t> 	       </a:t>
                </a:r>
                <a14:m>
                  <m:oMath xmlns:m="http://schemas.openxmlformats.org/officeDocument/2006/math">
                    <m:sSub>
                      <m:sSubPr>
                        <m:ctrlPr>
                          <a:rPr lang="en-US" sz="2800" i="1">
                            <a:latin typeface="Cambria Math" panose="02040503050406030204" pitchFamily="18" charset="0"/>
                          </a:rPr>
                        </m:ctrlPr>
                      </m:sSubPr>
                      <m:e>
                        <m:r>
                          <a:rPr lang="en-US" sz="2800" b="0" i="1" smtClean="0">
                            <a:latin typeface="Cambria Math" panose="02040503050406030204" pitchFamily="18" charset="0"/>
                          </a:rPr>
                          <m:t>𝑣</m:t>
                        </m:r>
                      </m:e>
                      <m:sub>
                        <m:r>
                          <a:rPr lang="en-US" sz="2800" i="1">
                            <a:latin typeface="Cambria Math" panose="02040503050406030204" pitchFamily="18" charset="0"/>
                          </a:rPr>
                          <m:t>𝐷</m:t>
                        </m:r>
                        <m:r>
                          <a:rPr lang="en-US" sz="2800" b="0" i="1" smtClean="0">
                            <a:latin typeface="Cambria Math" panose="02040503050406030204" pitchFamily="18" charset="0"/>
                          </a:rPr>
                          <m:t>𝑆</m:t>
                        </m:r>
                      </m:sub>
                    </m:sSub>
                    <m:r>
                      <a:rPr lang="en-US" sz="2800" i="1">
                        <a:latin typeface="Cambria Math" panose="02040503050406030204" pitchFamily="18" charset="0"/>
                      </a:rPr>
                      <m:t>=</m:t>
                    </m:r>
                    <m:groupChr>
                      <m:groupChrPr>
                        <m:chr m:val="⏟"/>
                        <m:ctrlPr>
                          <a:rPr lang="en-US" sz="2800" i="1">
                            <a:latin typeface="Cambria Math" panose="02040503050406030204" pitchFamily="18" charset="0"/>
                          </a:rPr>
                        </m:ctrlPr>
                      </m:groupChrPr>
                      <m:e>
                        <m:sSub>
                          <m:sSubPr>
                            <m:ctrlPr>
                              <a:rPr lang="en-US" sz="2800" i="1">
                                <a:latin typeface="Cambria Math" panose="02040503050406030204" pitchFamily="18" charset="0"/>
                              </a:rPr>
                            </m:ctrlPr>
                          </m:sSubPr>
                          <m:e>
                            <m:r>
                              <a:rPr lang="en-US" sz="2800" i="1">
                                <a:latin typeface="Cambria Math" panose="02040503050406030204" pitchFamily="18" charset="0"/>
                              </a:rPr>
                              <m:t> </m:t>
                            </m:r>
                            <m:r>
                              <a:rPr lang="en-US" sz="2800" b="0" i="1" smtClean="0">
                                <a:latin typeface="Cambria Math" panose="02040503050406030204" pitchFamily="18" charset="0"/>
                              </a:rPr>
                              <m:t>𝑉</m:t>
                            </m:r>
                          </m:e>
                          <m:sub>
                            <m:r>
                              <a:rPr lang="en-US" sz="2800" i="1">
                                <a:latin typeface="Cambria Math" panose="02040503050406030204" pitchFamily="18" charset="0"/>
                              </a:rPr>
                              <m:t>𝐷</m:t>
                            </m:r>
                            <m:r>
                              <a:rPr lang="en-US" sz="2800" b="0" i="1" smtClean="0">
                                <a:latin typeface="Cambria Math" panose="02040503050406030204" pitchFamily="18" charset="0"/>
                              </a:rPr>
                              <m:t>𝑆</m:t>
                            </m:r>
                            <m:r>
                              <a:rPr lang="en-US" sz="2800" i="1">
                                <a:latin typeface="Cambria Math" panose="02040503050406030204" pitchFamily="18" charset="0"/>
                              </a:rPr>
                              <m:t> </m:t>
                            </m:r>
                          </m:sub>
                        </m:sSub>
                      </m:e>
                    </m:groupChr>
                    <m:r>
                      <a:rPr lang="en-US" sz="2800" i="1">
                        <a:latin typeface="Cambria Math" panose="02040503050406030204" pitchFamily="18" charset="0"/>
                      </a:rPr>
                      <m:t> +</m:t>
                    </m:r>
                    <m:groupChr>
                      <m:groupChrPr>
                        <m:chr m:val="⏟"/>
                        <m:ctrlPr>
                          <a:rPr lang="en-US" sz="2800" i="1">
                            <a:latin typeface="Cambria Math" panose="02040503050406030204" pitchFamily="18" charset="0"/>
                          </a:rPr>
                        </m:ctrlPr>
                      </m:groupChrPr>
                      <m:e>
                        <m:sSub>
                          <m:sSubPr>
                            <m:ctrlPr>
                              <a:rPr lang="en-US" sz="2800" i="1">
                                <a:latin typeface="Cambria Math" panose="02040503050406030204" pitchFamily="18" charset="0"/>
                              </a:rPr>
                            </m:ctrlPr>
                          </m:sSubPr>
                          <m:e>
                            <m:r>
                              <a:rPr lang="en-US" sz="2800" i="1">
                                <a:latin typeface="Cambria Math" panose="02040503050406030204" pitchFamily="18" charset="0"/>
                              </a:rPr>
                              <m:t> </m:t>
                            </m:r>
                            <m:r>
                              <a:rPr lang="en-US" sz="2800" b="0" i="1" smtClean="0">
                                <a:latin typeface="Cambria Math" panose="02040503050406030204" pitchFamily="18" charset="0"/>
                              </a:rPr>
                              <m:t>𝑣</m:t>
                            </m:r>
                          </m:e>
                          <m:sub>
                            <m:r>
                              <a:rPr lang="en-US" sz="2800" b="0" i="1" smtClean="0">
                                <a:latin typeface="Cambria Math" panose="02040503050406030204" pitchFamily="18" charset="0"/>
                              </a:rPr>
                              <m:t>𝑑𝑠</m:t>
                            </m:r>
                            <m:r>
                              <a:rPr lang="en-US" sz="2800" i="1">
                                <a:latin typeface="Cambria Math" panose="02040503050406030204" pitchFamily="18" charset="0"/>
                              </a:rPr>
                              <m:t> </m:t>
                            </m:r>
                          </m:sub>
                        </m:sSub>
                      </m:e>
                    </m:groupChr>
                  </m:oMath>
                </a14:m>
                <a:endParaRPr lang="en-US" sz="2800" dirty="0"/>
              </a:p>
              <a:p>
                <a:endParaRPr lang="en-US" sz="1400" dirty="0"/>
              </a:p>
              <a:p>
                <a:endParaRPr lang="en-US" sz="2800" b="0" i="1" dirty="0">
                  <a:latin typeface="Cambria Math" panose="02040503050406030204" pitchFamily="18" charset="0"/>
                </a:endParaRPr>
              </a:p>
              <a:p>
                <a14:m>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𝑉</m:t>
                        </m:r>
                      </m:e>
                      <m:sub>
                        <m:r>
                          <a:rPr lang="en-US" sz="2800" b="0" i="1" smtClean="0">
                            <a:latin typeface="Cambria Math" panose="02040503050406030204" pitchFamily="18" charset="0"/>
                          </a:rPr>
                          <m:t>𝐷𝑆</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𝑉</m:t>
                        </m:r>
                      </m:e>
                      <m:sub>
                        <m:r>
                          <a:rPr lang="en-US" sz="2800" b="0" i="1" smtClean="0">
                            <a:latin typeface="Cambria Math" panose="02040503050406030204" pitchFamily="18" charset="0"/>
                          </a:rPr>
                          <m:t>𝐷𝐷</m:t>
                        </m:r>
                      </m:sub>
                    </m:sSub>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𝑅</m:t>
                        </m:r>
                      </m:e>
                      <m:sub>
                        <m:r>
                          <a:rPr lang="en-US" sz="2800" i="1">
                            <a:latin typeface="Cambria Math" panose="02040503050406030204" pitchFamily="18" charset="0"/>
                          </a:rPr>
                          <m:t>𝐷</m:t>
                        </m:r>
                      </m:sub>
                    </m:sSub>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𝐼</m:t>
                        </m:r>
                      </m:e>
                      <m:sub>
                        <m:r>
                          <a:rPr lang="en-US" sz="2800" b="0" i="1" smtClean="0">
                            <a:latin typeface="Cambria Math" panose="02040503050406030204" pitchFamily="18" charset="0"/>
                          </a:rPr>
                          <m:t>𝐷</m:t>
                        </m:r>
                      </m:sub>
                    </m:sSub>
                  </m:oMath>
                </a14:m>
                <a:endParaRPr lang="en-US" sz="2800" b="0" dirty="0"/>
              </a:p>
              <a:p>
                <a14:m>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𝑣</m:t>
                        </m:r>
                      </m:e>
                      <m:sub>
                        <m:r>
                          <a:rPr lang="en-US" sz="2800" b="0" i="1" smtClean="0">
                            <a:latin typeface="Cambria Math" panose="02040503050406030204" pitchFamily="18" charset="0"/>
                          </a:rPr>
                          <m:t>𝑑𝑠</m:t>
                        </m:r>
                      </m:sub>
                    </m:sSub>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𝑅</m:t>
                        </m:r>
                      </m:e>
                      <m:sub>
                        <m:r>
                          <a:rPr lang="en-US" sz="2800" i="1">
                            <a:latin typeface="Cambria Math" panose="02040503050406030204" pitchFamily="18" charset="0"/>
                          </a:rPr>
                          <m:t>𝐷</m:t>
                        </m:r>
                      </m:sub>
                    </m:sSub>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𝑖</m:t>
                        </m:r>
                      </m:e>
                      <m:sub>
                        <m:r>
                          <a:rPr lang="en-US" sz="2800" b="0" i="1" smtClean="0">
                            <a:latin typeface="Cambria Math" panose="02040503050406030204" pitchFamily="18" charset="0"/>
                          </a:rPr>
                          <m:t>𝑑</m:t>
                        </m:r>
                      </m:sub>
                    </m:sSub>
                  </m:oMath>
                </a14:m>
                <a:endParaRPr lang="en-US" sz="3200" dirty="0"/>
              </a:p>
              <a:p>
                <a:endParaRPr lang="en-US" sz="2400" dirty="0"/>
              </a:p>
              <a:p>
                <a:r>
                  <a:rPr lang="fa-IR" sz="2400" dirty="0"/>
                  <a:t>پاسخ به بخش </a:t>
                </a:r>
                <a:r>
                  <a:rPr lang="en-US" sz="2400" dirty="0"/>
                  <a:t>DC</a:t>
                </a:r>
                <a:r>
                  <a:rPr lang="fa-IR" sz="2400" dirty="0"/>
                  <a:t> ورودی </a:t>
                </a:r>
                <a:r>
                  <a:rPr lang="en-US" sz="2400" dirty="0"/>
                  <a:t>DC</a:t>
                </a:r>
                <a:r>
                  <a:rPr lang="fa-IR" sz="2400" dirty="0"/>
                  <a:t> است.</a:t>
                </a:r>
                <a:endParaRPr lang="en-US" sz="2400" dirty="0"/>
              </a:p>
              <a:p>
                <a:r>
                  <a:rPr lang="fa-IR" sz="2400" dirty="0"/>
                  <a:t>پاسخ به بخش </a:t>
                </a:r>
                <a:r>
                  <a:rPr lang="en-US" sz="2400" dirty="0"/>
                  <a:t>AC</a:t>
                </a:r>
                <a:r>
                  <a:rPr lang="fa-IR" sz="2400" dirty="0"/>
                  <a:t> ورودی هم </a:t>
                </a:r>
                <a:r>
                  <a:rPr lang="en-US" sz="2400" dirty="0"/>
                  <a:t>AC</a:t>
                </a:r>
                <a:r>
                  <a:rPr lang="fa-IR" sz="2400" dirty="0"/>
                  <a:t> است.</a:t>
                </a:r>
                <a:endParaRPr lang="en-US" sz="2400" dirty="0"/>
              </a:p>
              <a:p>
                <a:r>
                  <a:rPr lang="fa-IR" sz="2400" dirty="0"/>
                  <a:t>بنابراین می‌توان تحلیل </a:t>
                </a:r>
                <a:r>
                  <a:rPr lang="en-US" sz="2400" dirty="0"/>
                  <a:t>DC</a:t>
                </a:r>
                <a:r>
                  <a:rPr lang="fa-IR" sz="2400" dirty="0"/>
                  <a:t> و </a:t>
                </a:r>
                <a:r>
                  <a:rPr lang="en-US" sz="2400" dirty="0"/>
                  <a:t>AC</a:t>
                </a:r>
                <a:r>
                  <a:rPr lang="fa-IR" sz="2400" dirty="0"/>
                  <a:t> را جداگانه انجام داد.</a:t>
                </a:r>
                <a:endParaRPr 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0">
                <a:blip r:embed="rId3"/>
                <a:stretch>
                  <a:fillRect r="-150" b="-2125"/>
                </a:stretch>
              </a:blipFill>
            </p:spPr>
            <p:txBody>
              <a:bodyPr/>
              <a:lstStyle/>
              <a:p>
                <a:r>
                  <a:rPr lang="fa-IR">
                    <a:noFill/>
                  </a:rPr>
                  <a:t> </a:t>
                </a:r>
              </a:p>
            </p:txBody>
          </p:sp>
        </mc:Fallback>
      </mc:AlternateContent>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12. ترانزیستور (ادامه)</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34</a:t>
            </a:fld>
            <a:endParaRPr lang="en-US" altLang="en-US" dirty="0"/>
          </a:p>
        </p:txBody>
      </p:sp>
      <p:sp>
        <p:nvSpPr>
          <p:cNvPr id="8" name="TextBox 7"/>
          <p:cNvSpPr txBox="1"/>
          <p:nvPr/>
        </p:nvSpPr>
        <p:spPr>
          <a:xfrm>
            <a:off x="4073051" y="2373868"/>
            <a:ext cx="949362" cy="646331"/>
          </a:xfrm>
          <a:prstGeom prst="rect">
            <a:avLst/>
          </a:prstGeom>
          <a:noFill/>
        </p:spPr>
        <p:txBody>
          <a:bodyPr wrap="none" rtlCol="0">
            <a:spAutoFit/>
          </a:bodyPr>
          <a:lstStyle/>
          <a:p>
            <a:pPr algn="ctr" rtl="1"/>
            <a:r>
              <a:rPr lang="fa-IR" dirty="0">
                <a:solidFill>
                  <a:srgbClr val="FF0000"/>
                </a:solidFill>
                <a:cs typeface="B Nazanin" panose="00000400000000000000" pitchFamily="2" charset="-78"/>
              </a:rPr>
              <a:t>بخش </a:t>
            </a:r>
            <a:r>
              <a:rPr lang="en-US" dirty="0">
                <a:solidFill>
                  <a:srgbClr val="FF0000"/>
                </a:solidFill>
                <a:cs typeface="B Nazanin" panose="00000400000000000000" pitchFamily="2" charset="-78"/>
              </a:rPr>
              <a:t>DC</a:t>
            </a:r>
            <a:endParaRPr lang="fa-IR" dirty="0">
              <a:solidFill>
                <a:srgbClr val="FF0000"/>
              </a:solidFill>
              <a:cs typeface="B Nazanin" panose="00000400000000000000" pitchFamily="2" charset="-78"/>
            </a:endParaRPr>
          </a:p>
          <a:p>
            <a:pPr algn="ctr" rtl="1"/>
            <a:r>
              <a:rPr lang="fa-IR" dirty="0">
                <a:solidFill>
                  <a:srgbClr val="FF0000"/>
                </a:solidFill>
                <a:cs typeface="B Nazanin" panose="00000400000000000000" pitchFamily="2" charset="-78"/>
              </a:rPr>
              <a:t>(بایاس)</a:t>
            </a:r>
            <a:endParaRPr lang="en-US" dirty="0">
              <a:solidFill>
                <a:srgbClr val="FF0000"/>
              </a:solidFill>
              <a:cs typeface="B Nazanin" panose="00000400000000000000" pitchFamily="2" charset="-78"/>
            </a:endParaRPr>
          </a:p>
        </p:txBody>
      </p:sp>
      <p:sp>
        <p:nvSpPr>
          <p:cNvPr id="9" name="TextBox 8"/>
          <p:cNvSpPr txBox="1"/>
          <p:nvPr/>
        </p:nvSpPr>
        <p:spPr>
          <a:xfrm>
            <a:off x="5052869" y="2373868"/>
            <a:ext cx="936475" cy="369332"/>
          </a:xfrm>
          <a:prstGeom prst="rect">
            <a:avLst/>
          </a:prstGeom>
          <a:noFill/>
        </p:spPr>
        <p:txBody>
          <a:bodyPr wrap="none" rtlCol="0">
            <a:spAutoFit/>
          </a:bodyPr>
          <a:lstStyle/>
          <a:p>
            <a:pPr algn="r" rtl="1"/>
            <a:r>
              <a:rPr lang="fa-IR" dirty="0">
                <a:solidFill>
                  <a:srgbClr val="FF0000"/>
                </a:solidFill>
                <a:cs typeface="B Nazanin" panose="00000400000000000000" pitchFamily="2" charset="-78"/>
              </a:rPr>
              <a:t>بخش </a:t>
            </a:r>
            <a:r>
              <a:rPr lang="en-US" dirty="0">
                <a:solidFill>
                  <a:srgbClr val="FF0000"/>
                </a:solidFill>
                <a:cs typeface="B Nazanin" panose="00000400000000000000" pitchFamily="2" charset="-78"/>
              </a:rPr>
              <a:t>AC</a:t>
            </a:r>
          </a:p>
        </p:txBody>
      </p:sp>
      <p:sp>
        <p:nvSpPr>
          <p:cNvPr id="12" name="TextBox 11"/>
          <p:cNvSpPr txBox="1"/>
          <p:nvPr/>
        </p:nvSpPr>
        <p:spPr>
          <a:xfrm>
            <a:off x="6629400" y="2373868"/>
            <a:ext cx="949362" cy="646331"/>
          </a:xfrm>
          <a:prstGeom prst="rect">
            <a:avLst/>
          </a:prstGeom>
          <a:noFill/>
        </p:spPr>
        <p:txBody>
          <a:bodyPr wrap="none" rtlCol="0">
            <a:spAutoFit/>
          </a:bodyPr>
          <a:lstStyle/>
          <a:p>
            <a:pPr algn="ctr" rtl="1"/>
            <a:r>
              <a:rPr lang="fa-IR" dirty="0">
                <a:solidFill>
                  <a:srgbClr val="FF0000"/>
                </a:solidFill>
                <a:cs typeface="B Nazanin" panose="00000400000000000000" pitchFamily="2" charset="-78"/>
              </a:rPr>
              <a:t>بخش </a:t>
            </a:r>
            <a:r>
              <a:rPr lang="en-US" dirty="0">
                <a:solidFill>
                  <a:srgbClr val="FF0000"/>
                </a:solidFill>
                <a:cs typeface="B Nazanin" panose="00000400000000000000" pitchFamily="2" charset="-78"/>
              </a:rPr>
              <a:t>DC</a:t>
            </a:r>
            <a:endParaRPr lang="fa-IR" dirty="0">
              <a:solidFill>
                <a:srgbClr val="FF0000"/>
              </a:solidFill>
              <a:cs typeface="B Nazanin" panose="00000400000000000000" pitchFamily="2" charset="-78"/>
            </a:endParaRPr>
          </a:p>
          <a:p>
            <a:pPr algn="ctr" rtl="1"/>
            <a:r>
              <a:rPr lang="fa-IR" dirty="0">
                <a:solidFill>
                  <a:srgbClr val="FF0000"/>
                </a:solidFill>
                <a:cs typeface="B Nazanin" panose="00000400000000000000" pitchFamily="2" charset="-78"/>
              </a:rPr>
              <a:t>(بایاس)</a:t>
            </a:r>
            <a:endParaRPr lang="en-US" dirty="0">
              <a:solidFill>
                <a:srgbClr val="FF0000"/>
              </a:solidFill>
              <a:cs typeface="B Nazanin" panose="00000400000000000000" pitchFamily="2" charset="-78"/>
            </a:endParaRPr>
          </a:p>
        </p:txBody>
      </p:sp>
      <p:sp>
        <p:nvSpPr>
          <p:cNvPr id="13" name="TextBox 12"/>
          <p:cNvSpPr txBox="1"/>
          <p:nvPr/>
        </p:nvSpPr>
        <p:spPr>
          <a:xfrm>
            <a:off x="7609218" y="2373868"/>
            <a:ext cx="936475" cy="369332"/>
          </a:xfrm>
          <a:prstGeom prst="rect">
            <a:avLst/>
          </a:prstGeom>
          <a:noFill/>
        </p:spPr>
        <p:txBody>
          <a:bodyPr wrap="none" rtlCol="0">
            <a:spAutoFit/>
          </a:bodyPr>
          <a:lstStyle/>
          <a:p>
            <a:pPr algn="r" rtl="1"/>
            <a:r>
              <a:rPr lang="fa-IR" dirty="0">
                <a:solidFill>
                  <a:srgbClr val="FF0000"/>
                </a:solidFill>
                <a:cs typeface="B Nazanin" panose="00000400000000000000" pitchFamily="2" charset="-78"/>
              </a:rPr>
              <a:t>بخش </a:t>
            </a:r>
            <a:r>
              <a:rPr lang="en-US" dirty="0">
                <a:solidFill>
                  <a:srgbClr val="FF0000"/>
                </a:solidFill>
                <a:cs typeface="B Nazanin" panose="00000400000000000000" pitchFamily="2" charset="-78"/>
              </a:rPr>
              <a:t>AC</a:t>
            </a:r>
          </a:p>
        </p:txBody>
      </p:sp>
    </p:spTree>
    <p:extLst>
      <p:ext uri="{BB962C8B-B14F-4D97-AF65-F5344CB8AC3E}">
        <p14:creationId xmlns:p14="http://schemas.microsoft.com/office/powerpoint/2010/main" val="11640140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جداسازی تحلیل </a:t>
            </a:r>
            <a:r>
              <a:rPr lang="en-US" dirty="0"/>
              <a:t>DC</a:t>
            </a:r>
            <a:r>
              <a:rPr lang="fa-IR" dirty="0"/>
              <a:t> از </a:t>
            </a:r>
            <a:r>
              <a:rPr lang="en-US" dirty="0"/>
              <a:t>AC</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pPr algn="l" rtl="0"/>
                <a14:m>
                  <m:oMath xmlns:m="http://schemas.openxmlformats.org/officeDocument/2006/math">
                    <m:sSub>
                      <m:sSubPr>
                        <m:ctrlPr>
                          <a:rPr lang="en-US" sz="2800" i="1" smtClean="0">
                            <a:latin typeface="Cambria Math" panose="02040503050406030204" pitchFamily="18" charset="0"/>
                          </a:rPr>
                        </m:ctrlPr>
                      </m:sSubPr>
                      <m:e>
                        <m:r>
                          <a:rPr lang="en-US" sz="2800" i="1">
                            <a:latin typeface="Cambria Math" panose="02040503050406030204" pitchFamily="18" charset="0"/>
                          </a:rPr>
                          <m:t>𝑣</m:t>
                        </m:r>
                      </m:e>
                      <m:sub>
                        <m:r>
                          <a:rPr lang="en-US" sz="2800" i="1">
                            <a:latin typeface="Cambria Math" panose="02040503050406030204" pitchFamily="18" charset="0"/>
                          </a:rPr>
                          <m:t>𝑑𝑠</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𝑅</m:t>
                        </m:r>
                      </m:e>
                      <m:sub>
                        <m:r>
                          <a:rPr lang="en-US" sz="2800" i="1">
                            <a:latin typeface="Cambria Math" panose="02040503050406030204" pitchFamily="18" charset="0"/>
                          </a:rPr>
                          <m:t>𝐷</m:t>
                        </m:r>
                      </m:sub>
                    </m:sSub>
                    <m:sSub>
                      <m:sSubPr>
                        <m:ctrlPr>
                          <a:rPr lang="en-US" sz="2800" i="1">
                            <a:latin typeface="Cambria Math" panose="02040503050406030204" pitchFamily="18" charset="0"/>
                          </a:rPr>
                        </m:ctrlPr>
                      </m:sSubPr>
                      <m:e>
                        <m:r>
                          <a:rPr lang="en-US" sz="2800" i="1">
                            <a:latin typeface="Cambria Math" panose="02040503050406030204" pitchFamily="18" charset="0"/>
                          </a:rPr>
                          <m:t>𝑖</m:t>
                        </m:r>
                      </m:e>
                      <m:sub>
                        <m:r>
                          <a:rPr lang="en-US" sz="2800" i="1">
                            <a:latin typeface="Cambria Math" panose="02040503050406030204" pitchFamily="18" charset="0"/>
                          </a:rPr>
                          <m:t>𝑑</m:t>
                        </m:r>
                      </m:sub>
                    </m:sSub>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sSub>
                          <m:sSubPr>
                            <m:ctrlPr>
                              <a:rPr lang="en-US" sz="2800" i="1">
                                <a:latin typeface="Cambria Math" panose="02040503050406030204" pitchFamily="18" charset="0"/>
                              </a:rPr>
                            </m:ctrlPr>
                          </m:sSubPr>
                          <m:e>
                            <m:r>
                              <a:rPr lang="en-US" sz="2800" i="1">
                                <a:latin typeface="Cambria Math" panose="02040503050406030204" pitchFamily="18" charset="0"/>
                              </a:rPr>
                              <m:t>𝑅</m:t>
                            </m:r>
                          </m:e>
                          <m:sub>
                            <m:r>
                              <a:rPr lang="en-US" sz="2800" i="1">
                                <a:latin typeface="Cambria Math" panose="02040503050406030204" pitchFamily="18" charset="0"/>
                              </a:rPr>
                              <m:t>𝐷</m:t>
                            </m:r>
                          </m:sub>
                        </m:sSub>
                        <m:r>
                          <a:rPr lang="en-US" sz="2800" i="1">
                            <a:latin typeface="Cambria Math" panose="02040503050406030204" pitchFamily="18" charset="0"/>
                          </a:rPr>
                          <m:t>𝑔</m:t>
                        </m:r>
                      </m:e>
                      <m:sub>
                        <m:r>
                          <a:rPr lang="en-US" sz="2800" i="1">
                            <a:latin typeface="Cambria Math" panose="02040503050406030204" pitchFamily="18" charset="0"/>
                          </a:rPr>
                          <m:t>𝑚</m:t>
                        </m:r>
                      </m:sub>
                    </m:sSub>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𝑣</m:t>
                        </m:r>
                      </m:e>
                      <m:sub>
                        <m:r>
                          <a:rPr lang="en-US" sz="2800" b="0" i="1" smtClean="0">
                            <a:latin typeface="Cambria Math" panose="02040503050406030204" pitchFamily="18" charset="0"/>
                          </a:rPr>
                          <m:t>𝑔𝑠</m:t>
                        </m:r>
                      </m:sub>
                    </m:sSub>
                  </m:oMath>
                </a14:m>
                <a:endParaRPr lang="en-US" sz="2800" b="0" i="1" dirty="0">
                  <a:latin typeface="Cambria Math" panose="02040503050406030204" pitchFamily="18" charset="0"/>
                </a:endParaRPr>
              </a:p>
              <a:p>
                <a:pPr algn="l" rtl="0"/>
                <a14:m>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𝐴</m:t>
                        </m:r>
                      </m:e>
                      <m:sub>
                        <m:r>
                          <a:rPr lang="en-US" sz="2800" b="0" i="1" smtClean="0">
                            <a:latin typeface="Cambria Math" panose="02040503050406030204" pitchFamily="18" charset="0"/>
                          </a:rPr>
                          <m:t>𝑣</m:t>
                        </m:r>
                      </m:sub>
                    </m:sSub>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𝑣</m:t>
                            </m:r>
                          </m:e>
                          <m:sub>
                            <m:r>
                              <a:rPr lang="en-US" sz="2800" b="0" i="1" smtClean="0">
                                <a:latin typeface="Cambria Math" panose="02040503050406030204" pitchFamily="18" charset="0"/>
                              </a:rPr>
                              <m:t>𝑑𝑠</m:t>
                            </m:r>
                          </m:sub>
                        </m:sSub>
                      </m:num>
                      <m:den>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𝑣</m:t>
                            </m:r>
                          </m:e>
                          <m:sub>
                            <m:r>
                              <a:rPr lang="en-US" sz="2800" b="0" i="1" smtClean="0">
                                <a:latin typeface="Cambria Math" panose="02040503050406030204" pitchFamily="18" charset="0"/>
                              </a:rPr>
                              <m:t>𝑔𝑠</m:t>
                            </m:r>
                          </m:sub>
                        </m:sSub>
                      </m:den>
                    </m:f>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𝑔</m:t>
                        </m:r>
                      </m:e>
                      <m:sub>
                        <m:r>
                          <a:rPr lang="en-US" sz="2800" b="0" i="1" smtClean="0">
                            <a:latin typeface="Cambria Math" panose="02040503050406030204" pitchFamily="18" charset="0"/>
                          </a:rPr>
                          <m:t>𝑚</m:t>
                        </m:r>
                      </m:sub>
                    </m:sSub>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𝑅</m:t>
                        </m:r>
                      </m:e>
                      <m:sub>
                        <m:r>
                          <a:rPr lang="en-US" sz="2800" b="0" i="1" smtClean="0">
                            <a:latin typeface="Cambria Math" panose="02040503050406030204" pitchFamily="18" charset="0"/>
                          </a:rPr>
                          <m:t>𝐷</m:t>
                        </m:r>
                      </m:sub>
                    </m:sSub>
                  </m:oMath>
                </a14:m>
                <a:endParaRPr 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0">
                <a:blip r:embed="rId2"/>
                <a:stretch>
                  <a:fillRect/>
                </a:stretch>
              </a:blipFill>
            </p:spPr>
            <p:txBody>
              <a:bodyPr/>
              <a:lstStyle/>
              <a:p>
                <a:r>
                  <a:rPr lang="fa-IR">
                    <a:noFill/>
                  </a:rPr>
                  <a:t> </a:t>
                </a:r>
              </a:p>
            </p:txBody>
          </p:sp>
        </mc:Fallback>
      </mc:AlternateContent>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12. ترانزیستور (ادامه)</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35</a:t>
            </a:fld>
            <a:endParaRPr lang="en-US" altLang="en-US" dirty="0"/>
          </a:p>
        </p:txBody>
      </p:sp>
      <p:grpSp>
        <p:nvGrpSpPr>
          <p:cNvPr id="11" name="Group 10"/>
          <p:cNvGrpSpPr/>
          <p:nvPr/>
        </p:nvGrpSpPr>
        <p:grpSpPr>
          <a:xfrm>
            <a:off x="799872" y="3184245"/>
            <a:ext cx="2686050" cy="2405461"/>
            <a:chOff x="799872" y="3184245"/>
            <a:chExt cx="2686050" cy="2405461"/>
          </a:xfrm>
        </p:grpSpPr>
        <p:pic>
          <p:nvPicPr>
            <p:cNvPr id="12" name="Picture 11"/>
            <p:cNvPicPr>
              <a:picLocks noChangeAspect="1"/>
            </p:cNvPicPr>
            <p:nvPr/>
          </p:nvPicPr>
          <p:blipFill>
            <a:blip r:embed="rId3">
              <a:biLevel thresh="75000"/>
            </a:blip>
            <a:stretch>
              <a:fillRect/>
            </a:stretch>
          </p:blipFill>
          <p:spPr>
            <a:xfrm>
              <a:off x="799872" y="3184245"/>
              <a:ext cx="2686050" cy="2405461"/>
            </a:xfrm>
            <a:prstGeom prst="rect">
              <a:avLst/>
            </a:prstGeom>
          </p:spPr>
        </p:pic>
        <p:sp>
          <p:nvSpPr>
            <p:cNvPr id="13" name="TextBox 12"/>
            <p:cNvSpPr txBox="1"/>
            <p:nvPr/>
          </p:nvSpPr>
          <p:spPr>
            <a:xfrm>
              <a:off x="973062" y="3384849"/>
              <a:ext cx="1104791" cy="400110"/>
            </a:xfrm>
            <a:prstGeom prst="rect">
              <a:avLst/>
            </a:prstGeom>
            <a:noFill/>
          </p:spPr>
          <p:txBody>
            <a:bodyPr wrap="none" rtlCol="0">
              <a:spAutoFit/>
            </a:bodyPr>
            <a:lstStyle/>
            <a:p>
              <a:pPr algn="r" rtl="1"/>
              <a:r>
                <a:rPr lang="fa-IR" sz="2000" dirty="0">
                  <a:solidFill>
                    <a:srgbClr val="FF0000"/>
                  </a:solidFill>
                  <a:cs typeface="B Nazanin" panose="00000400000000000000" pitchFamily="2" charset="-78"/>
                </a:rPr>
                <a:t>تحلیل </a:t>
              </a:r>
              <a:r>
                <a:rPr lang="en-US" sz="2000" dirty="0">
                  <a:solidFill>
                    <a:srgbClr val="FF0000"/>
                  </a:solidFill>
                  <a:cs typeface="B Nazanin" panose="00000400000000000000" pitchFamily="2" charset="-78"/>
                </a:rPr>
                <a:t>DC</a:t>
              </a:r>
            </a:p>
          </p:txBody>
        </p:sp>
      </p:grpSp>
      <p:sp>
        <p:nvSpPr>
          <p:cNvPr id="15" name="TextBox 14"/>
          <p:cNvSpPr txBox="1"/>
          <p:nvPr/>
        </p:nvSpPr>
        <p:spPr>
          <a:xfrm>
            <a:off x="4343400" y="1905000"/>
            <a:ext cx="1055097" cy="461665"/>
          </a:xfrm>
          <a:prstGeom prst="rect">
            <a:avLst/>
          </a:prstGeom>
          <a:noFill/>
        </p:spPr>
        <p:txBody>
          <a:bodyPr wrap="none" rtlCol="0">
            <a:spAutoFit/>
          </a:bodyPr>
          <a:lstStyle/>
          <a:p>
            <a:r>
              <a:rPr lang="fa-IR" sz="2400" dirty="0">
                <a:solidFill>
                  <a:srgbClr val="FF0000"/>
                </a:solidFill>
                <a:cs typeface="B Nazanin" panose="00000400000000000000" pitchFamily="2" charset="-78"/>
              </a:rPr>
              <a:t>بهره ولتاژ</a:t>
            </a:r>
            <a:endParaRPr lang="en-US" sz="2400" dirty="0">
              <a:solidFill>
                <a:srgbClr val="FF0000"/>
              </a:solidFill>
              <a:cs typeface="B Nazanin" panose="00000400000000000000" pitchFamily="2" charset="-78"/>
            </a:endParaRPr>
          </a:p>
        </p:txBody>
      </p:sp>
      <p:grpSp>
        <p:nvGrpSpPr>
          <p:cNvPr id="17" name="Group 16"/>
          <p:cNvGrpSpPr/>
          <p:nvPr/>
        </p:nvGrpSpPr>
        <p:grpSpPr>
          <a:xfrm>
            <a:off x="3692064" y="3257490"/>
            <a:ext cx="5072540" cy="2329365"/>
            <a:chOff x="3692064" y="3257490"/>
            <a:chExt cx="5072540" cy="2329365"/>
          </a:xfrm>
        </p:grpSpPr>
        <p:pic>
          <p:nvPicPr>
            <p:cNvPr id="14" name="Picture 13"/>
            <p:cNvPicPr>
              <a:picLocks noChangeAspect="1"/>
            </p:cNvPicPr>
            <p:nvPr/>
          </p:nvPicPr>
          <p:blipFill>
            <a:blip r:embed="rId4">
              <a:biLevel thresh="75000"/>
              <a:extLst>
                <a:ext uri="{BEBA8EAE-BF5A-486C-A8C5-ECC9F3942E4B}">
                  <a14:imgProps xmlns:a14="http://schemas.microsoft.com/office/drawing/2010/main">
                    <a14:imgLayer r:embed="rId5">
                      <a14:imgEffect>
                        <a14:brightnessContrast bright="20000" contrast="-40000"/>
                      </a14:imgEffect>
                    </a14:imgLayer>
                  </a14:imgProps>
                </a:ext>
              </a:extLst>
            </a:blip>
            <a:stretch>
              <a:fillRect/>
            </a:stretch>
          </p:blipFill>
          <p:spPr>
            <a:xfrm>
              <a:off x="3692064" y="3512287"/>
              <a:ext cx="5072540" cy="2074568"/>
            </a:xfrm>
            <a:prstGeom prst="rect">
              <a:avLst/>
            </a:prstGeom>
          </p:spPr>
        </p:pic>
        <p:sp>
          <p:nvSpPr>
            <p:cNvPr id="16" name="TextBox 15"/>
            <p:cNvSpPr txBox="1"/>
            <p:nvPr/>
          </p:nvSpPr>
          <p:spPr>
            <a:xfrm>
              <a:off x="6007100" y="3257490"/>
              <a:ext cx="1090363" cy="400110"/>
            </a:xfrm>
            <a:prstGeom prst="rect">
              <a:avLst/>
            </a:prstGeom>
            <a:noFill/>
          </p:spPr>
          <p:txBody>
            <a:bodyPr wrap="none" rtlCol="0">
              <a:spAutoFit/>
            </a:bodyPr>
            <a:lstStyle/>
            <a:p>
              <a:pPr algn="r" rtl="1"/>
              <a:r>
                <a:rPr lang="fa-IR" sz="2000" dirty="0">
                  <a:solidFill>
                    <a:srgbClr val="FF0000"/>
                  </a:solidFill>
                  <a:cs typeface="B Nazanin" panose="00000400000000000000" pitchFamily="2" charset="-78"/>
                </a:rPr>
                <a:t>تحلیل </a:t>
              </a:r>
              <a:r>
                <a:rPr lang="en-US" sz="2000" dirty="0">
                  <a:solidFill>
                    <a:srgbClr val="FF0000"/>
                  </a:solidFill>
                  <a:cs typeface="B Nazanin" panose="00000400000000000000" pitchFamily="2" charset="-78"/>
                </a:rPr>
                <a:t>AC</a:t>
              </a:r>
            </a:p>
          </p:txBody>
        </p:sp>
      </p:grpSp>
      <mc:AlternateContent xmlns:mc="http://schemas.openxmlformats.org/markup-compatibility/2006" xmlns:a14="http://schemas.microsoft.com/office/drawing/2010/main">
        <mc:Choice Requires="a14">
          <p:sp>
            <p:nvSpPr>
              <p:cNvPr id="20" name="TextBox 19"/>
              <p:cNvSpPr txBox="1"/>
              <p:nvPr/>
            </p:nvSpPr>
            <p:spPr>
              <a:xfrm>
                <a:off x="4987991" y="5746863"/>
                <a:ext cx="3775009" cy="400110"/>
              </a:xfrm>
              <a:prstGeom prst="rect">
                <a:avLst/>
              </a:prstGeom>
              <a:noFill/>
            </p:spPr>
            <p:txBody>
              <a:bodyPr wrap="none" rtlCol="0">
                <a:spAutoFit/>
              </a:bodyPr>
              <a:lstStyle/>
              <a:p>
                <a:pPr algn="r" rtl="1"/>
                <a:r>
                  <a:rPr lang="fa-IR" sz="2000" dirty="0">
                    <a:solidFill>
                      <a:srgbClr val="FF0000"/>
                    </a:solidFill>
                    <a:cs typeface="B Nazanin" panose="00000400000000000000" pitchFamily="2" charset="-78"/>
                  </a:rPr>
                  <a:t>چرا سر مقاومت </a:t>
                </a:r>
                <a14:m>
                  <m:oMath xmlns:m="http://schemas.openxmlformats.org/officeDocument/2006/math">
                    <m:sSub>
                      <m:sSubPr>
                        <m:ctrlPr>
                          <a:rPr lang="en-US" sz="2000" b="0" i="1" smtClean="0">
                            <a:solidFill>
                              <a:srgbClr val="FF0000"/>
                            </a:solidFill>
                            <a:latin typeface="Cambria Math" panose="02040503050406030204" pitchFamily="18" charset="0"/>
                          </a:rPr>
                        </m:ctrlPr>
                      </m:sSubPr>
                      <m:e>
                        <m:r>
                          <a:rPr lang="en-US" sz="2000" b="0" i="1" smtClean="0">
                            <a:solidFill>
                              <a:srgbClr val="FF0000"/>
                            </a:solidFill>
                            <a:latin typeface="Cambria Math" panose="02040503050406030204" pitchFamily="18" charset="0"/>
                          </a:rPr>
                          <m:t>𝑅</m:t>
                        </m:r>
                      </m:e>
                      <m:sub>
                        <m:r>
                          <a:rPr lang="en-US" sz="2000" b="0" i="1" smtClean="0">
                            <a:solidFill>
                              <a:srgbClr val="FF0000"/>
                            </a:solidFill>
                            <a:latin typeface="Cambria Math" panose="02040503050406030204" pitchFamily="18" charset="0"/>
                          </a:rPr>
                          <m:t>𝐷</m:t>
                        </m:r>
                      </m:sub>
                    </m:sSub>
                  </m:oMath>
                </a14:m>
                <a:r>
                  <a:rPr lang="fa-IR" sz="2000" dirty="0">
                    <a:solidFill>
                      <a:srgbClr val="FF0000"/>
                    </a:solidFill>
                    <a:cs typeface="B Nazanin" panose="00000400000000000000" pitchFamily="2" charset="-78"/>
                  </a:rPr>
                  <a:t> به زمین وصل شده است؟</a:t>
                </a:r>
                <a:endParaRPr lang="en-US" sz="2000" dirty="0">
                  <a:solidFill>
                    <a:srgbClr val="FF0000"/>
                  </a:solidFill>
                  <a:cs typeface="B Nazanin" panose="00000400000000000000" pitchFamily="2" charset="-78"/>
                </a:endParaRPr>
              </a:p>
            </p:txBody>
          </p:sp>
        </mc:Choice>
        <mc:Fallback xmlns="">
          <p:sp>
            <p:nvSpPr>
              <p:cNvPr id="20" name="TextBox 19"/>
              <p:cNvSpPr txBox="1">
                <a:spLocks noRot="1" noChangeAspect="1" noMove="1" noResize="1" noEditPoints="1" noAdjustHandles="1" noChangeArrowheads="1" noChangeShapeType="1" noTextEdit="1"/>
              </p:cNvSpPr>
              <p:nvPr/>
            </p:nvSpPr>
            <p:spPr>
              <a:xfrm>
                <a:off x="4987991" y="5746863"/>
                <a:ext cx="3775009" cy="400110"/>
              </a:xfrm>
              <a:prstGeom prst="rect">
                <a:avLst/>
              </a:prstGeom>
              <a:blipFill rotWithShape="0">
                <a:blip r:embed="rId6"/>
                <a:stretch>
                  <a:fillRect l="-645" t="-6154" r="-1613" b="-30769"/>
                </a:stretch>
              </a:blipFill>
            </p:spPr>
            <p:txBody>
              <a:bodyPr/>
              <a:lstStyle/>
              <a:p>
                <a:r>
                  <a:rPr lang="fa-IR">
                    <a:noFill/>
                  </a:rPr>
                  <a:t> </a:t>
                </a:r>
              </a:p>
            </p:txBody>
          </p:sp>
        </mc:Fallback>
      </mc:AlternateContent>
    </p:spTree>
    <p:extLst>
      <p:ext uri="{BB962C8B-B14F-4D97-AF65-F5344CB8AC3E}">
        <p14:creationId xmlns:p14="http://schemas.microsoft.com/office/powerpoint/2010/main" val="114681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مثال</a:t>
            </a:r>
            <a:endParaRPr lang="en-US" dirty="0"/>
          </a:p>
        </p:txBody>
      </p:sp>
      <p:sp>
        <p:nvSpPr>
          <p:cNvPr id="3" name="Content Placeholder 2"/>
          <p:cNvSpPr>
            <a:spLocks noGrp="1"/>
          </p:cNvSpPr>
          <p:nvPr>
            <p:ph sz="quarter" idx="1"/>
          </p:nvPr>
        </p:nvSpPr>
        <p:spPr>
          <a:xfrm>
            <a:off x="4651248" y="1219200"/>
            <a:ext cx="4111752" cy="4876800"/>
          </a:xfrm>
        </p:spPr>
        <p:txBody>
          <a:bodyPr/>
          <a:lstStyle/>
          <a:p>
            <a:r>
              <a:rPr lang="fa-IR" dirty="0"/>
              <a:t>دلیل استفاده از خازنهای کوپلینگ:</a:t>
            </a:r>
            <a:endParaRPr lang="en-US" dirty="0"/>
          </a:p>
          <a:p>
            <a:pPr lvl="1"/>
            <a:r>
              <a:rPr lang="fa-IR" dirty="0"/>
              <a:t>خازن در مقابل ولتاژهای </a:t>
            </a:r>
            <a:r>
              <a:rPr lang="en-US" dirty="0"/>
              <a:t>DC</a:t>
            </a:r>
            <a:r>
              <a:rPr lang="fa-IR" dirty="0"/>
              <a:t> مدار باز می‌شود. بنابراین اگر چند طبقه از این مدارها را به هم ببندیم، بایاس </a:t>
            </a:r>
            <a:r>
              <a:rPr lang="en-US" dirty="0"/>
              <a:t>DC</a:t>
            </a:r>
            <a:r>
              <a:rPr lang="fa-IR" dirty="0"/>
              <a:t> یک طبقه بر دیگری تاثیری ندارد و طراحی تقویت‌کننده راحت‌تر می‌شود.</a:t>
            </a:r>
            <a:endParaRPr lang="en-US" dirty="0"/>
          </a:p>
        </p:txBody>
      </p:sp>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12. ترانزیستور (ادامه)</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36</a:t>
            </a:fld>
            <a:endParaRPr lang="en-US" altLang="en-US" dirty="0"/>
          </a:p>
        </p:txBody>
      </p:sp>
      <mc:AlternateContent xmlns:mc="http://schemas.openxmlformats.org/markup-compatibility/2006" xmlns:a14="http://schemas.microsoft.com/office/drawing/2010/main">
        <mc:Choice Requires="a14">
          <p:sp>
            <p:nvSpPr>
              <p:cNvPr id="9" name="Content Placeholder 2"/>
              <p:cNvSpPr txBox="1">
                <a:spLocks/>
              </p:cNvSpPr>
              <p:nvPr/>
            </p:nvSpPr>
            <p:spPr bwMode="auto">
              <a:xfrm>
                <a:off x="685800" y="4876800"/>
                <a:ext cx="8077200" cy="106348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9088" indent="-319088" algn="l" rtl="0" eaLnBrk="0" fontAlgn="base" hangingPunct="0">
                  <a:spcBef>
                    <a:spcPts val="700"/>
                  </a:spcBef>
                  <a:spcAft>
                    <a:spcPct val="0"/>
                  </a:spcAft>
                  <a:buClr>
                    <a:schemeClr val="accent2"/>
                  </a:buClr>
                  <a:buSzPct val="60000"/>
                  <a:buFont typeface="Wingdings" pitchFamily="2" charset="2"/>
                  <a:buChar char=""/>
                  <a:defRPr sz="2900" kern="1200">
                    <a:solidFill>
                      <a:schemeClr val="tx1"/>
                    </a:solidFill>
                    <a:latin typeface="+mn-lt"/>
                    <a:ea typeface="+mn-ea"/>
                    <a:cs typeface="+mn-cs"/>
                  </a:defRPr>
                </a:lvl1pPr>
                <a:lvl2pPr marL="639763" indent="-273050" algn="l" rtl="0" eaLnBrk="0" fontAlgn="base" hangingPunct="0">
                  <a:spcBef>
                    <a:spcPts val="550"/>
                  </a:spcBef>
                  <a:spcAft>
                    <a:spcPct val="0"/>
                  </a:spcAft>
                  <a:buClr>
                    <a:schemeClr val="accent1"/>
                  </a:buClr>
                  <a:buSzPct val="70000"/>
                  <a:buFont typeface="Wingdings 2" pitchFamily="18" charset="2"/>
                  <a:buChar char=""/>
                  <a:defRPr sz="2600" kern="1200">
                    <a:solidFill>
                      <a:schemeClr val="tx1"/>
                    </a:solidFill>
                    <a:latin typeface="+mn-lt"/>
                    <a:ea typeface="+mn-ea"/>
                    <a:cs typeface="+mn-cs"/>
                  </a:defRPr>
                </a:lvl2pPr>
                <a:lvl3pPr marL="914400" indent="-228600" algn="l" rtl="0" eaLnBrk="0" fontAlgn="base" hangingPunct="0">
                  <a:spcBef>
                    <a:spcPts val="500"/>
                  </a:spcBef>
                  <a:spcAft>
                    <a:spcPct val="0"/>
                  </a:spcAft>
                  <a:buClr>
                    <a:schemeClr val="accent2"/>
                  </a:buClr>
                  <a:buSzPct val="75000"/>
                  <a:buFont typeface="Wingdings" pitchFamily="2" charset="2"/>
                  <a:buChar char=""/>
                  <a:defRPr sz="2300" kern="1200">
                    <a:solidFill>
                      <a:schemeClr val="tx1"/>
                    </a:solidFill>
                    <a:latin typeface="+mn-lt"/>
                    <a:ea typeface="+mn-ea"/>
                    <a:cs typeface="+mn-cs"/>
                  </a:defRPr>
                </a:lvl3pPr>
                <a:lvl4pPr marL="1371600" indent="-228600" algn="l" rtl="0" eaLnBrk="0" fontAlgn="base" hangingPunct="0">
                  <a:spcBef>
                    <a:spcPts val="400"/>
                  </a:spcBef>
                  <a:spcAft>
                    <a:spcPct val="0"/>
                  </a:spcAft>
                  <a:buClr>
                    <a:srgbClr val="A5AB81"/>
                  </a:buClr>
                  <a:buSzPct val="75000"/>
                  <a:buFont typeface="Wingdings" pitchFamily="2" charset="2"/>
                  <a:buChar char=""/>
                  <a:defRPr sz="2000" kern="1200">
                    <a:solidFill>
                      <a:schemeClr val="tx1"/>
                    </a:solidFill>
                    <a:latin typeface="+mn-lt"/>
                    <a:ea typeface="+mn-ea"/>
                    <a:cs typeface="+mn-cs"/>
                  </a:defRPr>
                </a:lvl4pPr>
                <a:lvl5pPr marL="1828800" indent="-228600" algn="l" rtl="0" eaLnBrk="0" fontAlgn="base" hangingPunct="0">
                  <a:spcBef>
                    <a:spcPts val="400"/>
                  </a:spcBef>
                  <a:spcAft>
                    <a:spcPct val="0"/>
                  </a:spcAft>
                  <a:buClr>
                    <a:srgbClr val="D8B25C"/>
                  </a:buClr>
                  <a:buSzPct val="65000"/>
                  <a:buFont typeface="Wingdings" pitchFamily="2" charset="2"/>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0" lvl="1" algn="r" rtl="1"/>
                <a:r>
                  <a:rPr lang="fa-IR" dirty="0">
                    <a:cs typeface="B Nazanin" panose="00000400000000000000" pitchFamily="2" charset="-78"/>
                  </a:rPr>
                  <a:t>خازن برای سیگنال </a:t>
                </a:r>
                <a:r>
                  <a:rPr lang="en-US" dirty="0">
                    <a:cs typeface="B Nazanin" panose="00000400000000000000" pitchFamily="2" charset="-78"/>
                  </a:rPr>
                  <a:t>AC</a:t>
                </a:r>
                <a:r>
                  <a:rPr lang="fa-IR" dirty="0">
                    <a:cs typeface="B Nazanin" panose="00000400000000000000" pitchFamily="2" charset="-78"/>
                  </a:rPr>
                  <a:t> اتصال کوتاه است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𝑐𝑗</m:t>
                        </m:r>
                        <m:r>
                          <a:rPr lang="en-US" b="0" i="1" smtClean="0">
                            <a:latin typeface="Cambria Math" panose="02040503050406030204" pitchFamily="18" charset="0"/>
                            <a:ea typeface="Cambria Math" panose="02040503050406030204" pitchFamily="18" charset="0"/>
                          </a:rPr>
                          <m:t>𝜔</m:t>
                        </m:r>
                      </m:den>
                    </m:f>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0</m:t>
                    </m:r>
                  </m:oMath>
                </a14:m>
                <a:r>
                  <a:rPr lang="en-US" dirty="0">
                    <a:cs typeface="B Nazanin" panose="00000400000000000000" pitchFamily="2" charset="-78"/>
                  </a:rPr>
                  <a:t> </a:t>
                </a:r>
                <a:r>
                  <a:rPr lang="fa-IR" dirty="0">
                    <a:cs typeface="B Nazanin" panose="00000400000000000000" pitchFamily="2" charset="-78"/>
                  </a:rPr>
                  <a:t> برای فرکانس‌های بالا). بنابراین سیگنال </a:t>
                </a:r>
                <a:r>
                  <a:rPr lang="en-US" dirty="0">
                    <a:cs typeface="B Nazanin" panose="00000400000000000000" pitchFamily="2" charset="-78"/>
                  </a:rPr>
                  <a:t>AC</a:t>
                </a:r>
                <a:r>
                  <a:rPr lang="fa-IR" dirty="0">
                    <a:cs typeface="B Nazanin" panose="00000400000000000000" pitchFamily="2" charset="-78"/>
                  </a:rPr>
                  <a:t> از خازن رد می‌شود.</a:t>
                </a:r>
                <a:endParaRPr lang="en-US" sz="2600" dirty="0">
                  <a:cs typeface="B Nazanin" panose="00000400000000000000" pitchFamily="2" charset="-78"/>
                </a:endParaRPr>
              </a:p>
            </p:txBody>
          </p:sp>
        </mc:Choice>
        <mc:Fallback xmlns="">
          <p:sp>
            <p:nvSpPr>
              <p:cNvPr id="9" name="Content Placeholder 2"/>
              <p:cNvSpPr txBox="1">
                <a:spLocks noRot="1" noChangeAspect="1" noMove="1" noResize="1" noEditPoints="1" noAdjustHandles="1" noChangeArrowheads="1" noChangeShapeType="1" noTextEdit="1"/>
              </p:cNvSpPr>
              <p:nvPr/>
            </p:nvSpPr>
            <p:spPr bwMode="auto">
              <a:xfrm>
                <a:off x="685800" y="4876800"/>
                <a:ext cx="8077200" cy="1063488"/>
              </a:xfrm>
              <a:prstGeom prst="rect">
                <a:avLst/>
              </a:prstGeom>
              <a:blipFill rotWithShape="0">
                <a:blip r:embed="rId3"/>
                <a:stretch>
                  <a:fillRect r="-1283" b="-1954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a-IR">
                    <a:noFill/>
                  </a:rPr>
                  <a:t> </a:t>
                </a:r>
              </a:p>
            </p:txBody>
          </p:sp>
        </mc:Fallback>
      </mc:AlternateContent>
      <p:grpSp>
        <p:nvGrpSpPr>
          <p:cNvPr id="8" name="Group 7"/>
          <p:cNvGrpSpPr/>
          <p:nvPr/>
        </p:nvGrpSpPr>
        <p:grpSpPr>
          <a:xfrm>
            <a:off x="381000" y="1447800"/>
            <a:ext cx="4453168" cy="3408598"/>
            <a:chOff x="685800" y="1447800"/>
            <a:chExt cx="4453168" cy="3408598"/>
          </a:xfrm>
        </p:grpSpPr>
        <p:pic>
          <p:nvPicPr>
            <p:cNvPr id="7" name="Picture 6"/>
            <p:cNvPicPr>
              <a:picLocks noChangeAspect="1"/>
            </p:cNvPicPr>
            <p:nvPr/>
          </p:nvPicPr>
          <p:blipFill>
            <a:blip r:embed="rId4">
              <a:biLevel thresh="75000"/>
              <a:extLst>
                <a:ext uri="{BEBA8EAE-BF5A-486C-A8C5-ECC9F3942E4B}">
                  <a14:imgProps xmlns:a14="http://schemas.microsoft.com/office/drawing/2010/main">
                    <a14:imgLayer r:embed="rId5">
                      <a14:imgEffect>
                        <a14:saturation sat="0"/>
                      </a14:imgEffect>
                    </a14:imgLayer>
                  </a14:imgProps>
                </a:ext>
              </a:extLst>
            </a:blip>
            <a:stretch>
              <a:fillRect/>
            </a:stretch>
          </p:blipFill>
          <p:spPr>
            <a:xfrm>
              <a:off x="685800" y="1447800"/>
              <a:ext cx="4453168" cy="3408598"/>
            </a:xfrm>
            <a:prstGeom prst="rect">
              <a:avLst/>
            </a:prstGeom>
          </p:spPr>
        </p:pic>
        <p:sp>
          <p:nvSpPr>
            <p:cNvPr id="10" name="Oval 9"/>
            <p:cNvSpPr/>
            <p:nvPr/>
          </p:nvSpPr>
          <p:spPr>
            <a:xfrm>
              <a:off x="1371600" y="3200400"/>
              <a:ext cx="457200" cy="457200"/>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3257350" y="2571550"/>
              <a:ext cx="457200" cy="457200"/>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8057163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biLevel thresh="75000"/>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499832" y="2077802"/>
            <a:ext cx="4453168" cy="3408598"/>
          </a:xfrm>
          <a:prstGeom prst="rect">
            <a:avLst/>
          </a:prstGeom>
        </p:spPr>
      </p:pic>
      <p:sp>
        <p:nvSpPr>
          <p:cNvPr id="2" name="Title 1"/>
          <p:cNvSpPr>
            <a:spLocks noGrp="1"/>
          </p:cNvSpPr>
          <p:nvPr>
            <p:ph type="title"/>
          </p:nvPr>
        </p:nvSpPr>
        <p:spPr/>
        <p:txBody>
          <a:bodyPr/>
          <a:lstStyle/>
          <a:p>
            <a:r>
              <a:rPr lang="fa-IR" dirty="0"/>
              <a:t>مثال (ادامه)</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a:xfrm>
                <a:off x="612648" y="1219200"/>
                <a:ext cx="8074152" cy="4876800"/>
              </a:xfrm>
            </p:spPr>
            <p:txBody>
              <a:bodyPr/>
              <a:lstStyle/>
              <a:p>
                <a:r>
                  <a:rPr lang="fa-IR" b="0" dirty="0"/>
                  <a:t>بهره ولتاژ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𝑣</m:t>
                        </m:r>
                      </m:sub>
                    </m:sSub>
                  </m:oMath>
                </a14:m>
                <a:r>
                  <a:rPr lang="en-US" dirty="0"/>
                  <a:t> </a:t>
                </a:r>
                <a:r>
                  <a:rPr lang="fa-IR" dirty="0"/>
                  <a:t> را بیابید.</a:t>
                </a:r>
                <a:r>
                  <a:rPr lang="en-US" dirty="0"/>
                  <a:t>	</a:t>
                </a:r>
                <a:r>
                  <a:rPr lang="en-US" sz="2600" dirty="0"/>
                  <a:t>(</a:t>
                </a:r>
                <a14:m>
                  <m:oMath xmlns:m="http://schemas.openxmlformats.org/officeDocument/2006/math">
                    <m:r>
                      <a:rPr lang="en-US" sz="2600" b="0" i="1" dirty="0" smtClean="0">
                        <a:latin typeface="Cambria Math" panose="02040503050406030204" pitchFamily="18" charset="0"/>
                      </a:rPr>
                      <m:t>𝐾</m:t>
                    </m:r>
                    <m:r>
                      <a:rPr lang="en-US" sz="2600" b="0" i="1" dirty="0" smtClean="0">
                        <a:latin typeface="Cambria Math" panose="02040503050406030204" pitchFamily="18" charset="0"/>
                      </a:rPr>
                      <m:t>=</m:t>
                    </m:r>
                    <m:r>
                      <a:rPr lang="en-US" sz="2600" b="0" i="1" dirty="0" smtClean="0">
                        <a:latin typeface="Cambria Math" panose="02040503050406030204" pitchFamily="18" charset="0"/>
                      </a:rPr>
                      <m:t>0</m:t>
                    </m:r>
                    <m:r>
                      <a:rPr lang="en-US" sz="2600" b="0" i="1" dirty="0" smtClean="0">
                        <a:latin typeface="Cambria Math" panose="02040503050406030204" pitchFamily="18" charset="0"/>
                      </a:rPr>
                      <m:t>.</m:t>
                    </m:r>
                    <m:r>
                      <a:rPr lang="en-US" sz="2600" b="0" i="1" dirty="0" smtClean="0">
                        <a:latin typeface="Cambria Math" panose="02040503050406030204" pitchFamily="18" charset="0"/>
                      </a:rPr>
                      <m:t>25</m:t>
                    </m:r>
                    <m:f>
                      <m:fPr>
                        <m:ctrlPr>
                          <a:rPr lang="en-US" sz="2600" b="0" i="1" dirty="0" smtClean="0">
                            <a:latin typeface="Cambria Math" panose="02040503050406030204" pitchFamily="18" charset="0"/>
                          </a:rPr>
                        </m:ctrlPr>
                      </m:fPr>
                      <m:num>
                        <m:r>
                          <a:rPr lang="en-US" sz="2600" b="0" i="1" dirty="0" smtClean="0">
                            <a:latin typeface="Cambria Math" panose="02040503050406030204" pitchFamily="18" charset="0"/>
                          </a:rPr>
                          <m:t>𝑚𝐴</m:t>
                        </m:r>
                      </m:num>
                      <m:den>
                        <m:sSup>
                          <m:sSupPr>
                            <m:ctrlPr>
                              <a:rPr lang="en-US" sz="2600" b="0" i="1" dirty="0" smtClean="0">
                                <a:latin typeface="Cambria Math" panose="02040503050406030204" pitchFamily="18" charset="0"/>
                              </a:rPr>
                            </m:ctrlPr>
                          </m:sSupPr>
                          <m:e>
                            <m:r>
                              <m:rPr>
                                <m:sty m:val="p"/>
                              </m:rPr>
                              <a:rPr lang="en-US" sz="2600" b="0" i="0" dirty="0" smtClean="0">
                                <a:latin typeface="Cambria Math" panose="02040503050406030204" pitchFamily="18" charset="0"/>
                              </a:rPr>
                              <m:t>V</m:t>
                            </m:r>
                          </m:e>
                          <m:sup>
                            <m:r>
                              <a:rPr lang="en-US" sz="2600" b="0" i="0" dirty="0" smtClean="0">
                                <a:latin typeface="Cambria Math" panose="02040503050406030204" pitchFamily="18" charset="0"/>
                              </a:rPr>
                              <m:t>2</m:t>
                            </m:r>
                          </m:sup>
                        </m:sSup>
                      </m:den>
                    </m:f>
                  </m:oMath>
                </a14:m>
                <a:r>
                  <a:rPr lang="en-US" sz="2600" dirty="0"/>
                  <a:t>, </a:t>
                </a:r>
                <a14:m>
                  <m:oMath xmlns:m="http://schemas.openxmlformats.org/officeDocument/2006/math">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𝑉</m:t>
                        </m:r>
                      </m:e>
                      <m:sub>
                        <m:r>
                          <a:rPr lang="en-US" sz="2600" b="0" i="1" smtClean="0">
                            <a:latin typeface="Cambria Math" panose="02040503050406030204" pitchFamily="18" charset="0"/>
                          </a:rPr>
                          <m:t>𝑡</m:t>
                        </m:r>
                      </m:sub>
                    </m:sSub>
                    <m:r>
                      <a:rPr lang="en-US" sz="2600" b="0" i="1" smtClean="0">
                        <a:latin typeface="Cambria Math" panose="02040503050406030204" pitchFamily="18" charset="0"/>
                      </a:rPr>
                      <m:t>=</m:t>
                    </m:r>
                    <m:r>
                      <a:rPr lang="en-US" sz="2600" b="0" i="1" smtClean="0">
                        <a:latin typeface="Cambria Math" panose="02040503050406030204" pitchFamily="18" charset="0"/>
                      </a:rPr>
                      <m:t>1</m:t>
                    </m:r>
                    <m:r>
                      <a:rPr lang="en-US" sz="2600" b="0" i="1" smtClean="0">
                        <a:latin typeface="Cambria Math" panose="02040503050406030204" pitchFamily="18" charset="0"/>
                      </a:rPr>
                      <m:t>.</m:t>
                    </m:r>
                    <m:r>
                      <a:rPr lang="en-US" sz="2600" b="0" i="1" smtClean="0">
                        <a:latin typeface="Cambria Math" panose="02040503050406030204" pitchFamily="18" charset="0"/>
                      </a:rPr>
                      <m:t>5</m:t>
                    </m:r>
                  </m:oMath>
                </a14:m>
                <a:r>
                  <a:rPr lang="en-US" sz="2600" dirty="0"/>
                  <a:t>)</a:t>
                </a:r>
              </a:p>
              <a:p>
                <a:r>
                  <a:rPr lang="fa-IR" dirty="0"/>
                  <a:t>تحلیل </a:t>
                </a:r>
                <a:r>
                  <a:rPr lang="en-US" dirty="0"/>
                  <a:t>DC</a:t>
                </a:r>
              </a:p>
              <a:p>
                <a:pPr lvl="1"/>
                <a:r>
                  <a:rPr lang="fa-IR" dirty="0"/>
                  <a:t>خازن‌ها مدار باز هستند.</a:t>
                </a:r>
                <a:endParaRPr lang="en-US" dirty="0"/>
              </a:p>
              <a:p>
                <a:pPr lvl="1"/>
                <a:r>
                  <a:rPr lang="fa-IR" dirty="0"/>
                  <a:t>بایاس و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𝑚</m:t>
                        </m:r>
                      </m:sub>
                    </m:sSub>
                  </m:oMath>
                </a14:m>
                <a:r>
                  <a:rPr lang="fa-IR" baseline="-25000" dirty="0"/>
                  <a:t> </a:t>
                </a:r>
                <a:r>
                  <a:rPr lang="fa-IR" dirty="0"/>
                  <a:t>را بیابید.</a:t>
                </a:r>
                <a:endParaRPr lang="en-US" dirty="0"/>
              </a:p>
              <a:p>
                <a:r>
                  <a:rPr lang="fa-IR" dirty="0"/>
                  <a:t>تحلیل </a:t>
                </a:r>
                <a:r>
                  <a:rPr lang="en-US" dirty="0"/>
                  <a:t>AC</a:t>
                </a:r>
              </a:p>
              <a:p>
                <a:pPr lvl="1"/>
                <a:r>
                  <a:rPr lang="fa-IR" dirty="0"/>
                  <a:t>خازن‌ها اتصال کوتاهند.</a:t>
                </a:r>
              </a:p>
              <a:p>
                <a:pPr lvl="1"/>
                <a:r>
                  <a:rPr lang="fa-IR" dirty="0"/>
                  <a:t>بهره </a:t>
                </a:r>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𝑣</m:t>
                        </m:r>
                      </m:sub>
                    </m:sSub>
                  </m:oMath>
                </a14:m>
                <a:r>
                  <a:rPr lang="fa-IR" dirty="0"/>
                  <a:t>را بیابید.</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xfrm>
                <a:off x="612648" y="1219200"/>
                <a:ext cx="8074152" cy="4876800"/>
              </a:xfrm>
              <a:blipFill rotWithShape="0">
                <a:blip r:embed="rId5"/>
                <a:stretch>
                  <a:fillRect r="-453"/>
                </a:stretch>
              </a:blipFill>
            </p:spPr>
            <p:txBody>
              <a:bodyPr/>
              <a:lstStyle/>
              <a:p>
                <a:r>
                  <a:rPr lang="fa-IR">
                    <a:noFill/>
                  </a:rPr>
                  <a:t> </a:t>
                </a:r>
              </a:p>
            </p:txBody>
          </p:sp>
        </mc:Fallback>
      </mc:AlternateContent>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12. ترانزیستور (ادامه)</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37</a:t>
            </a:fld>
            <a:endParaRPr lang="en-US" altLang="en-US" dirty="0"/>
          </a:p>
        </p:txBody>
      </p:sp>
    </p:spTree>
    <p:extLst>
      <p:ext uri="{BB962C8B-B14F-4D97-AF65-F5344CB8AC3E}">
        <p14:creationId xmlns:p14="http://schemas.microsoft.com/office/powerpoint/2010/main" val="26802588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biLevel thresh="75000"/>
          </a:blip>
          <a:stretch>
            <a:fillRect/>
          </a:stretch>
        </p:blipFill>
        <p:spPr>
          <a:xfrm>
            <a:off x="381000" y="1147763"/>
            <a:ext cx="3514725" cy="3849786"/>
          </a:xfrm>
          <a:prstGeom prst="rect">
            <a:avLst/>
          </a:prstGeom>
        </p:spPr>
      </p:pic>
      <p:sp>
        <p:nvSpPr>
          <p:cNvPr id="2" name="Title 1"/>
          <p:cNvSpPr>
            <a:spLocks noGrp="1"/>
          </p:cNvSpPr>
          <p:nvPr>
            <p:ph type="title"/>
          </p:nvPr>
        </p:nvSpPr>
        <p:spPr/>
        <p:txBody>
          <a:bodyPr/>
          <a:lstStyle/>
          <a:p>
            <a:r>
              <a:rPr lang="fa-IR" dirty="0"/>
              <a:t>مثال (ادامه: تحلیل </a:t>
            </a:r>
            <a:r>
              <a:rPr lang="en-US" dirty="0"/>
              <a:t>DC</a:t>
            </a:r>
            <a:r>
              <a:rPr lang="fa-IR" dirty="0"/>
              <a:t>)</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a:xfrm>
                <a:off x="612648" y="1219200"/>
                <a:ext cx="8074152" cy="4876800"/>
              </a:xfrm>
            </p:spPr>
            <p:txBody>
              <a:bodyPr/>
              <a:lstStyle/>
              <a:p>
                <a:pPr lvl="0">
                  <a:buClr>
                    <a:srgbClr val="DD8047"/>
                  </a:buClr>
                </a:pPr>
                <a:r>
                  <a:rPr lang="en-US" sz="2600" dirty="0">
                    <a:solidFill>
                      <a:prstClr val="black"/>
                    </a:solidFill>
                  </a:rPr>
                  <a:t>(</a:t>
                </a:r>
                <a14:m>
                  <m:oMath xmlns:m="http://schemas.openxmlformats.org/officeDocument/2006/math">
                    <m:r>
                      <a:rPr lang="en-US" sz="2600" b="0" i="1" dirty="0" smtClean="0">
                        <a:solidFill>
                          <a:prstClr val="black"/>
                        </a:solidFill>
                        <a:latin typeface="Cambria Math" panose="02040503050406030204" pitchFamily="18" charset="0"/>
                      </a:rPr>
                      <m:t>𝐾</m:t>
                    </m:r>
                    <m:r>
                      <a:rPr lang="en-US" sz="2600" i="1" dirty="0">
                        <a:solidFill>
                          <a:prstClr val="black"/>
                        </a:solidFill>
                        <a:latin typeface="Cambria Math" panose="02040503050406030204" pitchFamily="18" charset="0"/>
                      </a:rPr>
                      <m:t>=</m:t>
                    </m:r>
                    <m:r>
                      <a:rPr lang="en-US" sz="2600" i="1" dirty="0">
                        <a:solidFill>
                          <a:prstClr val="black"/>
                        </a:solidFill>
                        <a:latin typeface="Cambria Math" panose="02040503050406030204" pitchFamily="18" charset="0"/>
                      </a:rPr>
                      <m:t>0</m:t>
                    </m:r>
                    <m:r>
                      <a:rPr lang="en-US" sz="2600" i="1" dirty="0">
                        <a:solidFill>
                          <a:prstClr val="black"/>
                        </a:solidFill>
                        <a:latin typeface="Cambria Math" panose="02040503050406030204" pitchFamily="18" charset="0"/>
                      </a:rPr>
                      <m:t>.</m:t>
                    </m:r>
                    <m:r>
                      <a:rPr lang="en-US" sz="2600" i="1" dirty="0">
                        <a:solidFill>
                          <a:prstClr val="black"/>
                        </a:solidFill>
                        <a:latin typeface="Cambria Math" panose="02040503050406030204" pitchFamily="18" charset="0"/>
                      </a:rPr>
                      <m:t>25</m:t>
                    </m:r>
                    <m:f>
                      <m:fPr>
                        <m:ctrlPr>
                          <a:rPr lang="en-US" sz="2600" i="1" dirty="0">
                            <a:solidFill>
                              <a:prstClr val="black"/>
                            </a:solidFill>
                            <a:latin typeface="Cambria Math" panose="02040503050406030204" pitchFamily="18" charset="0"/>
                          </a:rPr>
                        </m:ctrlPr>
                      </m:fPr>
                      <m:num>
                        <m:r>
                          <a:rPr lang="en-US" sz="2600" i="1" dirty="0">
                            <a:solidFill>
                              <a:prstClr val="black"/>
                            </a:solidFill>
                            <a:latin typeface="Cambria Math" panose="02040503050406030204" pitchFamily="18" charset="0"/>
                          </a:rPr>
                          <m:t>𝑚𝐴</m:t>
                        </m:r>
                      </m:num>
                      <m:den>
                        <m:sSup>
                          <m:sSupPr>
                            <m:ctrlPr>
                              <a:rPr lang="en-US" sz="2600" i="1" dirty="0">
                                <a:solidFill>
                                  <a:prstClr val="black"/>
                                </a:solidFill>
                                <a:latin typeface="Cambria Math" panose="02040503050406030204" pitchFamily="18" charset="0"/>
                              </a:rPr>
                            </m:ctrlPr>
                          </m:sSupPr>
                          <m:e>
                            <m:r>
                              <m:rPr>
                                <m:sty m:val="p"/>
                              </m:rPr>
                              <a:rPr lang="en-US" sz="2600" dirty="0">
                                <a:solidFill>
                                  <a:prstClr val="black"/>
                                </a:solidFill>
                                <a:latin typeface="Cambria Math" panose="02040503050406030204" pitchFamily="18" charset="0"/>
                              </a:rPr>
                              <m:t>V</m:t>
                            </m:r>
                          </m:e>
                          <m:sup>
                            <m:r>
                              <a:rPr lang="en-US" sz="2600" dirty="0">
                                <a:solidFill>
                                  <a:prstClr val="black"/>
                                </a:solidFill>
                                <a:latin typeface="Cambria Math" panose="02040503050406030204" pitchFamily="18" charset="0"/>
                              </a:rPr>
                              <m:t>2</m:t>
                            </m:r>
                          </m:sup>
                        </m:sSup>
                      </m:den>
                    </m:f>
                  </m:oMath>
                </a14:m>
                <a:r>
                  <a:rPr lang="en-US" sz="2600" dirty="0">
                    <a:solidFill>
                      <a:prstClr val="black"/>
                    </a:solidFill>
                  </a:rPr>
                  <a:t>, </a:t>
                </a:r>
                <a14:m>
                  <m:oMath xmlns:m="http://schemas.openxmlformats.org/officeDocument/2006/math">
                    <m:sSub>
                      <m:sSubPr>
                        <m:ctrlPr>
                          <a:rPr lang="en-US" sz="2600" i="1">
                            <a:solidFill>
                              <a:prstClr val="black"/>
                            </a:solidFill>
                            <a:latin typeface="Cambria Math" panose="02040503050406030204" pitchFamily="18" charset="0"/>
                          </a:rPr>
                        </m:ctrlPr>
                      </m:sSubPr>
                      <m:e>
                        <m:r>
                          <a:rPr lang="en-US" sz="2600" i="1">
                            <a:solidFill>
                              <a:prstClr val="black"/>
                            </a:solidFill>
                            <a:latin typeface="Cambria Math" panose="02040503050406030204" pitchFamily="18" charset="0"/>
                          </a:rPr>
                          <m:t>𝑉</m:t>
                        </m:r>
                      </m:e>
                      <m:sub>
                        <m:r>
                          <a:rPr lang="en-US" sz="2600" i="1">
                            <a:solidFill>
                              <a:prstClr val="black"/>
                            </a:solidFill>
                            <a:latin typeface="Cambria Math" panose="02040503050406030204" pitchFamily="18" charset="0"/>
                          </a:rPr>
                          <m:t>𝑡</m:t>
                        </m:r>
                      </m:sub>
                    </m:sSub>
                    <m:r>
                      <a:rPr lang="en-US" sz="2600" i="1">
                        <a:solidFill>
                          <a:prstClr val="black"/>
                        </a:solidFill>
                        <a:latin typeface="Cambria Math" panose="02040503050406030204" pitchFamily="18" charset="0"/>
                      </a:rPr>
                      <m:t>=</m:t>
                    </m:r>
                    <m:r>
                      <a:rPr lang="en-US" sz="2600" i="1">
                        <a:solidFill>
                          <a:prstClr val="black"/>
                        </a:solidFill>
                        <a:latin typeface="Cambria Math" panose="02040503050406030204" pitchFamily="18" charset="0"/>
                      </a:rPr>
                      <m:t>1</m:t>
                    </m:r>
                    <m:r>
                      <a:rPr lang="en-US" sz="2600" i="1">
                        <a:solidFill>
                          <a:prstClr val="black"/>
                        </a:solidFill>
                        <a:latin typeface="Cambria Math" panose="02040503050406030204" pitchFamily="18" charset="0"/>
                      </a:rPr>
                      <m:t>.</m:t>
                    </m:r>
                    <m:r>
                      <a:rPr lang="en-US" sz="2600" i="1">
                        <a:solidFill>
                          <a:prstClr val="black"/>
                        </a:solidFill>
                        <a:latin typeface="Cambria Math" panose="02040503050406030204" pitchFamily="18" charset="0"/>
                      </a:rPr>
                      <m:t>5</m:t>
                    </m:r>
                  </m:oMath>
                </a14:m>
                <a:r>
                  <a:rPr lang="en-US" sz="2600" dirty="0">
                    <a:solidFill>
                      <a:prstClr val="black"/>
                    </a:solidFill>
                  </a:rPr>
                  <a:t>)</a:t>
                </a:r>
                <a:endParaRPr lang="en-US" dirty="0"/>
              </a:p>
              <a:p>
                <a14:m>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𝐼</m:t>
                        </m:r>
                      </m:e>
                      <m:sub>
                        <m:r>
                          <a:rPr lang="en-US" sz="2800" b="0" i="1" smtClean="0">
                            <a:latin typeface="Cambria Math" panose="02040503050406030204" pitchFamily="18" charset="0"/>
                          </a:rPr>
                          <m:t>𝐺</m:t>
                        </m:r>
                      </m:sub>
                    </m:sSub>
                    <m:r>
                      <a:rPr lang="en-US" sz="2800" b="0" i="1" smtClean="0">
                        <a:latin typeface="Cambria Math" panose="02040503050406030204" pitchFamily="18" charset="0"/>
                      </a:rPr>
                      <m:t>=</m:t>
                    </m:r>
                    <m:r>
                      <a:rPr lang="en-US" sz="2800" b="0" i="1" smtClean="0">
                        <a:latin typeface="Cambria Math" panose="02040503050406030204" pitchFamily="18" charset="0"/>
                      </a:rPr>
                      <m:t>0</m:t>
                    </m:r>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𝑉</m:t>
                        </m:r>
                      </m:e>
                      <m:sub>
                        <m:r>
                          <a:rPr lang="en-US" sz="2800" b="0" i="1" smtClean="0">
                            <a:latin typeface="Cambria Math" panose="02040503050406030204" pitchFamily="18" charset="0"/>
                          </a:rPr>
                          <m:t>𝐺𝑆</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𝑉</m:t>
                        </m:r>
                      </m:e>
                      <m:sub>
                        <m:r>
                          <a:rPr lang="en-US" sz="2800" b="0" i="1" smtClean="0">
                            <a:latin typeface="Cambria Math" panose="02040503050406030204" pitchFamily="18" charset="0"/>
                          </a:rPr>
                          <m:t>𝐷𝑆</m:t>
                        </m:r>
                      </m:sub>
                    </m:sSub>
                  </m:oMath>
                </a14:m>
                <a:endParaRPr lang="en-US" sz="2800" b="0" dirty="0"/>
              </a:p>
              <a:p>
                <a14:m>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𝑉</m:t>
                        </m:r>
                      </m:e>
                      <m:sub>
                        <m:r>
                          <a:rPr lang="en-US" sz="2800" b="0" i="1" smtClean="0">
                            <a:latin typeface="Cambria Math" panose="02040503050406030204" pitchFamily="18" charset="0"/>
                          </a:rPr>
                          <m:t>𝐷𝑆</m:t>
                        </m:r>
                      </m:sub>
                    </m:sSub>
                    <m:r>
                      <a:rPr lang="en-US" sz="2800" b="0" i="1" smtClean="0">
                        <a:latin typeface="Cambria Math" panose="02040503050406030204" pitchFamily="18" charset="0"/>
                      </a:rPr>
                      <m:t>=</m:t>
                    </m:r>
                    <m:r>
                      <a:rPr lang="en-US" sz="2800" b="0" i="1" smtClean="0">
                        <a:latin typeface="Cambria Math" panose="02040503050406030204" pitchFamily="18" charset="0"/>
                      </a:rPr>
                      <m:t>15</m:t>
                    </m:r>
                    <m:r>
                      <a:rPr lang="en-US" sz="2800" b="0" i="1" smtClean="0">
                        <a:latin typeface="Cambria Math" panose="02040503050406030204" pitchFamily="18" charset="0"/>
                      </a:rPr>
                      <m:t>−</m:t>
                    </m:r>
                    <m:r>
                      <a:rPr lang="en-US" sz="2800" b="0" i="1" smtClean="0">
                        <a:latin typeface="Cambria Math" panose="02040503050406030204" pitchFamily="18" charset="0"/>
                      </a:rPr>
                      <m:t>10000</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𝐼</m:t>
                        </m:r>
                      </m:e>
                      <m:sub>
                        <m:r>
                          <a:rPr lang="en-US" sz="2800" b="0" i="1" smtClean="0">
                            <a:latin typeface="Cambria Math" panose="02040503050406030204" pitchFamily="18" charset="0"/>
                          </a:rPr>
                          <m:t>𝐷𝑆</m:t>
                        </m:r>
                      </m:sub>
                    </m:sSub>
                  </m:oMath>
                </a14:m>
                <a:endParaRPr lang="en-US" sz="2800" b="0" dirty="0"/>
              </a:p>
              <a:p>
                <a:r>
                  <a:rPr lang="fa-IR" sz="2800" b="0" dirty="0"/>
                  <a:t>فرض قطع:</a:t>
                </a:r>
                <a:endParaRPr lang="en-US" sz="2800" b="0" dirty="0"/>
              </a:p>
              <a:p>
                <a:pPr lvl="1"/>
                <a14:m>
                  <m:oMath xmlns:m="http://schemas.openxmlformats.org/officeDocument/2006/math">
                    <m:r>
                      <a:rPr lang="en-US" sz="2400" b="0" i="0"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𝐼</m:t>
                        </m:r>
                      </m:e>
                      <m:sub>
                        <m:r>
                          <a:rPr lang="en-US" sz="2400" b="0" i="1" smtClean="0">
                            <a:latin typeface="Cambria Math" panose="02040503050406030204" pitchFamily="18" charset="0"/>
                          </a:rPr>
                          <m:t>𝐷𝑆</m:t>
                        </m:r>
                      </m:sub>
                    </m:sSub>
                    <m:r>
                      <a:rPr lang="en-US" sz="2400" b="0" i="1" smtClean="0">
                        <a:latin typeface="Cambria Math" panose="02040503050406030204" pitchFamily="18" charset="0"/>
                      </a:rPr>
                      <m:t>=</m:t>
                    </m:r>
                    <m:r>
                      <a:rPr lang="en-US" sz="2400" b="0" i="1" smtClean="0">
                        <a:latin typeface="Cambria Math" panose="02040503050406030204" pitchFamily="18" charset="0"/>
                      </a:rPr>
                      <m:t>0</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𝐷𝑆</m:t>
                        </m:r>
                      </m:sub>
                    </m:sSub>
                    <m:r>
                      <a:rPr lang="en-US" sz="2400" b="0" i="1" smtClean="0">
                        <a:latin typeface="Cambria Math" panose="02040503050406030204" pitchFamily="18" charset="0"/>
                      </a:rPr>
                      <m:t>=</m:t>
                    </m:r>
                    <m:r>
                      <a:rPr lang="en-US" sz="2400" b="0" i="1" smtClean="0">
                        <a:latin typeface="Cambria Math" panose="02040503050406030204" pitchFamily="18" charset="0"/>
                      </a:rPr>
                      <m:t>15</m:t>
                    </m:r>
                  </m:oMath>
                </a14:m>
                <a:endParaRPr lang="en-US" sz="2400" dirty="0"/>
              </a:p>
              <a:p>
                <a:pPr lvl="1"/>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𝐺𝑆</m:t>
                        </m:r>
                      </m:sub>
                    </m:sSub>
                    <m:r>
                      <a:rPr lang="en-US" sz="2400" b="0" i="1" smtClean="0">
                        <a:latin typeface="Cambria Math" panose="02040503050406030204" pitchFamily="18" charset="0"/>
                      </a:rPr>
                      <m:t>=</m:t>
                    </m:r>
                    <m:r>
                      <a:rPr lang="en-US" sz="2400" b="0" i="1" smtClean="0">
                        <a:latin typeface="Cambria Math" panose="02040503050406030204" pitchFamily="18" charset="0"/>
                      </a:rPr>
                      <m:t>15</m:t>
                    </m:r>
                    <m:r>
                      <a:rPr lang="en-US" sz="2400" b="0" i="1" smtClean="0">
                        <a:solidFill>
                          <a:srgbClr val="FF0000"/>
                        </a:solidFill>
                        <a:latin typeface="Cambria Math" panose="02040503050406030204" pitchFamily="18" charset="0"/>
                      </a:rPr>
                      <m:t>&gt;</m:t>
                    </m:r>
                    <m:sSub>
                      <m:sSubPr>
                        <m:ctrlPr>
                          <a:rPr lang="en-US" sz="2400" b="0" i="1" smtClean="0">
                            <a:solidFill>
                              <a:srgbClr val="FF0000"/>
                            </a:solidFill>
                            <a:latin typeface="Cambria Math" panose="02040503050406030204" pitchFamily="18" charset="0"/>
                          </a:rPr>
                        </m:ctrlPr>
                      </m:sSubPr>
                      <m:e>
                        <m:r>
                          <a:rPr lang="en-US" sz="2400" b="0" i="1" smtClean="0">
                            <a:solidFill>
                              <a:srgbClr val="FF0000"/>
                            </a:solidFill>
                            <a:latin typeface="Cambria Math" panose="02040503050406030204" pitchFamily="18" charset="0"/>
                          </a:rPr>
                          <m:t>𝑉</m:t>
                        </m:r>
                      </m:e>
                      <m:sub>
                        <m:r>
                          <a:rPr lang="en-US" sz="2400" b="0" i="1" smtClean="0">
                            <a:solidFill>
                              <a:srgbClr val="FF0000"/>
                            </a:solidFill>
                            <a:latin typeface="Cambria Math" panose="02040503050406030204" pitchFamily="18" charset="0"/>
                          </a:rPr>
                          <m:t>𝑡</m:t>
                        </m:r>
                      </m:sub>
                    </m:sSub>
                    <m:r>
                      <a:rPr lang="en-US" sz="2400" b="0" i="1" smtClean="0">
                        <a:solidFill>
                          <a:srgbClr val="FF0000"/>
                        </a:solidFill>
                        <a:latin typeface="Cambria Math" panose="02040503050406030204" pitchFamily="18" charset="0"/>
                        <a:ea typeface="Cambria Math" panose="02040503050406030204" pitchFamily="18" charset="0"/>
                      </a:rPr>
                      <m:t>×</m:t>
                    </m:r>
                  </m:oMath>
                </a14:m>
                <a:endParaRPr lang="en-US" sz="2400" dirty="0">
                  <a:solidFill>
                    <a:srgbClr val="FF0000"/>
                  </a:solidFill>
                </a:endParaRPr>
              </a:p>
              <a:p>
                <a:r>
                  <a:rPr lang="fa-IR" sz="2800" dirty="0"/>
                  <a:t>فرض اشباع:</a:t>
                </a:r>
                <a:endParaRPr lang="en-US" sz="2800" dirty="0"/>
              </a:p>
              <a:p>
                <a:pPr lvl="1"/>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𝐼</m:t>
                        </m:r>
                      </m:e>
                      <m:sub>
                        <m:r>
                          <a:rPr lang="en-US" sz="2400" b="0" i="1" smtClean="0">
                            <a:latin typeface="Cambria Math" panose="02040503050406030204" pitchFamily="18" charset="0"/>
                          </a:rPr>
                          <m:t>𝐷𝑆</m:t>
                        </m:r>
                      </m:sub>
                    </m:sSub>
                    <m:r>
                      <a:rPr lang="en-US" sz="2400" b="0" i="1" smtClean="0">
                        <a:latin typeface="Cambria Math" panose="02040503050406030204" pitchFamily="18" charset="0"/>
                      </a:rPr>
                      <m:t>=</m:t>
                    </m:r>
                    <m:r>
                      <a:rPr lang="en-US" sz="2400" b="0" i="1" smtClean="0">
                        <a:latin typeface="Cambria Math" panose="02040503050406030204" pitchFamily="18" charset="0"/>
                      </a:rPr>
                      <m:t>0</m:t>
                    </m:r>
                    <m:r>
                      <a:rPr lang="en-US" sz="2400" b="0" i="1" smtClean="0">
                        <a:latin typeface="Cambria Math" panose="02040503050406030204" pitchFamily="18" charset="0"/>
                      </a:rPr>
                      <m:t>.</m:t>
                    </m:r>
                    <m:r>
                      <a:rPr lang="en-US" sz="2400" b="0" i="1" smtClean="0">
                        <a:latin typeface="Cambria Math" panose="02040503050406030204" pitchFamily="18" charset="0"/>
                      </a:rPr>
                      <m:t>125</m:t>
                    </m:r>
                    <m:sSup>
                      <m:sSupPr>
                        <m:ctrlPr>
                          <a:rPr lang="en-US" sz="2400" b="0" i="1" smtClean="0">
                            <a:latin typeface="Cambria Math" panose="02040503050406030204" pitchFamily="18" charset="0"/>
                          </a:rPr>
                        </m:ctrlPr>
                      </m:sSupPr>
                      <m:e>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𝐺𝑆</m:t>
                                </m:r>
                              </m:sub>
                            </m:sSub>
                            <m:r>
                              <a:rPr lang="en-US" sz="2400" b="0" i="1" smtClean="0">
                                <a:latin typeface="Cambria Math" panose="02040503050406030204" pitchFamily="18" charset="0"/>
                              </a:rPr>
                              <m:t>−</m:t>
                            </m:r>
                            <m:r>
                              <a:rPr lang="en-US" sz="2400" b="0" i="1" smtClean="0">
                                <a:latin typeface="Cambria Math" panose="02040503050406030204" pitchFamily="18" charset="0"/>
                              </a:rPr>
                              <m:t>1</m:t>
                            </m:r>
                            <m:r>
                              <a:rPr lang="en-US" sz="2400" b="0" i="1" smtClean="0">
                                <a:latin typeface="Cambria Math" panose="02040503050406030204" pitchFamily="18" charset="0"/>
                              </a:rPr>
                              <m:t>.</m:t>
                            </m:r>
                            <m:r>
                              <a:rPr lang="en-US" sz="2400" b="0" i="1" smtClean="0">
                                <a:latin typeface="Cambria Math" panose="02040503050406030204" pitchFamily="18" charset="0"/>
                              </a:rPr>
                              <m:t>5</m:t>
                            </m:r>
                          </m:e>
                        </m:d>
                      </m:e>
                      <m:sup>
                        <m:r>
                          <a:rPr lang="en-US" sz="2400" b="0" i="1" smtClean="0">
                            <a:latin typeface="Cambria Math" panose="02040503050406030204" pitchFamily="18" charset="0"/>
                          </a:rPr>
                          <m:t>2</m:t>
                        </m:r>
                      </m:sup>
                    </m:sSup>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𝐼</m:t>
                        </m:r>
                      </m:e>
                      <m:sub>
                        <m:r>
                          <a:rPr lang="en-US" sz="2400" b="0" i="1" smtClean="0">
                            <a:latin typeface="Cambria Math" panose="02040503050406030204" pitchFamily="18" charset="0"/>
                          </a:rPr>
                          <m:t>𝐷𝑆</m:t>
                        </m:r>
                      </m:sub>
                    </m:sSub>
                    <m:r>
                      <a:rPr lang="en-US" sz="2400" b="0" i="1" smtClean="0">
                        <a:latin typeface="Cambria Math" panose="02040503050406030204" pitchFamily="18" charset="0"/>
                      </a:rPr>
                      <m:t>=</m:t>
                    </m:r>
                    <m:r>
                      <a:rPr lang="en-US" sz="2400" b="0" i="1" smtClean="0">
                        <a:latin typeface="Cambria Math" panose="02040503050406030204" pitchFamily="18" charset="0"/>
                      </a:rPr>
                      <m:t>1</m:t>
                    </m:r>
                    <m:r>
                      <a:rPr lang="en-US" sz="2400" b="0" i="1" smtClean="0">
                        <a:latin typeface="Cambria Math" panose="02040503050406030204" pitchFamily="18" charset="0"/>
                      </a:rPr>
                      <m:t>.</m:t>
                    </m:r>
                    <m:r>
                      <a:rPr lang="en-US" sz="2400" b="0" i="1" smtClean="0">
                        <a:latin typeface="Cambria Math" panose="02040503050406030204" pitchFamily="18" charset="0"/>
                      </a:rPr>
                      <m:t>06</m:t>
                    </m:r>
                    <m:r>
                      <a:rPr lang="en-US" sz="2400" b="0" i="1" smtClean="0">
                        <a:latin typeface="Cambria Math" panose="02040503050406030204" pitchFamily="18" charset="0"/>
                      </a:rPr>
                      <m:t>𝑚𝐴</m:t>
                    </m:r>
                  </m:oMath>
                </a14:m>
                <a:endParaRPr lang="en-US" sz="2400" b="0" dirty="0"/>
              </a:p>
              <a:p>
                <a:pPr lvl="1"/>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𝐺𝑆</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𝐷𝑆</m:t>
                        </m:r>
                      </m:sub>
                    </m:sSub>
                    <m:r>
                      <a:rPr lang="en-US" sz="2400" b="0" i="1" smtClean="0">
                        <a:latin typeface="Cambria Math" panose="02040503050406030204" pitchFamily="18" charset="0"/>
                      </a:rPr>
                      <m:t>=</m:t>
                    </m:r>
                    <m:r>
                      <a:rPr lang="en-US" sz="2400" b="0" i="1" smtClean="0">
                        <a:latin typeface="Cambria Math" panose="02040503050406030204" pitchFamily="18" charset="0"/>
                      </a:rPr>
                      <m:t>4</m:t>
                    </m:r>
                    <m:r>
                      <a:rPr lang="en-US" sz="2400" b="0" i="1" smtClean="0">
                        <a:latin typeface="Cambria Math" panose="02040503050406030204" pitchFamily="18" charset="0"/>
                      </a:rPr>
                      <m:t>.</m:t>
                    </m:r>
                    <m:r>
                      <a:rPr lang="en-US" sz="2400" b="0" i="1" smtClean="0">
                        <a:latin typeface="Cambria Math" panose="02040503050406030204" pitchFamily="18" charset="0"/>
                      </a:rPr>
                      <m:t>4</m:t>
                    </m:r>
                    <m:r>
                      <a:rPr lang="en-US" sz="2400" b="0" i="1" smtClean="0">
                        <a:latin typeface="Cambria Math" panose="02040503050406030204" pitchFamily="18" charset="0"/>
                      </a:rPr>
                      <m:t>𝑉</m:t>
                    </m:r>
                  </m:oMath>
                </a14:m>
                <a:endParaRPr lang="en-US" sz="2400" b="0" dirty="0"/>
              </a:p>
              <a:p>
                <a:pPr lvl="1"/>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𝑔</m:t>
                        </m:r>
                      </m:e>
                      <m:sub>
                        <m:r>
                          <a:rPr lang="en-US" sz="2400" b="0" i="1" smtClean="0">
                            <a:latin typeface="Cambria Math" panose="02040503050406030204" pitchFamily="18" charset="0"/>
                          </a:rPr>
                          <m:t>𝑚</m:t>
                        </m:r>
                      </m:sub>
                    </m:sSub>
                    <m:r>
                      <a:rPr lang="en-US" sz="2400" b="0" i="1" smtClean="0">
                        <a:latin typeface="Cambria Math" panose="02040503050406030204" pitchFamily="18" charset="0"/>
                      </a:rPr>
                      <m:t>=</m:t>
                    </m:r>
                    <m:r>
                      <a:rPr lang="en-US" sz="2400" b="0" i="1" smtClean="0">
                        <a:latin typeface="Cambria Math" panose="02040503050406030204" pitchFamily="18" charset="0"/>
                      </a:rPr>
                      <m:t>𝛽</m:t>
                    </m:r>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𝐺𝑆</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𝑡</m:t>
                            </m:r>
                          </m:sub>
                        </m:sSub>
                      </m:e>
                    </m:d>
                    <m:r>
                      <a:rPr lang="en-US" sz="2400" b="0" i="1" smtClean="0">
                        <a:latin typeface="Cambria Math" panose="02040503050406030204" pitchFamily="18" charset="0"/>
                      </a:rPr>
                      <m:t>=</m:t>
                    </m:r>
                    <m:r>
                      <a:rPr lang="en-US" sz="2400" b="0" i="1" smtClean="0">
                        <a:latin typeface="Cambria Math" panose="02040503050406030204" pitchFamily="18" charset="0"/>
                      </a:rPr>
                      <m:t>0</m:t>
                    </m:r>
                    <m:r>
                      <a:rPr lang="en-US" sz="2400" b="0" i="1" smtClean="0">
                        <a:latin typeface="Cambria Math" panose="02040503050406030204" pitchFamily="18" charset="0"/>
                      </a:rPr>
                      <m:t>.</m:t>
                    </m:r>
                    <m:r>
                      <a:rPr lang="en-US" sz="2400" b="0" i="1" smtClean="0">
                        <a:latin typeface="Cambria Math" panose="02040503050406030204" pitchFamily="18" charset="0"/>
                      </a:rPr>
                      <m:t>725</m:t>
                    </m:r>
                    <m:r>
                      <a:rPr lang="en-US" sz="2400" b="0" i="1" smtClean="0">
                        <a:latin typeface="Cambria Math" panose="02040503050406030204" pitchFamily="18" charset="0"/>
                      </a:rPr>
                      <m:t>𝑚𝐴</m:t>
                    </m:r>
                    <m:r>
                      <a:rPr lang="en-US" sz="2400" b="0" i="1" smtClean="0">
                        <a:latin typeface="Cambria Math" panose="02040503050406030204" pitchFamily="18" charset="0"/>
                      </a:rPr>
                      <m:t>/</m:t>
                    </m:r>
                    <m:r>
                      <a:rPr lang="en-US" sz="2400" b="0" i="1" smtClean="0">
                        <a:latin typeface="Cambria Math" panose="02040503050406030204" pitchFamily="18" charset="0"/>
                      </a:rPr>
                      <m:t>𝑉</m:t>
                    </m:r>
                  </m:oMath>
                </a14:m>
                <a:endParaRPr 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xfrm>
                <a:off x="612648" y="1219200"/>
                <a:ext cx="8074152" cy="4876800"/>
              </a:xfrm>
              <a:blipFill rotWithShape="0">
                <a:blip r:embed="rId4"/>
                <a:stretch>
                  <a:fillRect r="-378" b="-2750"/>
                </a:stretch>
              </a:blipFill>
            </p:spPr>
            <p:txBody>
              <a:bodyPr/>
              <a:lstStyle/>
              <a:p>
                <a:r>
                  <a:rPr lang="fa-IR">
                    <a:noFill/>
                  </a:rPr>
                  <a:t> </a:t>
                </a:r>
              </a:p>
            </p:txBody>
          </p:sp>
        </mc:Fallback>
      </mc:AlternateContent>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12. ترانزیستور (ادامه)</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38</a:t>
            </a:fld>
            <a:endParaRPr lang="en-US" altLang="en-US" dirty="0"/>
          </a:p>
        </p:txBody>
      </p:sp>
    </p:spTree>
    <p:extLst>
      <p:ext uri="{BB962C8B-B14F-4D97-AF65-F5344CB8AC3E}">
        <p14:creationId xmlns:p14="http://schemas.microsoft.com/office/powerpoint/2010/main" val="30843436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مثال (ادامه: تحلیل </a:t>
            </a:r>
            <a:r>
              <a:rPr lang="en-US" dirty="0"/>
              <a:t>DC</a:t>
            </a:r>
            <a:r>
              <a:rPr lang="fa-IR" dirty="0"/>
              <a:t>)</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a:xfrm>
                <a:off x="612648" y="1219200"/>
                <a:ext cx="8074152" cy="4876800"/>
              </a:xfrm>
            </p:spPr>
            <p:txBody>
              <a:bodyPr/>
              <a:lstStyle/>
              <a:p>
                <a:endParaRPr lang="en-US" sz="2800" b="0" i="1" dirty="0">
                  <a:latin typeface="Cambria Math" panose="02040503050406030204" pitchFamily="18" charset="0"/>
                </a:endParaRPr>
              </a:p>
              <a:p>
                <a:endParaRPr lang="en-US" sz="2800" i="1" dirty="0">
                  <a:latin typeface="Cambria Math" panose="02040503050406030204" pitchFamily="18" charset="0"/>
                </a:endParaRPr>
              </a:p>
              <a:p>
                <a:endParaRPr lang="en-US" sz="2800" i="1" dirty="0">
                  <a:latin typeface="Cambria Math" panose="02040503050406030204" pitchFamily="18" charset="0"/>
                </a:endParaRPr>
              </a:p>
              <a:p>
                <a:endParaRPr lang="en-US" sz="2800" i="1" dirty="0">
                  <a:latin typeface="Cambria Math" panose="02040503050406030204" pitchFamily="18" charset="0"/>
                </a:endParaRPr>
              </a:p>
              <a:p>
                <a:pPr algn="l" rtl="0"/>
                <a14:m>
                  <m:oMath xmlns:m="http://schemas.openxmlformats.org/officeDocument/2006/math">
                    <m:sSubSup>
                      <m:sSubSupPr>
                        <m:ctrlPr>
                          <a:rPr lang="en-US" sz="2800" b="0" i="1" smtClean="0">
                            <a:latin typeface="Cambria Math" panose="02040503050406030204" pitchFamily="18" charset="0"/>
                          </a:rPr>
                        </m:ctrlPr>
                      </m:sSubSupPr>
                      <m:e>
                        <m:r>
                          <a:rPr lang="en-US" sz="2800" b="0" i="1" smtClean="0">
                            <a:latin typeface="Cambria Math" panose="02040503050406030204" pitchFamily="18" charset="0"/>
                          </a:rPr>
                          <m:t>𝑅</m:t>
                        </m:r>
                      </m:e>
                      <m:sub>
                        <m:r>
                          <a:rPr lang="en-US" sz="2800" b="0" i="1" smtClean="0">
                            <a:latin typeface="Cambria Math" panose="02040503050406030204" pitchFamily="18" charset="0"/>
                          </a:rPr>
                          <m:t>𝐿</m:t>
                        </m:r>
                      </m:sub>
                      <m:sup>
                        <m:r>
                          <a:rPr lang="en-US" sz="2800" b="0" i="1" smtClean="0">
                            <a:latin typeface="Cambria Math" panose="02040503050406030204" pitchFamily="18" charset="0"/>
                          </a:rPr>
                          <m:t>′</m:t>
                        </m:r>
                      </m:sup>
                    </m:sSubSup>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𝑅</m:t>
                        </m:r>
                      </m:e>
                      <m:sub>
                        <m:r>
                          <a:rPr lang="en-US" sz="2800" i="1">
                            <a:latin typeface="Cambria Math" panose="02040503050406030204" pitchFamily="18" charset="0"/>
                          </a:rPr>
                          <m:t>𝐷</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𝑅</m:t>
                        </m:r>
                      </m:e>
                      <m:sub>
                        <m:r>
                          <a:rPr lang="en-US" sz="2800" i="1">
                            <a:latin typeface="Cambria Math" panose="02040503050406030204" pitchFamily="18" charset="0"/>
                          </a:rPr>
                          <m:t>𝐿</m:t>
                        </m:r>
                      </m:sub>
                    </m:sSub>
                    <m:r>
                      <a:rPr lang="en-US" sz="2800" b="0" i="1" smtClean="0">
                        <a:latin typeface="Cambria Math" panose="02040503050406030204" pitchFamily="18" charset="0"/>
                      </a:rPr>
                      <m:t>=</m:t>
                    </m:r>
                    <m:r>
                      <a:rPr lang="en-US" sz="2800" b="0" i="1" smtClean="0">
                        <a:latin typeface="Cambria Math" panose="02040503050406030204" pitchFamily="18" charset="0"/>
                      </a:rPr>
                      <m:t>5</m:t>
                    </m:r>
                    <m:r>
                      <a:rPr lang="en-US" sz="2800" b="0" i="1" smtClean="0">
                        <a:latin typeface="Cambria Math" panose="02040503050406030204" pitchFamily="18" charset="0"/>
                      </a:rPr>
                      <m:t>𝐾</m:t>
                    </m:r>
                  </m:oMath>
                </a14:m>
                <a:endParaRPr lang="en-US" sz="2800" b="0" i="1" dirty="0">
                  <a:latin typeface="Cambria Math" panose="02040503050406030204" pitchFamily="18" charset="0"/>
                </a:endParaRPr>
              </a:p>
              <a:p>
                <a:pPr algn="l" rtl="0"/>
                <a14:m>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𝑣</m:t>
                        </m:r>
                      </m:e>
                      <m:sub>
                        <m:r>
                          <a:rPr lang="en-US" sz="2800" b="0" i="1" smtClean="0">
                            <a:latin typeface="Cambria Math" panose="02040503050406030204" pitchFamily="18" charset="0"/>
                          </a:rPr>
                          <m:t>𝑜</m:t>
                        </m:r>
                      </m:sub>
                    </m:sSub>
                    <m:r>
                      <a:rPr lang="en-US" sz="2800" b="0" i="1" smtClean="0">
                        <a:latin typeface="Cambria Math" panose="02040503050406030204" pitchFamily="18" charset="0"/>
                      </a:rPr>
                      <m:t>=</m:t>
                    </m:r>
                    <m:sSubSup>
                      <m:sSubSupPr>
                        <m:ctrlPr>
                          <a:rPr lang="en-US" sz="2800" i="1">
                            <a:latin typeface="Cambria Math" panose="02040503050406030204" pitchFamily="18" charset="0"/>
                          </a:rPr>
                        </m:ctrlPr>
                      </m:sSubSupPr>
                      <m:e>
                        <m:r>
                          <a:rPr lang="en-US" sz="2800" i="1">
                            <a:latin typeface="Cambria Math" panose="02040503050406030204" pitchFamily="18" charset="0"/>
                          </a:rPr>
                          <m:t>𝑅</m:t>
                        </m:r>
                      </m:e>
                      <m:sub>
                        <m:r>
                          <a:rPr lang="en-US" sz="2800" i="1">
                            <a:latin typeface="Cambria Math" panose="02040503050406030204" pitchFamily="18" charset="0"/>
                          </a:rPr>
                          <m:t>𝐿</m:t>
                        </m:r>
                      </m:sub>
                      <m:sup>
                        <m:r>
                          <a:rPr lang="en-US" sz="2800" i="1">
                            <a:latin typeface="Cambria Math" panose="02040503050406030204" pitchFamily="18" charset="0"/>
                          </a:rPr>
                          <m:t>′</m:t>
                        </m:r>
                      </m:sup>
                    </m:sSubSup>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𝑖</m:t>
                        </m:r>
                      </m:e>
                      <m:sub>
                        <m:r>
                          <a:rPr lang="en-US" sz="2800" b="0" i="1" smtClean="0">
                            <a:latin typeface="Cambria Math" panose="02040503050406030204" pitchFamily="18" charset="0"/>
                          </a:rPr>
                          <m:t>𝑖</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𝑔</m:t>
                        </m:r>
                      </m:e>
                      <m:sub>
                        <m:r>
                          <a:rPr lang="en-US" sz="2800" b="0" i="1" smtClean="0">
                            <a:latin typeface="Cambria Math" panose="02040503050406030204" pitchFamily="18" charset="0"/>
                          </a:rPr>
                          <m:t>𝑚</m:t>
                        </m:r>
                      </m:sub>
                    </m:sSub>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𝑣</m:t>
                        </m:r>
                      </m:e>
                      <m:sub>
                        <m:r>
                          <a:rPr lang="en-US" sz="2800" b="0" i="1" smtClean="0">
                            <a:latin typeface="Cambria Math" panose="02040503050406030204" pitchFamily="18" charset="0"/>
                          </a:rPr>
                          <m:t>𝑖</m:t>
                        </m:r>
                      </m:sub>
                    </m:sSub>
                    <m:r>
                      <a:rPr lang="en-US" sz="2800" b="0" i="1" smtClean="0">
                        <a:latin typeface="Cambria Math" panose="02040503050406030204" pitchFamily="18" charset="0"/>
                      </a:rPr>
                      <m:t>)</m:t>
                    </m:r>
                  </m:oMath>
                </a14:m>
                <a:endParaRPr lang="en-US" sz="2800" b="0" i="1" dirty="0">
                  <a:latin typeface="Cambria Math" panose="02040503050406030204" pitchFamily="18" charset="0"/>
                </a:endParaRPr>
              </a:p>
              <a:p>
                <a:pPr algn="l" rtl="0"/>
                <a14:m>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𝑣</m:t>
                        </m:r>
                      </m:e>
                      <m:sub>
                        <m:r>
                          <a:rPr lang="en-US" sz="2800" b="0" i="1" smtClean="0">
                            <a:latin typeface="Cambria Math" panose="02040503050406030204" pitchFamily="18" charset="0"/>
                          </a:rPr>
                          <m:t>𝑖</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𝑅</m:t>
                            </m:r>
                          </m:e>
                          <m:sub>
                            <m:r>
                              <a:rPr lang="en-US" sz="2800" b="0" i="1" smtClean="0">
                                <a:latin typeface="Cambria Math" panose="02040503050406030204" pitchFamily="18" charset="0"/>
                              </a:rPr>
                              <m:t>𝐺</m:t>
                            </m:r>
                          </m:sub>
                        </m:sSub>
                        <m:r>
                          <a:rPr lang="en-US" sz="2800" b="0" i="1" smtClean="0">
                            <a:latin typeface="Cambria Math" panose="02040503050406030204" pitchFamily="18" charset="0"/>
                          </a:rPr>
                          <m:t>𝑖</m:t>
                        </m:r>
                      </m:e>
                      <m:sub>
                        <m:r>
                          <a:rPr lang="en-US" sz="2800" b="0" i="1" smtClean="0">
                            <a:latin typeface="Cambria Math" panose="02040503050406030204" pitchFamily="18" charset="0"/>
                          </a:rPr>
                          <m:t>𝑖</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𝑣</m:t>
                        </m:r>
                      </m:e>
                      <m:sub>
                        <m:r>
                          <a:rPr lang="en-US" sz="2800" b="0" i="1" smtClean="0">
                            <a:latin typeface="Cambria Math" panose="02040503050406030204" pitchFamily="18" charset="0"/>
                          </a:rPr>
                          <m:t>𝑜</m:t>
                        </m:r>
                      </m:sub>
                    </m:sSub>
                  </m:oMath>
                </a14:m>
                <a:endParaRPr lang="en-US" sz="2800" b="0" i="1" dirty="0">
                  <a:latin typeface="Cambria Math" panose="02040503050406030204" pitchFamily="18" charset="0"/>
                </a:endParaRPr>
              </a:p>
              <a:p>
                <a:pPr algn="l" rtl="0"/>
                <a14:m>
                  <m:oMath xmlns:m="http://schemas.openxmlformats.org/officeDocument/2006/math">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𝐴</m:t>
                        </m:r>
                      </m:e>
                      <m:sub>
                        <m:r>
                          <a:rPr lang="en-US" sz="2800" b="0" i="1" smtClean="0">
                            <a:latin typeface="Cambria Math" panose="02040503050406030204" pitchFamily="18" charset="0"/>
                          </a:rPr>
                          <m:t>𝑣</m:t>
                        </m:r>
                      </m:sub>
                    </m:sSub>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𝑣</m:t>
                            </m:r>
                          </m:e>
                          <m:sub>
                            <m:r>
                              <a:rPr lang="en-US" sz="2800" b="0" i="1" smtClean="0">
                                <a:latin typeface="Cambria Math" panose="02040503050406030204" pitchFamily="18" charset="0"/>
                              </a:rPr>
                              <m:t>𝑜</m:t>
                            </m:r>
                          </m:sub>
                        </m:sSub>
                      </m:num>
                      <m:den>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𝑣</m:t>
                            </m:r>
                          </m:e>
                          <m:sub>
                            <m:r>
                              <a:rPr lang="en-US" sz="2800" b="0" i="1" smtClean="0">
                                <a:latin typeface="Cambria Math" panose="02040503050406030204" pitchFamily="18" charset="0"/>
                              </a:rPr>
                              <m:t>𝑖</m:t>
                            </m:r>
                          </m:sub>
                        </m:sSub>
                      </m:den>
                    </m:f>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1</m:t>
                        </m:r>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𝑔</m:t>
                            </m:r>
                          </m:e>
                          <m:sub>
                            <m:r>
                              <a:rPr lang="en-US" sz="2800" b="0" i="1" smtClean="0">
                                <a:latin typeface="Cambria Math" panose="02040503050406030204" pitchFamily="18" charset="0"/>
                              </a:rPr>
                              <m:t>𝑚</m:t>
                            </m:r>
                          </m:sub>
                        </m:sSub>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𝑅</m:t>
                            </m:r>
                          </m:e>
                          <m:sub>
                            <m:r>
                              <a:rPr lang="en-US" sz="2800" b="0" i="1" smtClean="0">
                                <a:latin typeface="Cambria Math" panose="02040503050406030204" pitchFamily="18" charset="0"/>
                              </a:rPr>
                              <m:t>𝐺</m:t>
                            </m:r>
                          </m:sub>
                        </m:sSub>
                      </m:num>
                      <m:den>
                        <m:r>
                          <a:rPr lang="en-US" sz="2800" b="0" i="1" smtClean="0">
                            <a:latin typeface="Cambria Math" panose="02040503050406030204" pitchFamily="18" charset="0"/>
                          </a:rPr>
                          <m:t>1</m:t>
                        </m:r>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𝑅</m:t>
                            </m:r>
                          </m:e>
                          <m:sub>
                            <m:r>
                              <a:rPr lang="en-US" sz="2800" i="1">
                                <a:latin typeface="Cambria Math" panose="02040503050406030204" pitchFamily="18" charset="0"/>
                              </a:rPr>
                              <m:t>𝐺</m:t>
                            </m:r>
                          </m:sub>
                        </m:sSub>
                        <m:r>
                          <a:rPr lang="en-US" sz="2800" b="0" i="1" smtClean="0">
                            <a:latin typeface="Cambria Math" panose="02040503050406030204" pitchFamily="18" charset="0"/>
                          </a:rPr>
                          <m:t>/</m:t>
                        </m:r>
                        <m:sSubSup>
                          <m:sSubSupPr>
                            <m:ctrlPr>
                              <a:rPr lang="en-US" sz="2800" i="1">
                                <a:latin typeface="Cambria Math" panose="02040503050406030204" pitchFamily="18" charset="0"/>
                              </a:rPr>
                            </m:ctrlPr>
                          </m:sSubSupPr>
                          <m:e>
                            <m:r>
                              <a:rPr lang="en-US" sz="2800" i="1">
                                <a:latin typeface="Cambria Math" panose="02040503050406030204" pitchFamily="18" charset="0"/>
                              </a:rPr>
                              <m:t>𝑅</m:t>
                            </m:r>
                          </m:e>
                          <m:sub>
                            <m:r>
                              <a:rPr lang="en-US" sz="2800" i="1">
                                <a:latin typeface="Cambria Math" panose="02040503050406030204" pitchFamily="18" charset="0"/>
                              </a:rPr>
                              <m:t>𝐿</m:t>
                            </m:r>
                          </m:sub>
                          <m:sup>
                            <m:r>
                              <a:rPr lang="en-US" sz="2800" i="1">
                                <a:latin typeface="Cambria Math" panose="02040503050406030204" pitchFamily="18" charset="0"/>
                              </a:rPr>
                              <m:t>′</m:t>
                            </m:r>
                          </m:sup>
                        </m:sSubSup>
                      </m:den>
                    </m:f>
                    <m:r>
                      <a:rPr lang="en-US" sz="2800" b="0" i="1" smtClean="0">
                        <a:latin typeface="Cambria Math" panose="02040503050406030204" pitchFamily="18" charset="0"/>
                        <a:ea typeface="Cambria Math" panose="02040503050406030204" pitchFamily="18" charset="0"/>
                      </a:rPr>
                      <m:t>≈−</m:t>
                    </m:r>
                    <m:sSub>
                      <m:sSubPr>
                        <m:ctrlPr>
                          <a:rPr lang="en-US" sz="2800" b="0" i="1" smtClean="0">
                            <a:latin typeface="Cambria Math" panose="02040503050406030204" pitchFamily="18" charset="0"/>
                            <a:ea typeface="Cambria Math" panose="02040503050406030204" pitchFamily="18" charset="0"/>
                          </a:rPr>
                        </m:ctrlPr>
                      </m:sSubPr>
                      <m:e>
                        <m:r>
                          <a:rPr lang="en-US" sz="2800" b="0" i="1" smtClean="0">
                            <a:latin typeface="Cambria Math" panose="02040503050406030204" pitchFamily="18" charset="0"/>
                            <a:ea typeface="Cambria Math" panose="02040503050406030204" pitchFamily="18" charset="0"/>
                          </a:rPr>
                          <m:t>𝑔</m:t>
                        </m:r>
                      </m:e>
                      <m:sub>
                        <m:r>
                          <a:rPr lang="en-US" sz="2800" b="0" i="1" smtClean="0">
                            <a:latin typeface="Cambria Math" panose="02040503050406030204" pitchFamily="18" charset="0"/>
                            <a:ea typeface="Cambria Math" panose="02040503050406030204" pitchFamily="18" charset="0"/>
                          </a:rPr>
                          <m:t>𝑚</m:t>
                        </m:r>
                      </m:sub>
                    </m:sSub>
                    <m:sSubSup>
                      <m:sSubSupPr>
                        <m:ctrlPr>
                          <a:rPr lang="en-US" sz="2800" b="0" i="1" smtClean="0">
                            <a:latin typeface="Cambria Math" panose="02040503050406030204" pitchFamily="18" charset="0"/>
                            <a:ea typeface="Cambria Math" panose="02040503050406030204" pitchFamily="18" charset="0"/>
                          </a:rPr>
                        </m:ctrlPr>
                      </m:sSubSupPr>
                      <m:e>
                        <m:r>
                          <a:rPr lang="en-US" sz="2800" b="0" i="1" smtClean="0">
                            <a:latin typeface="Cambria Math" panose="02040503050406030204" pitchFamily="18" charset="0"/>
                            <a:ea typeface="Cambria Math" panose="02040503050406030204" pitchFamily="18" charset="0"/>
                          </a:rPr>
                          <m:t>𝑅</m:t>
                        </m:r>
                      </m:e>
                      <m:sub>
                        <m:r>
                          <a:rPr lang="en-US" sz="2800" b="0" i="1" smtClean="0">
                            <a:latin typeface="Cambria Math" panose="02040503050406030204" pitchFamily="18" charset="0"/>
                            <a:ea typeface="Cambria Math" panose="02040503050406030204" pitchFamily="18" charset="0"/>
                          </a:rPr>
                          <m:t>𝐿</m:t>
                        </m:r>
                      </m:sub>
                      <m:sup>
                        <m:r>
                          <a:rPr lang="en-US" sz="2800" b="0" i="1" smtClean="0">
                            <a:latin typeface="Cambria Math" panose="02040503050406030204" pitchFamily="18" charset="0"/>
                            <a:ea typeface="Cambria Math" panose="02040503050406030204" pitchFamily="18" charset="0"/>
                          </a:rPr>
                          <m:t>′</m:t>
                        </m:r>
                      </m:sup>
                    </m:sSubSup>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3</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625</m:t>
                    </m:r>
                  </m:oMath>
                </a14:m>
                <a:endParaRPr lang="en-US" sz="2800" i="1" dirty="0">
                  <a:latin typeface="Cambria Math" panose="020405030504060302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xfrm>
                <a:off x="612648" y="1219200"/>
                <a:ext cx="8074152" cy="4876800"/>
              </a:xfrm>
              <a:blipFill rotWithShape="0">
                <a:blip r:embed="rId3"/>
                <a:stretch>
                  <a:fillRect/>
                </a:stretch>
              </a:blipFill>
            </p:spPr>
            <p:txBody>
              <a:bodyPr/>
              <a:lstStyle/>
              <a:p>
                <a:r>
                  <a:rPr lang="fa-IR">
                    <a:noFill/>
                  </a:rPr>
                  <a:t> </a:t>
                </a:r>
              </a:p>
            </p:txBody>
          </p:sp>
        </mc:Fallback>
      </mc:AlternateContent>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12. ترانزیستور (ادامه)</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39</a:t>
            </a:fld>
            <a:endParaRPr lang="en-US" altLang="en-US" dirty="0"/>
          </a:p>
        </p:txBody>
      </p:sp>
      <p:pic>
        <p:nvPicPr>
          <p:cNvPr id="7" name="Picture 6"/>
          <p:cNvPicPr>
            <a:picLocks noChangeAspect="1"/>
          </p:cNvPicPr>
          <p:nvPr/>
        </p:nvPicPr>
        <p:blipFill rotWithShape="1">
          <a:blip r:embed="rId4">
            <a:biLevel thresh="75000"/>
          </a:blip>
          <a:srcRect t="8056"/>
          <a:stretch/>
        </p:blipFill>
        <p:spPr>
          <a:xfrm>
            <a:off x="304800" y="1209907"/>
            <a:ext cx="6019799" cy="2209800"/>
          </a:xfrm>
          <a:prstGeom prst="rect">
            <a:avLst/>
          </a:prstGeom>
        </p:spPr>
      </p:pic>
    </p:spTree>
    <p:extLst>
      <p:ext uri="{BB962C8B-B14F-4D97-AF65-F5344CB8AC3E}">
        <p14:creationId xmlns:p14="http://schemas.microsoft.com/office/powerpoint/2010/main" val="20415165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پیکربندی‌های مختلف </a:t>
            </a:r>
            <a:r>
              <a:rPr lang="en-US" dirty="0"/>
              <a:t>MOSFET</a:t>
            </a:r>
          </a:p>
        </p:txBody>
      </p:sp>
      <p:sp>
        <p:nvSpPr>
          <p:cNvPr id="3" name="Content Placeholder 2"/>
          <p:cNvSpPr>
            <a:spLocks noGrp="1"/>
          </p:cNvSpPr>
          <p:nvPr>
            <p:ph sz="quarter" idx="1"/>
          </p:nvPr>
        </p:nvSpPr>
        <p:spPr/>
        <p:txBody>
          <a:bodyPr/>
          <a:lstStyle/>
          <a:p>
            <a:endParaRPr lang="en-US"/>
          </a:p>
        </p:txBody>
      </p:sp>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12. ترانزیستور (ادامه)</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40</a:t>
            </a:fld>
            <a:endParaRPr lang="en-US" altLang="en-US" dirty="0"/>
          </a:p>
        </p:txBody>
      </p:sp>
      <p:pic>
        <p:nvPicPr>
          <p:cNvPr id="7" name="Picture 6"/>
          <p:cNvPicPr>
            <a:picLocks noChangeAspect="1"/>
          </p:cNvPicPr>
          <p:nvPr/>
        </p:nvPicPr>
        <p:blipFill>
          <a:blip r:embed="rId2"/>
          <a:stretch>
            <a:fillRect/>
          </a:stretch>
        </p:blipFill>
        <p:spPr>
          <a:xfrm>
            <a:off x="1676400" y="1181100"/>
            <a:ext cx="5623858" cy="4991100"/>
          </a:xfrm>
          <a:prstGeom prst="rect">
            <a:avLst/>
          </a:prstGeom>
        </p:spPr>
      </p:pic>
    </p:spTree>
    <p:extLst>
      <p:ext uri="{BB962C8B-B14F-4D97-AF65-F5344CB8AC3E}">
        <p14:creationId xmlns:p14="http://schemas.microsoft.com/office/powerpoint/2010/main" val="26573953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a:fillRect/>
          </a:stretch>
        </p:blipFill>
        <p:spPr>
          <a:xfrm>
            <a:off x="316694" y="1143000"/>
            <a:ext cx="3112306" cy="3467100"/>
          </a:xfrm>
          <a:prstGeom prst="rect">
            <a:avLst/>
          </a:prstGeom>
        </p:spPr>
      </p:pic>
      <p:sp>
        <p:nvSpPr>
          <p:cNvPr id="2" name="Title 1"/>
          <p:cNvSpPr>
            <a:spLocks noGrp="1"/>
          </p:cNvSpPr>
          <p:nvPr>
            <p:ph type="title"/>
          </p:nvPr>
        </p:nvSpPr>
        <p:spPr/>
        <p:txBody>
          <a:bodyPr/>
          <a:lstStyle/>
          <a:p>
            <a:r>
              <a:rPr lang="fa-IR" dirty="0"/>
              <a:t>ماسفت به عنوان سوئیچ</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fa-IR" dirty="0"/>
                  <a:t>در مثال 3 داشتیم:</a:t>
                </a:r>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0</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𝑜</m:t>
                        </m:r>
                      </m:sub>
                    </m:sSub>
                    <m:r>
                      <a:rPr lang="en-US" b="0" i="1" smtClean="0">
                        <a:latin typeface="Cambria Math" panose="02040503050406030204" pitchFamily="18" charset="0"/>
                      </a:rPr>
                      <m:t>=</m:t>
                    </m:r>
                    <m:r>
                      <a:rPr lang="en-US" b="0" i="1" smtClean="0">
                        <a:latin typeface="Cambria Math" panose="02040503050406030204" pitchFamily="18" charset="0"/>
                      </a:rPr>
                      <m:t>12</m:t>
                    </m:r>
                  </m:oMath>
                </a14:m>
                <a:endParaRPr lang="en-US" b="0" dirty="0"/>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𝑖</m:t>
                        </m:r>
                      </m:sub>
                    </m:sSub>
                    <m:r>
                      <a:rPr lang="en-US" i="1">
                        <a:latin typeface="Cambria Math" panose="02040503050406030204" pitchFamily="18" charset="0"/>
                      </a:rPr>
                      <m:t>=</m:t>
                    </m:r>
                    <m:r>
                      <a:rPr lang="en-US" b="0" i="1" smtClean="0">
                        <a:latin typeface="Cambria Math" panose="02040503050406030204" pitchFamily="18" charset="0"/>
                      </a:rPr>
                      <m:t>12</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𝑜</m:t>
                        </m:r>
                      </m:sub>
                    </m:sSub>
                    <m:r>
                      <a:rPr lang="en-US" i="1">
                        <a:latin typeface="Cambria Math" panose="02040503050406030204" pitchFamily="18" charset="0"/>
                      </a:rPr>
                      <m:t>=</m:t>
                    </m:r>
                    <m:r>
                      <a:rPr lang="en-US" b="0" i="1" smtClean="0">
                        <a:latin typeface="Cambria Math" panose="02040503050406030204" pitchFamily="18" charset="0"/>
                      </a:rPr>
                      <m:t>2</m:t>
                    </m:r>
                    <m:r>
                      <a:rPr lang="en-US" b="0" i="1" smtClean="0">
                        <a:latin typeface="Cambria Math" panose="02040503050406030204" pitchFamily="18" charset="0"/>
                      </a:rPr>
                      <m:t>.</m:t>
                    </m:r>
                    <m:r>
                      <a:rPr lang="en-US" b="0" i="1" smtClean="0">
                        <a:latin typeface="Cambria Math" panose="02040503050406030204" pitchFamily="18" charset="0"/>
                      </a:rPr>
                      <m:t>2</m:t>
                    </m:r>
                  </m:oMath>
                </a14:m>
                <a:endParaRPr lang="en-US" b="0" dirty="0"/>
              </a:p>
              <a:p>
                <a:r>
                  <a:rPr lang="fa-IR" dirty="0"/>
                  <a:t>ماسفت همانند سوئیچ </a:t>
                </a:r>
                <a:r>
                  <a:rPr lang="fa-IR" b="0" dirty="0"/>
                  <a:t>عمل می‌کند.</a:t>
                </a:r>
                <a:endParaRPr lang="en-US" b="0" dirty="0"/>
              </a:p>
              <a:p>
                <a:pPr lvl="1"/>
                <a:r>
                  <a:rPr lang="fa-IR" dirty="0"/>
                  <a:t>وقتی </a:t>
                </a:r>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𝑖</m:t>
                        </m:r>
                      </m:sub>
                    </m:sSub>
                  </m:oMath>
                </a14:m>
                <a:r>
                  <a:rPr lang="en-US" b="0" dirty="0"/>
                  <a:t> </a:t>
                </a:r>
                <a:r>
                  <a:rPr lang="fa-IR" dirty="0"/>
                  <a:t>کم است در حالت قطع هستیم.</a:t>
                </a:r>
                <a:endParaRPr lang="en-US" b="0" dirty="0"/>
              </a:p>
              <a:p>
                <a:pPr lvl="1"/>
                <a:r>
                  <a:rPr lang="fa-IR" dirty="0"/>
                  <a:t>وقتی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𝑖</m:t>
                        </m:r>
                      </m:sub>
                    </m:sSub>
                  </m:oMath>
                </a14:m>
                <a:r>
                  <a:rPr lang="fa-IR" dirty="0"/>
                  <a:t> زیاد است در حالت خطی هستیم.</a:t>
                </a:r>
                <a:endParaRPr lang="en-US" dirty="0"/>
              </a:p>
              <a:p>
                <a:r>
                  <a:rPr lang="fa-IR" b="0" dirty="0"/>
                  <a:t>پس این مدار یک اینورتر است.</a:t>
                </a:r>
                <a:endParaRPr lang="en-US" b="0" dirty="0"/>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0</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𝑜</m:t>
                        </m:r>
                      </m:sub>
                    </m:sSub>
                    <m:r>
                      <a:rPr lang="en-US" b="0" i="1" smtClean="0">
                        <a:latin typeface="Cambria Math" panose="02040503050406030204" pitchFamily="18" charset="0"/>
                      </a:rPr>
                      <m:t>=</m:t>
                    </m:r>
                    <m:r>
                      <a:rPr lang="en-US" b="0" i="1" smtClean="0">
                        <a:latin typeface="Cambria Math" panose="02040503050406030204" pitchFamily="18" charset="0"/>
                      </a:rPr>
                      <m:t>1</m:t>
                    </m:r>
                  </m:oMath>
                </a14:m>
                <a:endParaRPr lang="en-US" b="0" dirty="0"/>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𝑖</m:t>
                        </m:r>
                      </m:sub>
                    </m:sSub>
                    <m:r>
                      <a:rPr lang="en-US" i="1">
                        <a:latin typeface="Cambria Math" panose="02040503050406030204" pitchFamily="18" charset="0"/>
                      </a:rPr>
                      <m:t>=</m:t>
                    </m:r>
                    <m:r>
                      <a:rPr lang="en-US" b="0" i="1" smtClean="0">
                        <a:latin typeface="Cambria Math" panose="02040503050406030204" pitchFamily="18" charset="0"/>
                      </a:rPr>
                      <m:t>1</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𝑜</m:t>
                        </m:r>
                      </m:sub>
                    </m:sSub>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0</m:t>
                    </m:r>
                  </m:oMath>
                </a14:m>
                <a:endParaRPr lang="en-US" b="0"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0">
                <a:blip r:embed="rId4"/>
                <a:stretch>
                  <a:fillRect t="-1000" r="-449"/>
                </a:stretch>
              </a:blipFill>
            </p:spPr>
            <p:txBody>
              <a:bodyPr/>
              <a:lstStyle/>
              <a:p>
                <a:r>
                  <a:rPr lang="fa-IR">
                    <a:noFill/>
                  </a:rPr>
                  <a:t> </a:t>
                </a:r>
              </a:p>
            </p:txBody>
          </p:sp>
        </mc:Fallback>
      </mc:AlternateContent>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12. ترانزیستور (ادامه)</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41</a:t>
            </a:fld>
            <a:endParaRPr lang="en-US" altLang="en-US" dirty="0"/>
          </a:p>
        </p:txBody>
      </p:sp>
    </p:spTree>
    <p:extLst>
      <p:ext uri="{BB962C8B-B14F-4D97-AF65-F5344CB8AC3E}">
        <p14:creationId xmlns:p14="http://schemas.microsoft.com/office/powerpoint/2010/main" val="20649342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تمرین کلاسی 1 (سورس مشترک)</a:t>
            </a:r>
            <a:endParaRPr lang="en-US" dirty="0">
              <a:solidFill>
                <a:srgbClr val="FF0000"/>
              </a:solidFill>
            </a:endParaRPr>
          </a:p>
        </p:txBody>
      </p:sp>
      <p:grpSp>
        <p:nvGrpSpPr>
          <p:cNvPr id="10" name="Group 9"/>
          <p:cNvGrpSpPr/>
          <p:nvPr/>
        </p:nvGrpSpPr>
        <p:grpSpPr>
          <a:xfrm>
            <a:off x="228600" y="1192731"/>
            <a:ext cx="4687888" cy="4583248"/>
            <a:chOff x="4075112" y="1192731"/>
            <a:chExt cx="4687888" cy="4583248"/>
          </a:xfrm>
        </p:grpSpPr>
        <p:pic>
          <p:nvPicPr>
            <p:cNvPr id="8" name="Picture 7"/>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4075112" y="1192731"/>
              <a:ext cx="4687888" cy="4583248"/>
            </a:xfrm>
            <a:prstGeom prst="rect">
              <a:avLst/>
            </a:prstGeom>
          </p:spPr>
        </p:pic>
        <p:sp>
          <p:nvSpPr>
            <p:cNvPr id="9" name="TextBox 8"/>
            <p:cNvSpPr txBox="1"/>
            <p:nvPr/>
          </p:nvSpPr>
          <p:spPr>
            <a:xfrm>
              <a:off x="5305925" y="3042643"/>
              <a:ext cx="458780" cy="553998"/>
            </a:xfrm>
            <a:prstGeom prst="rect">
              <a:avLst/>
            </a:prstGeom>
            <a:noFill/>
          </p:spPr>
          <p:txBody>
            <a:bodyPr wrap="none" rtlCol="0">
              <a:spAutoFit/>
            </a:bodyPr>
            <a:lstStyle/>
            <a:p>
              <a:r>
                <a:rPr lang="en-US" sz="3000" dirty="0"/>
                <a:t>∞</a:t>
              </a:r>
            </a:p>
          </p:txBody>
        </p:sp>
      </p:gr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oMath>
                </a14:m>
                <a:r>
                  <a:rPr lang="fa-IR" baseline="-25000" dirty="0"/>
                  <a:t> </a:t>
                </a:r>
                <a:r>
                  <a:rPr lang="fa-IR" dirty="0"/>
                  <a:t>را بیابید.</a:t>
                </a:r>
                <a:endParaRPr lang="en-US" dirty="0"/>
              </a:p>
              <a:p>
                <a:r>
                  <a:rPr lang="fa-IR" dirty="0"/>
                  <a:t>بهره ولتاژ را بیابید. </a:t>
                </a:r>
                <a14:m>
                  <m:oMath xmlns:m="http://schemas.openxmlformats.org/officeDocument/2006/math">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𝑣</m:t>
                        </m:r>
                      </m:sub>
                    </m:sSub>
                    <m:r>
                      <a:rPr lang="en-US">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𝑜</m:t>
                            </m:r>
                          </m:sub>
                        </m:sSub>
                      </m:num>
                      <m:den>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𝑖</m:t>
                            </m:r>
                          </m:sub>
                        </m:sSub>
                      </m:den>
                    </m:f>
                    <m:r>
                      <a:rPr lang="en-US" i="1">
                        <a:latin typeface="Cambria Math" panose="02040503050406030204" pitchFamily="18" charset="0"/>
                      </a:rPr>
                      <m:t>)</m:t>
                    </m:r>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𝑇</m:t>
                        </m:r>
                      </m:sub>
                    </m:sSub>
                    <m:r>
                      <a:rPr lang="en-US" b="0" i="1" smtClean="0">
                        <a:latin typeface="Cambria Math" panose="02040503050406030204" pitchFamily="18" charset="0"/>
                      </a:rPr>
                      <m:t>=</m:t>
                    </m:r>
                    <m:r>
                      <a:rPr lang="en-US" b="0" i="1" smtClean="0">
                        <a:latin typeface="Cambria Math" panose="02040503050406030204" pitchFamily="18" charset="0"/>
                      </a:rPr>
                      <m:t>0</m:t>
                    </m:r>
                    <m:r>
                      <a:rPr lang="en-US" b="0" i="1" smtClean="0">
                        <a:latin typeface="Cambria Math" panose="02040503050406030204" pitchFamily="18" charset="0"/>
                      </a:rPr>
                      <m:t>.</m:t>
                    </m:r>
                    <m:r>
                      <a:rPr lang="en-US" b="0" i="1" smtClean="0">
                        <a:latin typeface="Cambria Math" panose="02040503050406030204" pitchFamily="18" charset="0"/>
                      </a:rPr>
                      <m:t>8</m:t>
                    </m:r>
                    <m:r>
                      <a:rPr lang="en-US" b="0" i="1" smtClean="0">
                        <a:latin typeface="Cambria Math" panose="02040503050406030204" pitchFamily="18" charset="0"/>
                      </a:rPr>
                      <m:t>𝑉</m:t>
                    </m:r>
                    <m:r>
                      <a:rPr lang="en-US" b="0" i="1" smtClean="0">
                        <a:latin typeface="Cambria Math" panose="02040503050406030204" pitchFamily="18" charset="0"/>
                      </a:rPr>
                      <m:t>, </m:t>
                    </m:r>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0</m:t>
                    </m:r>
                    <m:r>
                      <a:rPr lang="en-US" b="0" i="1" smtClean="0">
                        <a:latin typeface="Cambria Math" panose="02040503050406030204" pitchFamily="18" charset="0"/>
                      </a:rPr>
                      <m:t>.</m:t>
                    </m:r>
                    <m:r>
                      <a:rPr lang="en-US" b="0" i="1" smtClean="0">
                        <a:latin typeface="Cambria Math" panose="02040503050406030204" pitchFamily="18" charset="0"/>
                      </a:rPr>
                      <m:t>4</m:t>
                    </m:r>
                    <m:r>
                      <a:rPr lang="en-US" b="0" i="1" smtClean="0">
                        <a:latin typeface="Cambria Math" panose="02040503050406030204" pitchFamily="18" charset="0"/>
                      </a:rPr>
                      <m:t>𝑚𝐴</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2</m:t>
                        </m:r>
                      </m:sup>
                    </m:sSup>
                  </m:oMath>
                </a14:m>
                <a:endParaRPr lang="en-US" dirty="0"/>
              </a:p>
              <a:p>
                <a:endParaRPr lang="en-US" dirty="0"/>
              </a:p>
              <a:p>
                <a:endParaRPr lang="en-US" dirty="0"/>
              </a:p>
              <a:p>
                <a:endParaRPr lang="en-US" dirty="0"/>
              </a:p>
              <a:p>
                <a:endParaRPr lang="en-US" dirty="0"/>
              </a:p>
              <a:p>
                <a:endParaRPr lang="en-US" dirty="0"/>
              </a:p>
              <a:p>
                <a:r>
                  <a:rPr lang="en-US" dirty="0"/>
                  <a:t>Answer: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𝑚</m:t>
                        </m:r>
                      </m:sub>
                    </m:sSub>
                    <m:r>
                      <a:rPr lang="en-US" b="0" i="1" smtClean="0">
                        <a:latin typeface="Cambria Math" panose="02040503050406030204" pitchFamily="18" charset="0"/>
                      </a:rPr>
                      <m:t>=</m:t>
                    </m:r>
                    <m:r>
                      <a:rPr lang="en-US" b="0" i="1" smtClean="0">
                        <a:latin typeface="Cambria Math" panose="02040503050406030204" pitchFamily="18" charset="0"/>
                      </a:rPr>
                      <m:t>0</m:t>
                    </m:r>
                    <m:r>
                      <a:rPr lang="en-US" b="0" i="1" smtClean="0">
                        <a:latin typeface="Cambria Math" panose="02040503050406030204" pitchFamily="18" charset="0"/>
                      </a:rPr>
                      <m:t>.</m:t>
                    </m:r>
                    <m:r>
                      <a:rPr lang="en-US" b="0" i="1" smtClean="0">
                        <a:latin typeface="Cambria Math" panose="02040503050406030204" pitchFamily="18" charset="0"/>
                      </a:rPr>
                      <m:t>44</m:t>
                    </m:r>
                    <m:r>
                      <a:rPr lang="en-US" b="0" i="1" smtClean="0">
                        <a:latin typeface="Cambria Math" panose="02040503050406030204" pitchFamily="18" charset="0"/>
                      </a:rPr>
                      <m:t>𝑚𝐴</m:t>
                    </m:r>
                    <m:r>
                      <a:rPr lang="en-US" b="0" i="1" smtClean="0">
                        <a:latin typeface="Cambria Math" panose="02040503050406030204" pitchFamily="18" charset="0"/>
                      </a:rPr>
                      <m:t>/</m:t>
                    </m:r>
                    <m:r>
                      <a:rPr lang="en-US" b="0" i="1" smtClean="0">
                        <a:latin typeface="Cambria Math" panose="02040503050406030204" pitchFamily="18" charset="0"/>
                      </a:rPr>
                      <m:t>𝑉</m:t>
                    </m:r>
                  </m:oMath>
                </a14:m>
                <a:r>
                  <a:rPr lang="en-US" dirty="0"/>
                  <a:t> ,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𝑣</m:t>
                        </m:r>
                      </m:sub>
                    </m:sSub>
                    <m:r>
                      <a:rPr lang="en-US" b="0" i="1" smtClean="0">
                        <a:latin typeface="Cambria Math" panose="02040503050406030204" pitchFamily="18" charset="0"/>
                      </a:rPr>
                      <m:t>=−</m:t>
                    </m:r>
                    <m:r>
                      <a:rPr lang="en-US" b="0" i="1" smtClean="0">
                        <a:latin typeface="Cambria Math" panose="02040503050406030204" pitchFamily="18" charset="0"/>
                      </a:rPr>
                      <m:t>4</m:t>
                    </m:r>
                    <m:r>
                      <a:rPr lang="en-US" b="0" i="1" smtClean="0">
                        <a:latin typeface="Cambria Math" panose="02040503050406030204" pitchFamily="18" charset="0"/>
                      </a:rPr>
                      <m:t>.</m:t>
                    </m:r>
                    <m:r>
                      <a:rPr lang="en-US" b="0" i="1" smtClean="0">
                        <a:latin typeface="Cambria Math" panose="02040503050406030204" pitchFamily="18" charset="0"/>
                      </a:rPr>
                      <m:t>4</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0">
                <a:blip r:embed="rId4"/>
                <a:stretch>
                  <a:fillRect t="-875" r="-449" b="-4750"/>
                </a:stretch>
              </a:blipFill>
            </p:spPr>
            <p:txBody>
              <a:bodyPr/>
              <a:lstStyle/>
              <a:p>
                <a:r>
                  <a:rPr lang="fa-IR">
                    <a:noFill/>
                  </a:rPr>
                  <a:t> </a:t>
                </a:r>
              </a:p>
            </p:txBody>
          </p:sp>
        </mc:Fallback>
      </mc:AlternateContent>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12. ترانزیستور (ادامه)</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42</a:t>
            </a:fld>
            <a:endParaRPr lang="en-US" altLang="en-US" dirty="0"/>
          </a:p>
        </p:txBody>
      </p:sp>
    </p:spTree>
    <p:extLst>
      <p:ext uri="{BB962C8B-B14F-4D97-AF65-F5344CB8AC3E}">
        <p14:creationId xmlns:p14="http://schemas.microsoft.com/office/powerpoint/2010/main" val="20146564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biLevel thresh="75000"/>
          </a:blip>
          <a:stretch>
            <a:fillRect/>
          </a:stretch>
        </p:blipFill>
        <p:spPr>
          <a:xfrm>
            <a:off x="304800" y="1180616"/>
            <a:ext cx="4267200" cy="4610584"/>
          </a:xfrm>
          <a:prstGeom prst="rect">
            <a:avLst/>
          </a:prstGeom>
        </p:spPr>
      </p:pic>
      <p:sp>
        <p:nvSpPr>
          <p:cNvPr id="2" name="Title 1"/>
          <p:cNvSpPr>
            <a:spLocks noGrp="1"/>
          </p:cNvSpPr>
          <p:nvPr>
            <p:ph type="title"/>
          </p:nvPr>
        </p:nvSpPr>
        <p:spPr/>
        <p:txBody>
          <a:bodyPr/>
          <a:lstStyle/>
          <a:p>
            <a:r>
              <a:rPr lang="fa-IR" dirty="0"/>
              <a:t>تمرین کلاسی 2 (سورس مشترک)</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𝑚</m:t>
                        </m:r>
                      </m:sub>
                    </m:sSub>
                  </m:oMath>
                </a14:m>
                <a:r>
                  <a:rPr lang="fa-IR" baseline="-25000" dirty="0"/>
                  <a:t> </a:t>
                </a:r>
                <a:r>
                  <a:rPr lang="fa-IR" dirty="0"/>
                  <a:t>را بیابید.</a:t>
                </a:r>
                <a:endParaRPr lang="en-US" dirty="0"/>
              </a:p>
              <a:p>
                <a:r>
                  <a:rPr lang="fa-IR" b="0" dirty="0"/>
                  <a:t>بهره ولتاژ را بیابید. </a:t>
                </a:r>
                <a14:m>
                  <m:oMath xmlns:m="http://schemas.openxmlformats.org/officeDocument/2006/math">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𝑣</m:t>
                        </m:r>
                      </m:sub>
                    </m:sSub>
                    <m:r>
                      <a:rPr lang="en-US" b="0" i="0"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𝑜</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𝑖</m:t>
                            </m:r>
                          </m:sub>
                        </m:sSub>
                      </m:den>
                    </m:f>
                    <m:r>
                      <a:rPr lang="en-US" b="0" i="1" smtClean="0">
                        <a:latin typeface="Cambria Math" panose="02040503050406030204" pitchFamily="18" charset="0"/>
                      </a:rPr>
                      <m:t>)</m:t>
                    </m:r>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𝑇</m:t>
                        </m:r>
                      </m:sub>
                    </m:sSub>
                    <m:r>
                      <a:rPr lang="en-US" b="0" i="1" smtClean="0">
                        <a:latin typeface="Cambria Math" panose="02040503050406030204" pitchFamily="18" charset="0"/>
                      </a:rPr>
                      <m:t>=</m:t>
                    </m:r>
                    <m:r>
                      <a:rPr lang="en-US" b="0" i="1" smtClean="0">
                        <a:latin typeface="Cambria Math" panose="02040503050406030204" pitchFamily="18" charset="0"/>
                      </a:rPr>
                      <m:t>0</m:t>
                    </m:r>
                    <m:r>
                      <a:rPr lang="en-US" b="0" i="1" smtClean="0">
                        <a:latin typeface="Cambria Math" panose="02040503050406030204" pitchFamily="18" charset="0"/>
                      </a:rPr>
                      <m:t>.</m:t>
                    </m:r>
                    <m:r>
                      <a:rPr lang="en-US" b="0" i="1" smtClean="0">
                        <a:latin typeface="Cambria Math" panose="02040503050406030204" pitchFamily="18" charset="0"/>
                      </a:rPr>
                      <m:t>6</m:t>
                    </m:r>
                    <m:r>
                      <a:rPr lang="en-US" b="0" i="1" smtClean="0">
                        <a:latin typeface="Cambria Math" panose="02040503050406030204" pitchFamily="18" charset="0"/>
                      </a:rPr>
                      <m:t>𝑉</m:t>
                    </m:r>
                    <m:r>
                      <a:rPr lang="en-US" b="0" i="1" smtClean="0">
                        <a:latin typeface="Cambria Math" panose="02040503050406030204" pitchFamily="18" charset="0"/>
                      </a:rPr>
                      <m:t>, </m:t>
                    </m:r>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𝑚𝐴</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2</m:t>
                        </m:r>
                      </m:sup>
                    </m:sSup>
                  </m:oMath>
                </a14:m>
                <a:endParaRPr lang="en-US" dirty="0"/>
              </a:p>
              <a:p>
                <a:endParaRPr lang="en-US" dirty="0"/>
              </a:p>
              <a:p>
                <a:endParaRPr lang="en-US" dirty="0"/>
              </a:p>
              <a:p>
                <a:endParaRPr lang="en-US" dirty="0"/>
              </a:p>
              <a:p>
                <a:endParaRPr lang="en-US" dirty="0"/>
              </a:p>
              <a:p>
                <a:endParaRPr lang="en-US" dirty="0"/>
              </a:p>
              <a:p>
                <a:r>
                  <a:rPr lang="en-US" dirty="0"/>
                  <a:t>Answer: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𝑚</m:t>
                        </m:r>
                      </m:sub>
                    </m:sSub>
                    <m:r>
                      <a:rPr lang="en-US" b="0" i="1" smtClean="0">
                        <a:latin typeface="Cambria Math" panose="02040503050406030204" pitchFamily="18" charset="0"/>
                      </a:rPr>
                      <m:t>=</m:t>
                    </m:r>
                    <m:r>
                      <a:rPr lang="en-US" b="0" i="1" smtClean="0">
                        <a:latin typeface="Cambria Math" panose="02040503050406030204" pitchFamily="18" charset="0"/>
                      </a:rPr>
                      <m:t>0</m:t>
                    </m:r>
                    <m:r>
                      <a:rPr lang="en-US" b="0" i="1" smtClean="0">
                        <a:latin typeface="Cambria Math" panose="02040503050406030204" pitchFamily="18" charset="0"/>
                      </a:rPr>
                      <m:t>.</m:t>
                    </m:r>
                    <m:r>
                      <a:rPr lang="en-US" b="0" i="1" smtClean="0">
                        <a:latin typeface="Cambria Math" panose="02040503050406030204" pitchFamily="18" charset="0"/>
                      </a:rPr>
                      <m:t>78</m:t>
                    </m:r>
                    <m:r>
                      <a:rPr lang="en-US" b="0" i="1" smtClean="0">
                        <a:latin typeface="Cambria Math" panose="02040503050406030204" pitchFamily="18" charset="0"/>
                      </a:rPr>
                      <m:t>𝑚𝐴</m:t>
                    </m:r>
                    <m:r>
                      <a:rPr lang="en-US" b="0" i="1" smtClean="0">
                        <a:latin typeface="Cambria Math" panose="02040503050406030204" pitchFamily="18" charset="0"/>
                      </a:rPr>
                      <m:t>/</m:t>
                    </m:r>
                    <m:r>
                      <a:rPr lang="en-US" b="0" i="1" smtClean="0">
                        <a:latin typeface="Cambria Math" panose="02040503050406030204" pitchFamily="18" charset="0"/>
                      </a:rPr>
                      <m:t>𝑉</m:t>
                    </m:r>
                  </m:oMath>
                </a14:m>
                <a:r>
                  <a:rPr lang="en-US" dirty="0"/>
                  <a:t> ,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𝑣</m:t>
                        </m:r>
                      </m:sub>
                    </m:sSub>
                    <m:r>
                      <a:rPr lang="en-US" b="0" i="1" smtClean="0">
                        <a:latin typeface="Cambria Math" panose="02040503050406030204" pitchFamily="18" charset="0"/>
                      </a:rPr>
                      <m:t>=−</m:t>
                    </m:r>
                    <m:r>
                      <a:rPr lang="en-US" b="0" i="1" smtClean="0">
                        <a:latin typeface="Cambria Math" panose="02040503050406030204" pitchFamily="18" charset="0"/>
                      </a:rPr>
                      <m:t>3</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0">
                <a:blip r:embed="rId3"/>
                <a:stretch>
                  <a:fillRect t="-875" r="-449" b="-4750"/>
                </a:stretch>
              </a:blipFill>
            </p:spPr>
            <p:txBody>
              <a:bodyPr/>
              <a:lstStyle/>
              <a:p>
                <a:r>
                  <a:rPr lang="fa-IR">
                    <a:noFill/>
                  </a:rPr>
                  <a:t> </a:t>
                </a:r>
              </a:p>
            </p:txBody>
          </p:sp>
        </mc:Fallback>
      </mc:AlternateContent>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12. ترانزیستور (ادامه)</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43</a:t>
            </a:fld>
            <a:endParaRPr lang="en-US" altLang="en-US" dirty="0"/>
          </a:p>
        </p:txBody>
      </p:sp>
      <p:sp>
        <p:nvSpPr>
          <p:cNvPr id="11" name="TextBox 10"/>
          <p:cNvSpPr txBox="1"/>
          <p:nvPr/>
        </p:nvSpPr>
        <p:spPr>
          <a:xfrm>
            <a:off x="1038725" y="2895600"/>
            <a:ext cx="458780" cy="553998"/>
          </a:xfrm>
          <a:prstGeom prst="rect">
            <a:avLst/>
          </a:prstGeom>
          <a:noFill/>
        </p:spPr>
        <p:txBody>
          <a:bodyPr wrap="none" rtlCol="0">
            <a:spAutoFit/>
          </a:bodyPr>
          <a:lstStyle/>
          <a:p>
            <a:r>
              <a:rPr lang="en-US" sz="3000" dirty="0"/>
              <a:t>∞</a:t>
            </a:r>
          </a:p>
        </p:txBody>
      </p:sp>
    </p:spTree>
    <p:extLst>
      <p:ext uri="{BB962C8B-B14F-4D97-AF65-F5344CB8AC3E}">
        <p14:creationId xmlns:p14="http://schemas.microsoft.com/office/powerpoint/2010/main" val="42532728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a:off x="408920" y="1519238"/>
            <a:ext cx="4391680" cy="4119562"/>
          </a:xfrm>
          <a:prstGeom prst="rect">
            <a:avLst/>
          </a:prstGeom>
        </p:spPr>
      </p:pic>
      <p:sp>
        <p:nvSpPr>
          <p:cNvPr id="2" name="Title 1"/>
          <p:cNvSpPr>
            <a:spLocks noGrp="1"/>
          </p:cNvSpPr>
          <p:nvPr>
            <p:ph type="title"/>
          </p:nvPr>
        </p:nvSpPr>
        <p:spPr/>
        <p:txBody>
          <a:bodyPr/>
          <a:lstStyle/>
          <a:p>
            <a:r>
              <a:rPr lang="fa-IR" dirty="0"/>
              <a:t>تمرین کلاسی 3 (سورس مشترک)</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fa-IR" dirty="0"/>
                  <a:t>مقاومت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𝑅</m:t>
                        </m:r>
                      </m:e>
                      <m:sub>
                        <m:r>
                          <a:rPr lang="en-US" b="0" i="1" dirty="0" smtClean="0">
                            <a:latin typeface="Cambria Math" panose="02040503050406030204" pitchFamily="18" charset="0"/>
                          </a:rPr>
                          <m:t>𝐷</m:t>
                        </m:r>
                      </m:sub>
                    </m:sSub>
                  </m:oMath>
                </a14:m>
                <a:r>
                  <a:rPr lang="fa-IR" dirty="0"/>
                  <a:t> و حالت کاری ترانزیستور را بیابید.</a:t>
                </a:r>
                <a:endParaRPr lang="en-US" dirty="0"/>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𝑇</m:t>
                        </m:r>
                      </m:sub>
                    </m:sSub>
                    <m:r>
                      <a:rPr lang="en-US" b="0" i="1" smtClean="0">
                        <a:latin typeface="Cambria Math" panose="02040503050406030204" pitchFamily="18" charset="0"/>
                      </a:rPr>
                      <m:t>=</m:t>
                    </m:r>
                    <m:r>
                      <a:rPr lang="en-US" b="0" i="1" smtClean="0">
                        <a:latin typeface="Cambria Math" panose="02040503050406030204" pitchFamily="18" charset="0"/>
                      </a:rPr>
                      <m:t>0</m:t>
                    </m:r>
                    <m:r>
                      <a:rPr lang="en-US" b="0" i="1" smtClean="0">
                        <a:latin typeface="Cambria Math" panose="02040503050406030204" pitchFamily="18" charset="0"/>
                      </a:rPr>
                      <m:t>.</m:t>
                    </m:r>
                    <m:r>
                      <a:rPr lang="en-US" b="0" i="1" smtClean="0">
                        <a:latin typeface="Cambria Math" panose="02040503050406030204" pitchFamily="18" charset="0"/>
                      </a:rPr>
                      <m:t>8</m:t>
                    </m:r>
                    <m:r>
                      <a:rPr lang="en-US" b="0" i="1" smtClean="0">
                        <a:latin typeface="Cambria Math" panose="02040503050406030204" pitchFamily="18" charset="0"/>
                      </a:rPr>
                      <m:t>𝑉</m:t>
                    </m:r>
                    <m:r>
                      <a:rPr lang="en-US" b="0" i="1" smtClean="0">
                        <a:latin typeface="Cambria Math" panose="02040503050406030204" pitchFamily="18" charset="0"/>
                      </a:rPr>
                      <m:t>, </m:t>
                    </m:r>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0</m:t>
                    </m:r>
                    <m:r>
                      <a:rPr lang="en-US" b="0" i="1" smtClean="0">
                        <a:latin typeface="Cambria Math" panose="02040503050406030204" pitchFamily="18" charset="0"/>
                      </a:rPr>
                      <m:t>.</m:t>
                    </m:r>
                    <m:r>
                      <a:rPr lang="en-US" b="0" i="1" smtClean="0">
                        <a:latin typeface="Cambria Math" panose="02040503050406030204" pitchFamily="18" charset="0"/>
                      </a:rPr>
                      <m:t>24</m:t>
                    </m:r>
                    <m:r>
                      <a:rPr lang="en-US" b="0" i="1" smtClean="0">
                        <a:latin typeface="Cambria Math" panose="02040503050406030204" pitchFamily="18" charset="0"/>
                      </a:rPr>
                      <m:t>𝑚𝐴</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2</m:t>
                        </m:r>
                      </m:sup>
                    </m:sSup>
                  </m:oMath>
                </a14:m>
                <a:endParaRPr lang="en-US" dirty="0"/>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𝑄</m:t>
                        </m:r>
                      </m:sub>
                    </m:sSub>
                    <m:r>
                      <a:rPr lang="en-US" b="0" i="1" smtClean="0">
                        <a:latin typeface="Cambria Math" panose="02040503050406030204" pitchFamily="18" charset="0"/>
                      </a:rPr>
                      <m:t>=</m:t>
                    </m:r>
                    <m:r>
                      <a:rPr lang="en-US" b="0" i="1" smtClean="0">
                        <a:latin typeface="Cambria Math" panose="02040503050406030204" pitchFamily="18" charset="0"/>
                      </a:rPr>
                      <m:t>250</m:t>
                    </m:r>
                    <m:r>
                      <a:rPr lang="en-US" b="0" i="1" smtClean="0">
                        <a:latin typeface="Cambria Math" panose="02040503050406030204" pitchFamily="18" charset="0"/>
                      </a:rPr>
                      <m:t>𝜇</m:t>
                    </m:r>
                    <m:r>
                      <a:rPr lang="en-US" b="0" i="1" smtClean="0">
                        <a:latin typeface="Cambria Math" panose="02040503050406030204" pitchFamily="18" charset="0"/>
                      </a:rPr>
                      <m:t>𝐴</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𝐷</m:t>
                        </m:r>
                      </m:sub>
                    </m:sSub>
                    <m:r>
                      <a:rPr lang="en-US" b="0" i="1" smtClean="0">
                        <a:latin typeface="Cambria Math" panose="02040503050406030204" pitchFamily="18" charset="0"/>
                      </a:rPr>
                      <m:t>=</m:t>
                    </m:r>
                    <m:r>
                      <a:rPr lang="en-US" b="0" i="1" smtClean="0">
                        <a:latin typeface="Cambria Math" panose="02040503050406030204" pitchFamily="18" charset="0"/>
                      </a:rPr>
                      <m:t>2</m:t>
                    </m:r>
                    <m:r>
                      <a:rPr lang="en-US" b="0" i="1" smtClean="0">
                        <a:latin typeface="Cambria Math" panose="02040503050406030204" pitchFamily="18" charset="0"/>
                      </a:rPr>
                      <m:t>.</m:t>
                    </m:r>
                    <m:r>
                      <a:rPr lang="en-US" b="0" i="1" smtClean="0">
                        <a:latin typeface="Cambria Math" panose="02040503050406030204" pitchFamily="18" charset="0"/>
                      </a:rPr>
                      <m:t>5</m:t>
                    </m:r>
                    <m:r>
                      <a:rPr lang="en-US" b="0" i="1" smtClean="0">
                        <a:latin typeface="Cambria Math" panose="02040503050406030204" pitchFamily="18" charset="0"/>
                      </a:rPr>
                      <m:t>𝑉</m:t>
                    </m:r>
                  </m:oMath>
                </a14:m>
                <a:endParaRPr lang="en-US" dirty="0"/>
              </a:p>
              <a:p>
                <a:endParaRPr lang="en-US" dirty="0"/>
              </a:p>
              <a:p>
                <a:endParaRPr lang="en-US" dirty="0"/>
              </a:p>
              <a:p>
                <a:endParaRPr lang="en-US" dirty="0"/>
              </a:p>
              <a:p>
                <a:endParaRPr lang="en-US" dirty="0"/>
              </a:p>
              <a:p>
                <a:endParaRPr lang="en-US" dirty="0"/>
              </a:p>
              <a:p>
                <a:r>
                  <a:rPr lang="en-US" dirty="0"/>
                  <a:t>Answer: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𝐷</m:t>
                        </m:r>
                      </m:sub>
                    </m:sSub>
                    <m:r>
                      <a:rPr lang="en-US" b="0" i="1" smtClean="0">
                        <a:latin typeface="Cambria Math" panose="02040503050406030204" pitchFamily="18" charset="0"/>
                      </a:rPr>
                      <m:t>=</m:t>
                    </m:r>
                    <m:r>
                      <a:rPr lang="en-US" b="0" i="1" smtClean="0">
                        <a:latin typeface="Cambria Math" panose="02040503050406030204" pitchFamily="18" charset="0"/>
                      </a:rPr>
                      <m:t>10</m:t>
                    </m:r>
                    <m:r>
                      <a:rPr lang="en-US" b="0" i="1" smtClean="0">
                        <a:latin typeface="Cambria Math" panose="02040503050406030204" pitchFamily="18" charset="0"/>
                      </a:rPr>
                      <m:t>𝐾</m:t>
                    </m:r>
                    <m:r>
                      <m:rPr>
                        <m:sty m:val="p"/>
                      </m:rPr>
                      <a:rPr lang="en-US" b="0" i="0" smtClean="0">
                        <a:latin typeface="Cambria Math" panose="02040503050406030204" pitchFamily="18" charset="0"/>
                      </a:rPr>
                      <m:t>Ω</m:t>
                    </m:r>
                  </m:oMath>
                </a14:m>
                <a:r>
                  <a:rPr lang="en-US" dirty="0"/>
                  <a:t>, saturation</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0">
                <a:blip r:embed="rId3"/>
                <a:stretch>
                  <a:fillRect t="-875" r="-449" b="-2375"/>
                </a:stretch>
              </a:blipFill>
            </p:spPr>
            <p:txBody>
              <a:bodyPr/>
              <a:lstStyle/>
              <a:p>
                <a:r>
                  <a:rPr lang="fa-IR">
                    <a:noFill/>
                  </a:rPr>
                  <a:t> </a:t>
                </a:r>
              </a:p>
            </p:txBody>
          </p:sp>
        </mc:Fallback>
      </mc:AlternateContent>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12. ترانزیستور (ادامه)</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44</a:t>
            </a:fld>
            <a:endParaRPr lang="en-US" altLang="en-US" dirty="0"/>
          </a:p>
        </p:txBody>
      </p:sp>
    </p:spTree>
    <p:extLst>
      <p:ext uri="{BB962C8B-B14F-4D97-AF65-F5344CB8AC3E}">
        <p14:creationId xmlns:p14="http://schemas.microsoft.com/office/powerpoint/2010/main" val="24223772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biLevel thresh="75000"/>
          </a:blip>
          <a:stretch>
            <a:fillRect/>
          </a:stretch>
        </p:blipFill>
        <p:spPr>
          <a:xfrm>
            <a:off x="1583500" y="1905000"/>
            <a:ext cx="7197948" cy="3617660"/>
          </a:xfrm>
          <a:prstGeom prst="rect">
            <a:avLst/>
          </a:prstGeom>
        </p:spPr>
      </p:pic>
      <p:sp>
        <p:nvSpPr>
          <p:cNvPr id="2" name="Title 1"/>
          <p:cNvSpPr>
            <a:spLocks noGrp="1"/>
          </p:cNvSpPr>
          <p:nvPr>
            <p:ph type="title"/>
          </p:nvPr>
        </p:nvSpPr>
        <p:spPr/>
        <p:txBody>
          <a:bodyPr/>
          <a:lstStyle/>
          <a:p>
            <a:r>
              <a:rPr lang="fa-IR" dirty="0"/>
              <a:t>تمرین کلاسی 4 (درین مشترک)</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14:m>
                  <m:oMath xmlns:m="http://schemas.openxmlformats.org/officeDocument/2006/math">
                    <m:sSub>
                      <m:sSubPr>
                        <m:ctrlPr>
                          <a:rPr lang="en-US" sz="2800" i="1" smtClean="0">
                            <a:latin typeface="Cambria Math" panose="02040503050406030204" pitchFamily="18" charset="0"/>
                          </a:rPr>
                        </m:ctrlPr>
                      </m:sSubPr>
                      <m:e>
                        <m:r>
                          <a:rPr lang="en-US" sz="2800" i="1">
                            <a:latin typeface="Cambria Math" panose="02040503050406030204" pitchFamily="18" charset="0"/>
                          </a:rPr>
                          <m:t>𝑔</m:t>
                        </m:r>
                      </m:e>
                      <m:sub>
                        <m:r>
                          <a:rPr lang="en-US" sz="2800" i="1">
                            <a:latin typeface="Cambria Math" panose="02040503050406030204" pitchFamily="18" charset="0"/>
                          </a:rPr>
                          <m:t>𝑚</m:t>
                        </m:r>
                      </m:sub>
                    </m:sSub>
                  </m:oMath>
                </a14:m>
                <a:r>
                  <a:rPr lang="en-US" sz="2800" dirty="0"/>
                  <a:t> </a:t>
                </a:r>
                <a:r>
                  <a:rPr lang="fa-IR" sz="2800" dirty="0"/>
                  <a:t> و </a:t>
                </a:r>
                <a:r>
                  <a:rPr lang="en-US" sz="2800" dirty="0"/>
                  <a:t> </a:t>
                </a:r>
                <a14:m>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𝐴</m:t>
                        </m:r>
                      </m:e>
                      <m:sub>
                        <m:r>
                          <a:rPr lang="en-US" sz="2800" b="0" i="1" smtClean="0">
                            <a:latin typeface="Cambria Math" panose="02040503050406030204" pitchFamily="18" charset="0"/>
                          </a:rPr>
                          <m:t>𝑣</m:t>
                        </m:r>
                      </m:sub>
                    </m:sSub>
                  </m:oMath>
                </a14:m>
                <a:r>
                  <a:rPr lang="fa-IR" sz="2800" dirty="0"/>
                  <a:t>را بیابید.</a:t>
                </a:r>
                <a:endParaRPr lang="en-US" sz="2800" dirty="0"/>
              </a:p>
              <a:p>
                <a:pPr algn="l" rtl="0"/>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𝑉</m:t>
                        </m:r>
                      </m:e>
                      <m:sub>
                        <m:r>
                          <a:rPr lang="en-US" sz="2800" i="1">
                            <a:latin typeface="Cambria Math" panose="02040503050406030204" pitchFamily="18" charset="0"/>
                          </a:rPr>
                          <m:t>𝑇</m:t>
                        </m:r>
                      </m:sub>
                    </m:sSub>
                    <m:r>
                      <a:rPr lang="en-US" sz="2800" i="1">
                        <a:latin typeface="Cambria Math" panose="02040503050406030204" pitchFamily="18" charset="0"/>
                      </a:rPr>
                      <m:t>=</m:t>
                    </m:r>
                    <m:r>
                      <a:rPr lang="en-US" sz="2800" i="1">
                        <a:latin typeface="Cambria Math" panose="02040503050406030204" pitchFamily="18" charset="0"/>
                      </a:rPr>
                      <m:t>0</m:t>
                    </m:r>
                    <m:r>
                      <a:rPr lang="en-US" sz="2800" i="1">
                        <a:latin typeface="Cambria Math" panose="02040503050406030204" pitchFamily="18" charset="0"/>
                      </a:rPr>
                      <m:t>.</m:t>
                    </m:r>
                    <m:r>
                      <a:rPr lang="en-US" sz="2800" b="0" i="1" smtClean="0">
                        <a:latin typeface="Cambria Math" panose="02040503050406030204" pitchFamily="18" charset="0"/>
                      </a:rPr>
                      <m:t>8</m:t>
                    </m:r>
                    <m:r>
                      <a:rPr lang="en-US" sz="2800" i="1">
                        <a:latin typeface="Cambria Math" panose="02040503050406030204" pitchFamily="18" charset="0"/>
                      </a:rPr>
                      <m:t>𝑉</m:t>
                    </m:r>
                    <m:r>
                      <a:rPr lang="en-US" sz="2800" i="1">
                        <a:latin typeface="Cambria Math" panose="02040503050406030204" pitchFamily="18" charset="0"/>
                      </a:rPr>
                      <m:t>, </m:t>
                    </m:r>
                    <m:r>
                      <a:rPr lang="en-US" sz="2800" b="0" i="1" smtClean="0">
                        <a:latin typeface="Cambria Math" panose="02040503050406030204" pitchFamily="18" charset="0"/>
                      </a:rPr>
                      <m:t>𝐾</m:t>
                    </m:r>
                    <m:r>
                      <a:rPr lang="en-US" sz="2800" i="1">
                        <a:latin typeface="Cambria Math" panose="02040503050406030204" pitchFamily="18" charset="0"/>
                      </a:rPr>
                      <m:t>=</m:t>
                    </m:r>
                    <m:r>
                      <a:rPr lang="en-US" sz="2800" i="1">
                        <a:latin typeface="Cambria Math" panose="02040503050406030204" pitchFamily="18" charset="0"/>
                      </a:rPr>
                      <m:t>0</m:t>
                    </m:r>
                    <m:r>
                      <a:rPr lang="en-US" sz="2800" i="1">
                        <a:latin typeface="Cambria Math" panose="02040503050406030204" pitchFamily="18" charset="0"/>
                      </a:rPr>
                      <m:t>.</m:t>
                    </m:r>
                    <m:r>
                      <a:rPr lang="en-US" sz="2800" i="1">
                        <a:latin typeface="Cambria Math" panose="02040503050406030204" pitchFamily="18" charset="0"/>
                      </a:rPr>
                      <m:t>5</m:t>
                    </m:r>
                    <m:r>
                      <a:rPr lang="en-US" sz="2800" i="1">
                        <a:latin typeface="Cambria Math" panose="02040503050406030204" pitchFamily="18" charset="0"/>
                      </a:rPr>
                      <m:t>𝑚𝐴</m:t>
                    </m:r>
                    <m:r>
                      <a:rPr lang="en-US" sz="2800" i="1">
                        <a:latin typeface="Cambria Math" panose="02040503050406030204" pitchFamily="18" charset="0"/>
                      </a:rPr>
                      <m:t>/</m:t>
                    </m:r>
                    <m:sSup>
                      <m:sSupPr>
                        <m:ctrlPr>
                          <a:rPr lang="en-US" sz="2800" i="1">
                            <a:latin typeface="Cambria Math" panose="02040503050406030204" pitchFamily="18" charset="0"/>
                          </a:rPr>
                        </m:ctrlPr>
                      </m:sSupPr>
                      <m:e>
                        <m:r>
                          <a:rPr lang="en-US" sz="2800" i="1">
                            <a:latin typeface="Cambria Math" panose="02040503050406030204" pitchFamily="18" charset="0"/>
                          </a:rPr>
                          <m:t>𝑉</m:t>
                        </m:r>
                      </m:e>
                      <m:sup>
                        <m:r>
                          <a:rPr lang="en-US" sz="2800" i="1">
                            <a:latin typeface="Cambria Math" panose="02040503050406030204" pitchFamily="18" charset="0"/>
                          </a:rPr>
                          <m:t>2</m:t>
                        </m:r>
                      </m:sup>
                    </m:sSup>
                  </m:oMath>
                </a14:m>
                <a:endParaRPr lang="en-US" sz="2800" dirty="0"/>
              </a:p>
              <a:p>
                <a:endParaRPr lang="en-US" dirty="0"/>
              </a:p>
              <a:p>
                <a:endParaRPr lang="en-US" dirty="0"/>
              </a:p>
              <a:p>
                <a:endParaRPr lang="en-US" dirty="0"/>
              </a:p>
              <a:p>
                <a:endParaRPr lang="en-US" dirty="0"/>
              </a:p>
              <a:p>
                <a:endParaRPr lang="en-US" dirty="0"/>
              </a:p>
              <a:p>
                <a:endParaRPr lang="en-US" dirty="0"/>
              </a:p>
              <a:p>
                <a:r>
                  <a:rPr lang="en-US" dirty="0"/>
                  <a:t>Answer:</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r>
                      <a:rPr lang="en-US" i="1">
                        <a:latin typeface="Cambria Math" panose="02040503050406030204" pitchFamily="18" charset="0"/>
                      </a:rPr>
                      <m:t>=</m:t>
                    </m:r>
                    <m:r>
                      <a:rPr lang="en-US" b="0" i="1" smtClean="0">
                        <a:latin typeface="Cambria Math" panose="02040503050406030204" pitchFamily="18" charset="0"/>
                      </a:rPr>
                      <m:t>1</m:t>
                    </m:r>
                    <m:r>
                      <a:rPr lang="en-US" i="1">
                        <a:latin typeface="Cambria Math" panose="02040503050406030204" pitchFamily="18" charset="0"/>
                      </a:rPr>
                      <m:t>𝑚𝐴</m:t>
                    </m:r>
                    <m:r>
                      <a:rPr lang="en-US" i="1">
                        <a:latin typeface="Cambria Math" panose="02040503050406030204" pitchFamily="18" charset="0"/>
                      </a:rPr>
                      <m:t>/</m:t>
                    </m:r>
                    <m:r>
                      <a:rPr lang="en-US" i="1">
                        <a:latin typeface="Cambria Math" panose="02040503050406030204" pitchFamily="18" charset="0"/>
                      </a:rPr>
                      <m:t>𝑉</m:t>
                    </m:r>
                  </m:oMath>
                </a14:m>
                <a:r>
                  <a:rPr lang="en-US" dirty="0"/>
                  <a:t> ,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𝑣</m:t>
                        </m:r>
                      </m:sub>
                    </m:sSub>
                    <m:r>
                      <a:rPr lang="en-US" i="1">
                        <a:latin typeface="Cambria Math" panose="02040503050406030204" pitchFamily="18" charset="0"/>
                      </a:rPr>
                      <m:t>=</m:t>
                    </m:r>
                    <m:r>
                      <a:rPr lang="en-US" b="0" i="1" smtClean="0">
                        <a:latin typeface="Cambria Math" panose="02040503050406030204" pitchFamily="18" charset="0"/>
                      </a:rPr>
                      <m:t>0</m:t>
                    </m:r>
                    <m:r>
                      <a:rPr lang="en-US" b="0" i="1" smtClean="0">
                        <a:latin typeface="Cambria Math" panose="02040503050406030204" pitchFamily="18" charset="0"/>
                      </a:rPr>
                      <m:t>.</m:t>
                    </m:r>
                    <m:r>
                      <a:rPr lang="en-US" b="0" i="1" smtClean="0">
                        <a:latin typeface="Cambria Math" panose="02040503050406030204" pitchFamily="18" charset="0"/>
                      </a:rPr>
                      <m:t>45</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0">
                <a:blip r:embed="rId3"/>
                <a:stretch>
                  <a:fillRect t="-875" r="-449" b="-1000"/>
                </a:stretch>
              </a:blipFill>
            </p:spPr>
            <p:txBody>
              <a:bodyPr/>
              <a:lstStyle/>
              <a:p>
                <a:r>
                  <a:rPr lang="fa-IR">
                    <a:noFill/>
                  </a:rPr>
                  <a:t> </a:t>
                </a:r>
              </a:p>
            </p:txBody>
          </p:sp>
        </mc:Fallback>
      </mc:AlternateContent>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12. ترانزیستور (ادامه)</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45</a:t>
            </a:fld>
            <a:endParaRPr lang="en-US" altLang="en-US" dirty="0"/>
          </a:p>
        </p:txBody>
      </p:sp>
      <p:sp>
        <p:nvSpPr>
          <p:cNvPr id="10" name="TextBox 9"/>
          <p:cNvSpPr txBox="1"/>
          <p:nvPr/>
        </p:nvSpPr>
        <p:spPr>
          <a:xfrm>
            <a:off x="3886200" y="2322260"/>
            <a:ext cx="458780" cy="553998"/>
          </a:xfrm>
          <a:prstGeom prst="rect">
            <a:avLst/>
          </a:prstGeom>
          <a:noFill/>
        </p:spPr>
        <p:txBody>
          <a:bodyPr wrap="none" rtlCol="0">
            <a:spAutoFit/>
          </a:bodyPr>
          <a:lstStyle/>
          <a:p>
            <a:r>
              <a:rPr lang="en-US" sz="3000" dirty="0"/>
              <a:t>∞</a:t>
            </a:r>
          </a:p>
        </p:txBody>
      </p:sp>
      <p:sp>
        <p:nvSpPr>
          <p:cNvPr id="11" name="TextBox 10"/>
          <p:cNvSpPr txBox="1"/>
          <p:nvPr/>
        </p:nvSpPr>
        <p:spPr>
          <a:xfrm>
            <a:off x="6172200" y="3004852"/>
            <a:ext cx="458780" cy="553998"/>
          </a:xfrm>
          <a:prstGeom prst="rect">
            <a:avLst/>
          </a:prstGeom>
          <a:noFill/>
        </p:spPr>
        <p:txBody>
          <a:bodyPr wrap="none" rtlCol="0">
            <a:spAutoFit/>
          </a:bodyPr>
          <a:lstStyle/>
          <a:p>
            <a:r>
              <a:rPr lang="en-US" sz="3000" dirty="0"/>
              <a:t>∞</a:t>
            </a:r>
          </a:p>
        </p:txBody>
      </p:sp>
    </p:spTree>
    <p:extLst>
      <p:ext uri="{BB962C8B-B14F-4D97-AF65-F5344CB8AC3E}">
        <p14:creationId xmlns:p14="http://schemas.microsoft.com/office/powerpoint/2010/main" val="9189812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مقاومت ورودی و خروجی</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fa-IR" dirty="0"/>
                  <a:t>در یک تقویت کننده، معمولا می‌خواهیم:</a:t>
                </a:r>
                <a:endParaRPr lang="en-US" dirty="0"/>
              </a:p>
              <a:p>
                <a:pPr lvl="1"/>
                <a:r>
                  <a:rPr lang="fa-IR" dirty="0"/>
                  <a:t>مقاومت ورودی </a:t>
                </a:r>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𝑖</m:t>
                        </m:r>
                      </m:sub>
                    </m:sSub>
                  </m:oMath>
                </a14:m>
                <a:r>
                  <a:rPr lang="fa-IR" dirty="0"/>
                  <a:t>بزرگی داشته باشیم تا</a:t>
                </a:r>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𝑣</m:t>
                        </m:r>
                      </m:e>
                      <m:sub>
                        <m:r>
                          <a:rPr lang="en-US" b="0" i="1" smtClean="0">
                            <a:latin typeface="Cambria Math" panose="02040503050406030204" pitchFamily="18" charset="0"/>
                            <a:ea typeface="Cambria Math" panose="02040503050406030204" pitchFamily="18" charset="0"/>
                          </a:rPr>
                          <m:t>𝑠</m:t>
                        </m:r>
                      </m:sub>
                    </m:sSub>
                  </m:oMath>
                </a14:m>
                <a:r>
                  <a:rPr lang="en-US" b="0" dirty="0">
                    <a:ea typeface="Cambria Math" panose="02040503050406030204" pitchFamily="18" charset="0"/>
                  </a:rPr>
                  <a:t> </a:t>
                </a:r>
                <a:endParaRPr lang="fa-IR" b="0" dirty="0">
                  <a:ea typeface="Cambria Math" panose="02040503050406030204" pitchFamily="18" charset="0"/>
                </a:endParaRPr>
              </a:p>
              <a:p>
                <a:pPr lvl="1"/>
                <a:r>
                  <a:rPr lang="fa-IR" dirty="0"/>
                  <a:t>مقاومت خروجی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𝑜</m:t>
                        </m:r>
                      </m:sub>
                    </m:sSub>
                  </m:oMath>
                </a14:m>
                <a:r>
                  <a:rPr lang="fa-IR" dirty="0"/>
                  <a:t> کوچکی داشته باشیم تا </a:t>
                </a:r>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𝑜</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𝑣</m:t>
                        </m:r>
                      </m:sub>
                    </m:sSub>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𝑣</m:t>
                        </m:r>
                      </m:e>
                      <m:sub>
                        <m:r>
                          <a:rPr lang="en-US" b="0" i="1" smtClean="0">
                            <a:latin typeface="Cambria Math" panose="02040503050406030204" pitchFamily="18" charset="0"/>
                            <a:ea typeface="Cambria Math" panose="02040503050406030204" pitchFamily="18" charset="0"/>
                          </a:rPr>
                          <m:t>𝑖</m:t>
                        </m:r>
                      </m:sub>
                    </m:sSub>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0">
                <a:blip r:embed="rId3"/>
                <a:stretch>
                  <a:fillRect t="-1000" r="-449"/>
                </a:stretch>
              </a:blipFill>
            </p:spPr>
            <p:txBody>
              <a:bodyPr/>
              <a:lstStyle/>
              <a:p>
                <a:r>
                  <a:rPr lang="fa-IR">
                    <a:noFill/>
                  </a:rPr>
                  <a:t> </a:t>
                </a:r>
              </a:p>
            </p:txBody>
          </p:sp>
        </mc:Fallback>
      </mc:AlternateContent>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12. ترانزیستور (ادامه)</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46</a:t>
            </a:fld>
            <a:endParaRPr lang="en-US" altLang="en-US" dirty="0"/>
          </a:p>
        </p:txBody>
      </p:sp>
      <p:pic>
        <p:nvPicPr>
          <p:cNvPr id="7" name="Picture 6"/>
          <p:cNvPicPr>
            <a:picLocks noChangeAspect="1"/>
          </p:cNvPicPr>
          <p:nvPr/>
        </p:nvPicPr>
        <p:blipFill>
          <a:blip r:embed="rId4"/>
          <a:stretch>
            <a:fillRect/>
          </a:stretch>
        </p:blipFill>
        <p:spPr>
          <a:xfrm>
            <a:off x="876300" y="3496583"/>
            <a:ext cx="7300913" cy="2599417"/>
          </a:xfrm>
          <a:prstGeom prst="rect">
            <a:avLst/>
          </a:prstGeom>
        </p:spPr>
      </p:pic>
    </p:spTree>
    <p:extLst>
      <p:ext uri="{BB962C8B-B14F-4D97-AF65-F5344CB8AC3E}">
        <p14:creationId xmlns:p14="http://schemas.microsoft.com/office/powerpoint/2010/main" val="20509675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p:cNvGrpSpPr/>
          <p:nvPr/>
        </p:nvGrpSpPr>
        <p:grpSpPr>
          <a:xfrm>
            <a:off x="3733800" y="1559686"/>
            <a:ext cx="4912519" cy="4460114"/>
            <a:chOff x="609600" y="1178686"/>
            <a:chExt cx="5498307" cy="5071318"/>
          </a:xfrm>
        </p:grpSpPr>
        <p:pic>
          <p:nvPicPr>
            <p:cNvPr id="15" name="Picture 14"/>
            <p:cNvPicPr>
              <a:picLocks noChangeAspect="1"/>
            </p:cNvPicPr>
            <p:nvPr/>
          </p:nvPicPr>
          <p:blipFill>
            <a:blip r:embed="rId3">
              <a:biLevel thresh="75000"/>
            </a:blip>
            <a:stretch>
              <a:fillRect/>
            </a:stretch>
          </p:blipFill>
          <p:spPr>
            <a:xfrm>
              <a:off x="609600" y="1178686"/>
              <a:ext cx="5498307" cy="5071318"/>
            </a:xfrm>
            <a:prstGeom prst="rect">
              <a:avLst/>
            </a:prstGeom>
          </p:spPr>
        </p:pic>
        <p:sp>
          <p:nvSpPr>
            <p:cNvPr id="10" name="TextBox 9"/>
            <p:cNvSpPr txBox="1"/>
            <p:nvPr/>
          </p:nvSpPr>
          <p:spPr>
            <a:xfrm>
              <a:off x="2755107" y="3713202"/>
              <a:ext cx="458780" cy="553998"/>
            </a:xfrm>
            <a:prstGeom prst="rect">
              <a:avLst/>
            </a:prstGeom>
            <a:noFill/>
          </p:spPr>
          <p:txBody>
            <a:bodyPr wrap="none" rtlCol="0">
              <a:spAutoFit/>
            </a:bodyPr>
            <a:lstStyle/>
            <a:p>
              <a:r>
                <a:rPr lang="en-US" sz="3000" dirty="0"/>
                <a:t>∞</a:t>
              </a:r>
            </a:p>
          </p:txBody>
        </p:sp>
        <p:sp>
          <p:nvSpPr>
            <p:cNvPr id="11" name="TextBox 10"/>
            <p:cNvSpPr txBox="1"/>
            <p:nvPr/>
          </p:nvSpPr>
          <p:spPr>
            <a:xfrm>
              <a:off x="4279107" y="1981200"/>
              <a:ext cx="458780" cy="553998"/>
            </a:xfrm>
            <a:prstGeom prst="rect">
              <a:avLst/>
            </a:prstGeom>
            <a:noFill/>
          </p:spPr>
          <p:txBody>
            <a:bodyPr wrap="none" rtlCol="0">
              <a:spAutoFit/>
            </a:bodyPr>
            <a:lstStyle/>
            <a:p>
              <a:r>
                <a:rPr lang="en-US" sz="3000" dirty="0"/>
                <a:t>∞</a:t>
              </a:r>
            </a:p>
          </p:txBody>
        </p:sp>
      </p:grpSp>
      <p:sp>
        <p:nvSpPr>
          <p:cNvPr id="2" name="Title 1"/>
          <p:cNvSpPr>
            <a:spLocks noGrp="1"/>
          </p:cNvSpPr>
          <p:nvPr>
            <p:ph type="title"/>
          </p:nvPr>
        </p:nvSpPr>
        <p:spPr/>
        <p:txBody>
          <a:bodyPr/>
          <a:lstStyle/>
          <a:p>
            <a:r>
              <a:rPr lang="fa-IR" dirty="0"/>
              <a:t>تمرین کلاسی 5 (گیت مشترک)</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pPr algn="l" rtl="0"/>
                <a:r>
                  <a:rPr lang="en-US" dirty="0"/>
                  <a:t>Find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𝑣</m:t>
                        </m:r>
                      </m:sub>
                    </m:sSub>
                  </m:oMath>
                </a14:m>
                <a:endParaRPr lang="en-US" baseline="-25000" dirty="0"/>
              </a:p>
              <a:p>
                <a:pPr algn="l" rtl="0"/>
                <a:r>
                  <a:rPr lang="en-US" dirty="0"/>
                  <a:t>Find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𝑖𝑛</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𝑜</m:t>
                        </m:r>
                      </m:sub>
                    </m:sSub>
                  </m:oMath>
                </a14:m>
                <a:endParaRPr lang="en-US" dirty="0"/>
              </a:p>
              <a:p>
                <a:pPr algn="l" rtl="0"/>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𝑇</m:t>
                        </m:r>
                      </m:sub>
                    </m:sSub>
                    <m:r>
                      <a:rPr lang="en-US" i="1">
                        <a:latin typeface="Cambria Math" panose="02040503050406030204" pitchFamily="18" charset="0"/>
                      </a:rPr>
                      <m:t>=</m:t>
                    </m:r>
                    <m:r>
                      <a:rPr lang="en-US" i="1">
                        <a:latin typeface="Cambria Math" panose="02040503050406030204" pitchFamily="18" charset="0"/>
                      </a:rPr>
                      <m:t>0</m:t>
                    </m:r>
                    <m:r>
                      <a:rPr lang="en-US" i="1">
                        <a:latin typeface="Cambria Math" panose="02040503050406030204" pitchFamily="18" charset="0"/>
                      </a:rPr>
                      <m:t>.</m:t>
                    </m:r>
                    <m:r>
                      <a:rPr lang="en-US" b="0" i="1" smtClean="0">
                        <a:latin typeface="Cambria Math" panose="02040503050406030204" pitchFamily="18" charset="0"/>
                      </a:rPr>
                      <m:t>8</m:t>
                    </m:r>
                    <m:r>
                      <a:rPr lang="en-US" i="1">
                        <a:latin typeface="Cambria Math" panose="02040503050406030204" pitchFamily="18" charset="0"/>
                      </a:rPr>
                      <m:t>𝑉</m:t>
                    </m:r>
                    <m:r>
                      <a:rPr lang="en-US" i="1">
                        <a:latin typeface="Cambria Math" panose="02040503050406030204" pitchFamily="18" charset="0"/>
                      </a:rPr>
                      <m:t>, </m:t>
                    </m:r>
                    <m:r>
                      <a:rPr lang="en-US" b="0" i="1" smtClean="0">
                        <a:latin typeface="Cambria Math" panose="02040503050406030204" pitchFamily="18" charset="0"/>
                      </a:rPr>
                      <m:t>𝐾</m:t>
                    </m:r>
                    <m:r>
                      <a:rPr lang="en-US" i="1">
                        <a:latin typeface="Cambria Math" panose="02040503050406030204" pitchFamily="18" charset="0"/>
                      </a:rPr>
                      <m:t>=</m:t>
                    </m:r>
                    <m:r>
                      <a:rPr lang="en-US" i="1">
                        <a:latin typeface="Cambria Math" panose="02040503050406030204" pitchFamily="18" charset="0"/>
                      </a:rPr>
                      <m:t>0</m:t>
                    </m:r>
                    <m:r>
                      <a:rPr lang="en-US" i="1">
                        <a:latin typeface="Cambria Math" panose="02040503050406030204" pitchFamily="18" charset="0"/>
                      </a:rPr>
                      <m:t>.</m:t>
                    </m:r>
                    <m:r>
                      <a:rPr lang="en-US" i="1">
                        <a:latin typeface="Cambria Math" panose="02040503050406030204" pitchFamily="18" charset="0"/>
                      </a:rPr>
                      <m:t>5</m:t>
                    </m:r>
                    <m:r>
                      <a:rPr lang="en-US" i="1">
                        <a:latin typeface="Cambria Math" panose="02040503050406030204" pitchFamily="18" charset="0"/>
                      </a:rPr>
                      <m:t>𝑚𝐴</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𝑉</m:t>
                        </m:r>
                      </m:e>
                      <m:sup>
                        <m:r>
                          <a:rPr lang="en-US" i="1">
                            <a:latin typeface="Cambria Math" panose="02040503050406030204" pitchFamily="18" charset="0"/>
                          </a:rPr>
                          <m:t>2</m:t>
                        </m:r>
                      </m:sup>
                    </m:sSup>
                  </m:oMath>
                </a14:m>
                <a:endParaRPr lang="en-US" dirty="0"/>
              </a:p>
              <a:p>
                <a:pPr algn="l" rtl="0"/>
                <a:endParaRPr lang="en-US" dirty="0"/>
              </a:p>
              <a:p>
                <a:pPr algn="l" rtl="0"/>
                <a:endParaRPr lang="en-US" dirty="0"/>
              </a:p>
              <a:p>
                <a:pPr algn="l" rtl="0"/>
                <a:endParaRPr lang="en-US" dirty="0"/>
              </a:p>
              <a:p>
                <a:pPr algn="l" rtl="0"/>
                <a:endParaRPr lang="en-US" dirty="0"/>
              </a:p>
              <a:p>
                <a:pPr algn="l" rtl="0"/>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0">
                <a:blip r:embed="rId4"/>
                <a:stretch>
                  <a:fillRect l="-449" t="-1250"/>
                </a:stretch>
              </a:blipFill>
            </p:spPr>
            <p:txBody>
              <a:bodyPr/>
              <a:lstStyle/>
              <a:p>
                <a:r>
                  <a:rPr lang="fa-IR">
                    <a:noFill/>
                  </a:rPr>
                  <a:t> </a:t>
                </a:r>
              </a:p>
            </p:txBody>
          </p:sp>
        </mc:Fallback>
      </mc:AlternateContent>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12. ترانزیستور (ادامه)</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47</a:t>
            </a:fld>
            <a:endParaRPr lang="en-US" altLang="en-US" dirty="0"/>
          </a:p>
        </p:txBody>
      </p:sp>
    </p:spTree>
    <p:extLst>
      <p:ext uri="{BB962C8B-B14F-4D97-AF65-F5344CB8AC3E}">
        <p14:creationId xmlns:p14="http://schemas.microsoft.com/office/powerpoint/2010/main" val="145925184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گیت اینورتر </a:t>
            </a:r>
            <a:r>
              <a:rPr lang="en-US" dirty="0"/>
              <a:t>NMOS</a:t>
            </a:r>
            <a:r>
              <a:rPr lang="fa-IR" dirty="0"/>
              <a:t> با بار مقاومتی</a:t>
            </a:r>
            <a:endParaRPr lang="en-US" dirty="0"/>
          </a:p>
        </p:txBody>
      </p:sp>
      <p:sp>
        <p:nvSpPr>
          <p:cNvPr id="3" name="Content Placeholder 2"/>
          <p:cNvSpPr>
            <a:spLocks noGrp="1"/>
          </p:cNvSpPr>
          <p:nvPr>
            <p:ph sz="quarter" idx="1"/>
          </p:nvPr>
        </p:nvSpPr>
        <p:spPr/>
        <p:txBody>
          <a:bodyPr/>
          <a:lstStyle/>
          <a:p>
            <a:endParaRPr lang="en-US"/>
          </a:p>
        </p:txBody>
      </p:sp>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12. ترانزیستور (ادامه)</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48</a:t>
            </a:fld>
            <a:endParaRPr lang="en-US" altLang="en-US" dirty="0"/>
          </a:p>
        </p:txBody>
      </p:sp>
      <p:pic>
        <p:nvPicPr>
          <p:cNvPr id="9" name="Picture 8"/>
          <p:cNvPicPr>
            <a:picLocks noChangeAspect="1"/>
          </p:cNvPicPr>
          <p:nvPr/>
        </p:nvPicPr>
        <p:blipFill>
          <a:blip r:embed="rId3">
            <a:biLevel thresh="75000"/>
          </a:blip>
          <a:stretch>
            <a:fillRect/>
          </a:stretch>
        </p:blipFill>
        <p:spPr>
          <a:xfrm>
            <a:off x="483962" y="1164432"/>
            <a:ext cx="3095625" cy="4914900"/>
          </a:xfrm>
          <a:prstGeom prst="rect">
            <a:avLst/>
          </a:prstGeom>
        </p:spPr>
      </p:pic>
      <p:pic>
        <p:nvPicPr>
          <p:cNvPr id="10" name="Picture 9"/>
          <p:cNvPicPr>
            <a:picLocks noChangeAspect="1"/>
          </p:cNvPicPr>
          <p:nvPr/>
        </p:nvPicPr>
        <p:blipFill>
          <a:blip r:embed="rId4"/>
          <a:stretch>
            <a:fillRect/>
          </a:stretch>
        </p:blipFill>
        <p:spPr>
          <a:xfrm>
            <a:off x="3335971" y="1219200"/>
            <a:ext cx="5655629" cy="5010150"/>
          </a:xfrm>
          <a:prstGeom prst="rect">
            <a:avLst/>
          </a:prstGeom>
        </p:spPr>
      </p:pic>
    </p:spTree>
    <p:extLst>
      <p:ext uri="{BB962C8B-B14F-4D97-AF65-F5344CB8AC3E}">
        <p14:creationId xmlns:p14="http://schemas.microsoft.com/office/powerpoint/2010/main" val="3549440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گیت اینورتر </a:t>
            </a:r>
            <a:r>
              <a:rPr lang="en-US" dirty="0"/>
              <a:t>CMOS</a:t>
            </a:r>
          </a:p>
        </p:txBody>
      </p:sp>
      <p:sp>
        <p:nvSpPr>
          <p:cNvPr id="3" name="Content Placeholder 2"/>
          <p:cNvSpPr>
            <a:spLocks noGrp="1"/>
          </p:cNvSpPr>
          <p:nvPr>
            <p:ph sz="quarter" idx="1"/>
          </p:nvPr>
        </p:nvSpPr>
        <p:spPr/>
        <p:txBody>
          <a:bodyPr/>
          <a:lstStyle/>
          <a:p>
            <a:endParaRPr lang="en-US"/>
          </a:p>
        </p:txBody>
      </p:sp>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12. ترانزیستور (ادامه)</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49</a:t>
            </a:fld>
            <a:endParaRPr lang="en-US" altLang="en-US" dirty="0"/>
          </a:p>
        </p:txBody>
      </p:sp>
      <p:pic>
        <p:nvPicPr>
          <p:cNvPr id="7" name="Picture 6"/>
          <p:cNvPicPr>
            <a:picLocks noChangeAspect="1"/>
          </p:cNvPicPr>
          <p:nvPr/>
        </p:nvPicPr>
        <p:blipFill>
          <a:blip r:embed="rId3">
            <a:biLevel thresh="75000"/>
          </a:blip>
          <a:stretch>
            <a:fillRect/>
          </a:stretch>
        </p:blipFill>
        <p:spPr>
          <a:xfrm>
            <a:off x="506880" y="1237489"/>
            <a:ext cx="3094364" cy="4934711"/>
          </a:xfrm>
          <a:prstGeom prst="rect">
            <a:avLst/>
          </a:prstGeom>
        </p:spPr>
      </p:pic>
      <p:pic>
        <p:nvPicPr>
          <p:cNvPr id="10" name="Picture 9"/>
          <p:cNvPicPr>
            <a:picLocks noChangeAspect="1"/>
          </p:cNvPicPr>
          <p:nvPr/>
        </p:nvPicPr>
        <p:blipFill>
          <a:blip r:embed="rId4">
            <a:biLevel thresh="75000"/>
          </a:blip>
          <a:stretch>
            <a:fillRect/>
          </a:stretch>
        </p:blipFill>
        <p:spPr>
          <a:xfrm>
            <a:off x="3707012" y="1219200"/>
            <a:ext cx="5079507" cy="5001702"/>
          </a:xfrm>
          <a:prstGeom prst="rect">
            <a:avLst/>
          </a:prstGeom>
        </p:spPr>
      </p:pic>
    </p:spTree>
    <p:extLst>
      <p:ext uri="{BB962C8B-B14F-4D97-AF65-F5344CB8AC3E}">
        <p14:creationId xmlns:p14="http://schemas.microsoft.com/office/powerpoint/2010/main" val="26715042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تمرین کلاسی </a:t>
            </a:r>
            <a:endParaRPr lang="en-US" dirty="0">
              <a:solidFill>
                <a:srgbClr val="FF0000"/>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fa-IR" dirty="0"/>
                  <a:t>تابع </a:t>
                </a:r>
                <a14:m>
                  <m:oMath xmlns:m="http://schemas.openxmlformats.org/officeDocument/2006/math">
                    <m:r>
                      <a:rPr lang="en-US" b="0" i="1" smtClean="0">
                        <a:latin typeface="Cambria Math" panose="02040503050406030204" pitchFamily="18" charset="0"/>
                      </a:rPr>
                      <m:t>𝑌</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𝐵</m:t>
                        </m:r>
                        <m:r>
                          <a:rPr lang="en-US" b="0" i="1" smtClean="0">
                            <a:latin typeface="Cambria Math" panose="02040503050406030204" pitchFamily="18" charset="0"/>
                          </a:rPr>
                          <m:t>+</m:t>
                        </m:r>
                        <m:r>
                          <a:rPr lang="en-US" b="0" i="1" smtClean="0">
                            <a:latin typeface="Cambria Math" panose="02040503050406030204" pitchFamily="18" charset="0"/>
                          </a:rPr>
                          <m:t>𝐶𝐷</m:t>
                        </m:r>
                        <m:r>
                          <a:rPr lang="en-US" b="0" i="1" smtClean="0">
                            <a:latin typeface="Cambria Math" panose="02040503050406030204" pitchFamily="18" charset="0"/>
                          </a:rPr>
                          <m:t>)</m:t>
                        </m:r>
                      </m:e>
                    </m:acc>
                  </m:oMath>
                </a14:m>
                <a:r>
                  <a:rPr lang="fa-IR" dirty="0"/>
                  <a:t> را پیاده‌سازی کنید.</a:t>
                </a:r>
              </a:p>
              <a:p>
                <a:pPr lvl="1"/>
                <a:r>
                  <a:rPr lang="fa-IR" dirty="0"/>
                  <a:t>فقط با استفاده از </a:t>
                </a:r>
                <a:r>
                  <a:rPr lang="en-US" dirty="0"/>
                  <a:t>NMOS</a:t>
                </a:r>
                <a:r>
                  <a:rPr lang="fa-IR" dirty="0"/>
                  <a:t> و مقاومت</a:t>
                </a:r>
              </a:p>
              <a:p>
                <a:pPr lvl="1"/>
                <a:r>
                  <a:rPr lang="fa-IR" dirty="0"/>
                  <a:t>با استفاده از ساختار </a:t>
                </a:r>
                <a:r>
                  <a:rPr lang="en-US" dirty="0"/>
                  <a:t>CMOS</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0">
                <a:blip r:embed="rId2"/>
                <a:stretch>
                  <a:fillRect t="-625" r="-449"/>
                </a:stretch>
              </a:blipFill>
            </p:spPr>
            <p:txBody>
              <a:bodyPr/>
              <a:lstStyle/>
              <a:p>
                <a:r>
                  <a:rPr lang="fa-IR">
                    <a:noFill/>
                  </a:rPr>
                  <a:t> </a:t>
                </a:r>
              </a:p>
            </p:txBody>
          </p:sp>
        </mc:Fallback>
      </mc:AlternateContent>
      <p:sp>
        <p:nvSpPr>
          <p:cNvPr id="4" name="Date Placeholder 3"/>
          <p:cNvSpPr>
            <a:spLocks noGrp="1"/>
          </p:cNvSpPr>
          <p:nvPr>
            <p:ph type="dt" sz="half" idx="10"/>
          </p:nvPr>
        </p:nvSpPr>
        <p:spPr/>
        <p:txBody>
          <a:bodyPr/>
          <a:lstStyle/>
          <a:p>
            <a:pPr>
              <a:defRPr/>
            </a:pPr>
            <a:r>
              <a:rPr lang="en-US" altLang="en-US"/>
              <a:t>Electrical Circuits</a:t>
            </a:r>
            <a:endParaRPr lang="en-US" altLang="en-US" dirty="0"/>
          </a:p>
        </p:txBody>
      </p:sp>
      <p:sp>
        <p:nvSpPr>
          <p:cNvPr id="5" name="Footer Placeholder 4"/>
          <p:cNvSpPr>
            <a:spLocks noGrp="1"/>
          </p:cNvSpPr>
          <p:nvPr>
            <p:ph type="ftr" sz="quarter" idx="11"/>
          </p:nvPr>
        </p:nvSpPr>
        <p:spPr/>
        <p:txBody>
          <a:bodyPr/>
          <a:lstStyle/>
          <a:p>
            <a:pPr>
              <a:defRPr/>
            </a:pPr>
            <a:r>
              <a:rPr lang="en-US" altLang="en-US"/>
              <a:t>13. MOSFET Transistors 2</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50</a:t>
            </a:fld>
            <a:endParaRPr lang="en-US" altLang="en-US" dirty="0"/>
          </a:p>
        </p:txBody>
      </p:sp>
    </p:spTree>
    <p:extLst>
      <p:ext uri="{BB962C8B-B14F-4D97-AF65-F5344CB8AC3E}">
        <p14:creationId xmlns:p14="http://schemas.microsoft.com/office/powerpoint/2010/main" val="4270885022"/>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5644</TotalTime>
  <Words>2982</Words>
  <Application>Microsoft Office PowerPoint</Application>
  <PresentationFormat>On-screen Show (4:3)</PresentationFormat>
  <Paragraphs>539</Paragraphs>
  <Slides>50</Slides>
  <Notes>20</Notes>
  <HiddenSlides>0</HiddenSlides>
  <MMClips>2</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50</vt:i4>
      </vt:variant>
    </vt:vector>
  </HeadingPairs>
  <TitlesOfParts>
    <vt:vector size="57" baseType="lpstr">
      <vt:lpstr>Arial</vt:lpstr>
      <vt:lpstr>B Nazanin</vt:lpstr>
      <vt:lpstr>Calibri</vt:lpstr>
      <vt:lpstr>Cambria Math</vt:lpstr>
      <vt:lpstr>Wingdings</vt:lpstr>
      <vt:lpstr>Wingdings 2</vt:lpstr>
      <vt:lpstr>Median</vt:lpstr>
      <vt:lpstr>مدارهای الکتریکی و الکترونیکی  ترانزیستور      </vt:lpstr>
      <vt:lpstr>فهرست مطالب</vt:lpstr>
      <vt:lpstr>ترانزیستور</vt:lpstr>
      <vt:lpstr>ترانزیستور BJT</vt:lpstr>
      <vt:lpstr>نحوه عملکرد ترانزیستور BJT</vt:lpstr>
      <vt:lpstr>ترانزیستور MOSFET</vt:lpstr>
      <vt:lpstr>نحوه عملکرد ترانزیستور MOSFET</vt:lpstr>
      <vt:lpstr>تفاوت‌های ترانزیستور BJT و MOSFET</vt:lpstr>
      <vt:lpstr>کاربردهای ترانزیستور</vt:lpstr>
      <vt:lpstr>کاربردهای ترانزیستور</vt:lpstr>
      <vt:lpstr>کاربردهای ترانزیستور</vt:lpstr>
      <vt:lpstr>مدل ترانزیستور به عنوان سوئیچ</vt:lpstr>
      <vt:lpstr>مدل ترانزیستور NMOS به عنوان سوئیچ</vt:lpstr>
      <vt:lpstr>ترانزیستور NMOS به عنوان سوئیچ</vt:lpstr>
      <vt:lpstr>ساخت گیت‌های منطقی</vt:lpstr>
      <vt:lpstr>ساخت گیت‌های منطقی</vt:lpstr>
      <vt:lpstr>مثال:</vt:lpstr>
      <vt:lpstr>ترانزیستور PMOS به عنوان سوئیچ</vt:lpstr>
      <vt:lpstr>فناوری CMOS</vt:lpstr>
      <vt:lpstr>تمرین کلاسی 1</vt:lpstr>
      <vt:lpstr>فهرست مطالب بخش دوم</vt:lpstr>
      <vt:lpstr>کاربردهای ترانزیستور</vt:lpstr>
      <vt:lpstr>رفتار غیرخطی دیود</vt:lpstr>
      <vt:lpstr>رفتار غیرخطی دیود</vt:lpstr>
      <vt:lpstr>مدل سیگنال کوچک و سیگنال بزرگ</vt:lpstr>
      <vt:lpstr>مدل سیگنال بزرگ MOSFET</vt:lpstr>
      <vt:lpstr>مشخصه ولتاژ-جریان MOSFET</vt:lpstr>
      <vt:lpstr>مشخصه ولتاژ-جریان MOSFET</vt:lpstr>
      <vt:lpstr>تحلیل DC ترانزیستور MOSFET</vt:lpstr>
      <vt:lpstr>مثال</vt:lpstr>
      <vt:lpstr>مثال 2</vt:lpstr>
      <vt:lpstr>مثال 3</vt:lpstr>
      <vt:lpstr>مدل سیگنال کوچک MOSFET</vt:lpstr>
      <vt:lpstr>جداسازی تحلیل DC از AC</vt:lpstr>
      <vt:lpstr>جداسازی تحلیل DC از AC</vt:lpstr>
      <vt:lpstr>مثال</vt:lpstr>
      <vt:lpstr>مثال (ادامه)</vt:lpstr>
      <vt:lpstr>مثال (ادامه: تحلیل DC)</vt:lpstr>
      <vt:lpstr>مثال (ادامه: تحلیل DC)</vt:lpstr>
      <vt:lpstr>پیکربندی‌های مختلف MOSFET</vt:lpstr>
      <vt:lpstr>ماسفت به عنوان سوئیچ</vt:lpstr>
      <vt:lpstr>تمرین کلاسی 1 (سورس مشترک)</vt:lpstr>
      <vt:lpstr>تمرین کلاسی 2 (سورس مشترک)</vt:lpstr>
      <vt:lpstr>تمرین کلاسی 3 (سورس مشترک)</vt:lpstr>
      <vt:lpstr>تمرین کلاسی 4 (درین مشترک)</vt:lpstr>
      <vt:lpstr>مقاومت ورودی و خروجی</vt:lpstr>
      <vt:lpstr>تمرین کلاسی 5 (گیت مشترک)</vt:lpstr>
      <vt:lpstr>گیت اینورتر NMOS با بار مقاومتی</vt:lpstr>
      <vt:lpstr>گیت اینورتر CMOS</vt:lpstr>
      <vt:lpstr>تمرین کلاسی </vt:lpstr>
    </vt:vector>
  </TitlesOfParts>
  <Company>Purdue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Overview</dc:title>
  <dc:creator>rf</dc:creator>
  <cp:lastModifiedBy>Siavash kh</cp:lastModifiedBy>
  <cp:revision>488</cp:revision>
  <dcterms:created xsi:type="dcterms:W3CDTF">2005-06-03T08:24:32Z</dcterms:created>
  <dcterms:modified xsi:type="dcterms:W3CDTF">2026-06-05T10:39:24Z</dcterms:modified>
</cp:coreProperties>
</file>